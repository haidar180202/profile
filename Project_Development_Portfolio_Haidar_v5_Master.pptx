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274320" y="274320"/>
            <a:ext cx="11640312" cy="6309360"/>
          </a:xfrm>
          <a:prstGeom prst="rect">
            <a:avLst>
              <a:gd name="adj" fmla="val 1449"/>
            </a:avLst>
          </a:prstGeom>
          <a:solidFill>
            <a:srgbClr val="0B132B"/>
          </a:solidFill>
          <a:ln w="25400">
            <a:solidFill>
              <a:srgbClr val="48CAE4"/>
            </a:solidFill>
            <a:prstDash val="solid"/>
          </a:ln>
        </p:spPr>
      </p:sp>
      <p:sp>
        <p:nvSpPr>
          <p:cNvPr id="3" name="Shape 1"/>
          <p:cNvSpPr/>
          <p:nvPr/>
        </p:nvSpPr>
        <p:spPr>
          <a:xfrm>
            <a:off x="914400" y="914400"/>
            <a:ext cx="4114800" cy="411480"/>
          </a:xfrm>
          <a:prstGeom prst="rect">
            <a:avLst>
              <a:gd name="adj" fmla="val 13333"/>
            </a:avLst>
          </a:prstGeom>
          <a:solidFill>
            <a:srgbClr val="1C2541"/>
          </a:solidFill>
          <a:ln w="19050">
            <a:solidFill>
              <a:srgbClr val="48CAE4"/>
            </a:solidFill>
            <a:prstDash val="solid"/>
          </a:ln>
        </p:spPr>
      </p:sp>
      <p:sp>
        <p:nvSpPr>
          <p:cNvPr id="4" name="Text 2"/>
          <p:cNvSpPr/>
          <p:nvPr/>
        </p:nvSpPr>
        <p:spPr>
          <a:xfrm>
            <a:off x="914400" y="914400"/>
            <a:ext cx="4114800" cy="411480"/>
          </a:xfrm>
          <a:prstGeom prst="rect">
            <a:avLst/>
          </a:prstGeom>
          <a:noFill/>
          <a:ln/>
        </p:spPr>
        <p:txBody>
          <a:bodyPr wrap="square" rtlCol="0" anchor="ctr"/>
          <a:lstStyle/>
          <a:p>
            <a:pPr algn="ctr" indent="0" marL="0">
              <a:buNone/>
            </a:pPr>
            <a:r>
              <a:rPr lang="en-US" sz="1300" b="1" dirty="0">
                <a:solidFill>
                  <a:srgbClr val="48CAE4"/>
                </a:solidFill>
              </a:rPr>
              <a:t>EXECUTIVE ENGINEERING PORTFOLIO</a:t>
            </a:r>
            <a:endParaRPr lang="en-US" sz="1300" dirty="0"/>
          </a:p>
        </p:txBody>
      </p:sp>
      <p:sp>
        <p:nvSpPr>
          <p:cNvPr id="5" name="Text 3"/>
          <p:cNvSpPr/>
          <p:nvPr/>
        </p:nvSpPr>
        <p:spPr>
          <a:xfrm>
            <a:off x="914400" y="1508760"/>
            <a:ext cx="10332720" cy="1005840"/>
          </a:xfrm>
          <a:prstGeom prst="rect">
            <a:avLst/>
          </a:prstGeom>
          <a:noFill/>
          <a:ln/>
        </p:spPr>
        <p:txBody>
          <a:bodyPr wrap="square" rtlCol="0" anchor="ctr"/>
          <a:lstStyle/>
          <a:p>
            <a:pPr indent="0" marL="0">
              <a:buNone/>
            </a:pPr>
            <a:r>
              <a:rPr lang="en-US" sz="3400" b="1" dirty="0">
                <a:solidFill>
                  <a:srgbClr val="FFFFFF"/>
                </a:solidFill>
                <a:latin typeface="Segoe UI" pitchFamily="34" charset="0"/>
                <a:ea typeface="Segoe UI" pitchFamily="34" charset="-122"/>
                <a:cs typeface="Segoe UI" pitchFamily="34" charset="-120"/>
              </a:rPr>
              <a:t>PROJECT DEVELOPMENT PORTFOLIO</a:t>
            </a:r>
            <a:endParaRPr lang="en-US" sz="3400" dirty="0"/>
          </a:p>
        </p:txBody>
      </p:sp>
      <p:sp>
        <p:nvSpPr>
          <p:cNvPr id="6" name="Text 4"/>
          <p:cNvSpPr/>
          <p:nvPr/>
        </p:nvSpPr>
        <p:spPr>
          <a:xfrm>
            <a:off x="914400" y="2560320"/>
            <a:ext cx="10332720" cy="777240"/>
          </a:xfrm>
          <a:prstGeom prst="rect">
            <a:avLst/>
          </a:prstGeom>
          <a:noFill/>
          <a:ln/>
        </p:spPr>
        <p:txBody>
          <a:bodyPr wrap="square" rtlCol="0" anchor="ctr"/>
          <a:lstStyle/>
          <a:p>
            <a:pPr indent="0" marL="0">
              <a:buNone/>
            </a:pPr>
            <a:r>
              <a:rPr lang="en-US" sz="1600" b="1" dirty="0">
                <a:solidFill>
                  <a:srgbClr val="48CAE4"/>
                </a:solidFill>
                <a:latin typeface="Segoe UI" pitchFamily="34" charset="0"/>
                <a:ea typeface="Segoe UI" pitchFamily="34" charset="-122"/>
                <a:cs typeface="Segoe UI" pitchFamily="34" charset="-120"/>
              </a:rPr>
              <a:t>Senior Full-Stack Software Engineer &amp; Lead Project Management / Business Analyst | Industry-Standard Adaptive Engineer with Practical AI Workflow &amp; Hardware Integration Experience</a:t>
            </a:r>
            <a:endParaRPr lang="en-US" sz="1600" dirty="0"/>
          </a:p>
        </p:txBody>
      </p:sp>
      <p:sp>
        <p:nvSpPr>
          <p:cNvPr id="7" name="Shape 5"/>
          <p:cNvSpPr/>
          <p:nvPr/>
        </p:nvSpPr>
        <p:spPr>
          <a:xfrm>
            <a:off x="914400" y="3566160"/>
            <a:ext cx="10332720" cy="2560320"/>
          </a:xfrm>
          <a:prstGeom prst="rect">
            <a:avLst>
              <a:gd name="adj" fmla="val 2857"/>
            </a:avLst>
          </a:prstGeom>
          <a:solidFill>
            <a:srgbClr val="1C2541"/>
          </a:solidFill>
          <a:ln w="19050">
            <a:solidFill>
              <a:srgbClr val="2D3748"/>
            </a:solidFill>
            <a:prstDash val="solid"/>
          </a:ln>
        </p:spPr>
      </p:sp>
      <p:sp>
        <p:nvSpPr>
          <p:cNvPr id="8" name="Text 6"/>
          <p:cNvSpPr/>
          <p:nvPr/>
        </p:nvSpPr>
        <p:spPr>
          <a:xfrm>
            <a:off x="1280160" y="3794760"/>
            <a:ext cx="9601200" cy="457200"/>
          </a:xfrm>
          <a:prstGeom prst="rect">
            <a:avLst/>
          </a:prstGeom>
          <a:noFill/>
          <a:ln/>
        </p:spPr>
        <p:txBody>
          <a:bodyPr wrap="square" rtlCol="0" anchor="ctr"/>
          <a:lstStyle/>
          <a:p>
            <a:pPr indent="0" marL="0">
              <a:buNone/>
            </a:pPr>
            <a:r>
              <a:rPr lang="en-US" sz="2400" b="1" dirty="0">
                <a:solidFill>
                  <a:srgbClr val="FFFFFF"/>
                </a:solidFill>
              </a:rPr>
              <a:t>MUHAMMAD HAIDAR SHAHAB</a:t>
            </a:r>
            <a:endParaRPr lang="en-US" sz="2400" dirty="0"/>
          </a:p>
        </p:txBody>
      </p:sp>
      <p:sp>
        <p:nvSpPr>
          <p:cNvPr id="9" name="Text 7"/>
          <p:cNvSpPr/>
          <p:nvPr/>
        </p:nvSpPr>
        <p:spPr>
          <a:xfrm>
            <a:off x="1280160" y="4297680"/>
            <a:ext cx="9601200" cy="411480"/>
          </a:xfrm>
          <a:prstGeom prst="rect">
            <a:avLst/>
          </a:prstGeom>
          <a:noFill/>
          <a:ln/>
        </p:spPr>
        <p:txBody>
          <a:bodyPr wrap="square" rtlCol="0" anchor="ctr"/>
          <a:lstStyle/>
          <a:p>
            <a:pPr indent="0" marL="0">
              <a:buNone/>
            </a:pPr>
            <a:r>
              <a:rPr lang="en-US" sz="1400" b="1" dirty="0">
                <a:solidFill>
                  <a:srgbClr val="F59E0B"/>
                </a:solidFill>
              </a:rPr>
              <a:t>Proven Engineering Execution: 100+ Enterprise Modules Consolidated | BUMN &amp; Financial Insurance Gateways | R&amp;D AI &amp; Hardware IoT Interlocks</a:t>
            </a:r>
            <a:endParaRPr lang="en-US" sz="1400" dirty="0"/>
          </a:p>
        </p:txBody>
      </p:sp>
      <p:sp>
        <p:nvSpPr>
          <p:cNvPr id="10" name="Text 8"/>
          <p:cNvSpPr/>
          <p:nvPr/>
        </p:nvSpPr>
        <p:spPr>
          <a:xfrm>
            <a:off x="1280160" y="4800600"/>
            <a:ext cx="9601200" cy="1188720"/>
          </a:xfrm>
          <a:prstGeom prst="rect">
            <a:avLst/>
          </a:prstGeom>
          <a:noFill/>
          <a:ln/>
        </p:spPr>
        <p:txBody>
          <a:bodyPr wrap="square" rtlCol="0" anchor="ctr"/>
          <a:lstStyle/>
          <a:p>
            <a:pPr indent="0" marL="0">
              <a:buNone/>
            </a:pPr>
            <a:r>
              <a:rPr lang="en-US" sz="1300" b="1" dirty="0">
                <a:solidFill>
                  <a:srgbClr val="94A3B8"/>
                </a:solidFill>
              </a:rPr>
              <a:t>🌐 Live Portfolio: </a:t>
            </a:r>
            <a:pPr indent="0" marL="0">
              <a:buNone/>
            </a:pPr>
            <a:r>
              <a:rPr lang="en-US" sz="1300" dirty="0">
                <a:solidFill>
                  <a:srgbClr val="48CAE4"/>
                </a:solidFill>
              </a:rPr>
              <a:t>profile-muhammad-haidar-shahab.netlify.app
</a:t>
            </a:r>
            <a:pPr indent="0" marL="0">
              <a:buNone/>
            </a:pPr>
            <a:r>
              <a:rPr lang="en-US" sz="1300" b="1" dirty="0">
                <a:solidFill>
                  <a:srgbClr val="94A3B8"/>
                </a:solidFill>
              </a:rPr>
              <a:t>🏢 Enterprise Portals: </a:t>
            </a:r>
            <a:pPr indent="0" marL="0">
              <a:buNone/>
            </a:pPr>
            <a:r>
              <a:rPr lang="en-US" sz="1300" dirty="0">
                <a:solidFill>
                  <a:srgbClr val="10B981"/>
                </a:solidFill>
              </a:rPr>
              <a:t>hub-asum-dev.ifg-life.id | cisea.bukitasam.co.id | sydemy.com
</a:t>
            </a:r>
            <a:pPr indent="0" marL="0">
              <a:buNone/>
            </a:pPr>
            <a:r>
              <a:rPr lang="en-US" sz="1300" b="1" dirty="0">
                <a:solidFill>
                  <a:srgbClr val="94A3B8"/>
                </a:solidFill>
              </a:rPr>
              <a:t>📦 Repositories: </a:t>
            </a:r>
            <a:pPr indent="0" marL="0">
              <a:buNone/>
            </a:pPr>
            <a:r>
              <a:rPr lang="en-US" sz="1300" dirty="0">
                <a:solidFill>
                  <a:srgbClr val="FFFFFF"/>
                </a:solidFill>
              </a:rPr>
              <a:t>github.com/haidar180202 | gitlab.com/haidar180202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EXECUTIVE SUMMARY</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ENGINEERING FOOTPRINT &amp; TRACK RECORD</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Proven executive-level execution across BUMN giants, financial holding companies, and private R&amp;D architectures.</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325880"/>
            <a:ext cx="11274552" cy="731520"/>
          </a:xfrm>
          <a:prstGeom prst="rect">
            <a:avLst>
              <a:gd name="adj" fmla="val 10000"/>
            </a:avLst>
          </a:prstGeom>
          <a:solidFill>
            <a:srgbClr val="1C2541"/>
          </a:solidFill>
          <a:ln w="25400">
            <a:solidFill>
              <a:srgbClr val="F59E0B"/>
            </a:solidFill>
            <a:prstDash val="solid"/>
          </a:ln>
        </p:spPr>
      </p:sp>
      <p:sp>
        <p:nvSpPr>
          <p:cNvPr id="8" name="Text 6"/>
          <p:cNvSpPr/>
          <p:nvPr/>
        </p:nvSpPr>
        <p:spPr>
          <a:xfrm>
            <a:off x="640080" y="1371600"/>
            <a:ext cx="10881360" cy="640080"/>
          </a:xfrm>
          <a:prstGeom prst="rect">
            <a:avLst/>
          </a:prstGeom>
          <a:noFill/>
          <a:ln/>
        </p:spPr>
        <p:txBody>
          <a:bodyPr wrap="square" rtlCol="0" anchor="ctr"/>
          <a:lstStyle/>
          <a:p>
            <a:pPr indent="0" marL="0">
              <a:buNone/>
            </a:pPr>
            <a:r>
              <a:rPr lang="en-US" sz="1300" b="1" dirty="0">
                <a:solidFill>
                  <a:srgbClr val="FFFFFF"/>
                </a:solidFill>
              </a:rPr>
              <a:t>🏆 CORE VALUE PROPOSITION: Bridging enterprise Full-Stack scalability with pragmatic, hands-on AI workflow automation and physical hardware IoT telemetry to deliver 100% reliable, production-grade systems.</a:t>
            </a:r>
            <a:endParaRPr lang="en-US" sz="1300" dirty="0"/>
          </a:p>
        </p:txBody>
      </p:sp>
      <p:sp>
        <p:nvSpPr>
          <p:cNvPr id="9" name="Shape 7"/>
          <p:cNvSpPr/>
          <p:nvPr/>
        </p:nvSpPr>
        <p:spPr>
          <a:xfrm>
            <a:off x="457200" y="2240280"/>
            <a:ext cx="3639312" cy="4114800"/>
          </a:xfrm>
          <a:prstGeom prst="rect">
            <a:avLst>
              <a:gd name="adj" fmla="val 2010"/>
            </a:avLst>
          </a:prstGeom>
          <a:solidFill>
            <a:srgbClr val="1C2541"/>
          </a:solidFill>
          <a:ln w="25400">
            <a:solidFill>
              <a:srgbClr val="48CAE4"/>
            </a:solidFill>
            <a:prstDash val="solid"/>
          </a:ln>
        </p:spPr>
      </p:sp>
      <p:sp>
        <p:nvSpPr>
          <p:cNvPr id="10" name="Text 8"/>
          <p:cNvSpPr/>
          <p:nvPr/>
        </p:nvSpPr>
        <p:spPr>
          <a:xfrm>
            <a:off x="640080" y="2423160"/>
            <a:ext cx="3273552" cy="457200"/>
          </a:xfrm>
          <a:prstGeom prst="rect">
            <a:avLst/>
          </a:prstGeom>
          <a:noFill/>
          <a:ln/>
        </p:spPr>
        <p:txBody>
          <a:bodyPr wrap="square" rtlCol="0" anchor="ctr"/>
          <a:lstStyle/>
          <a:p>
            <a:pPr indent="0" marL="0">
              <a:buNone/>
            </a:pPr>
            <a:r>
              <a:rPr lang="en-US" sz="1600" b="1" dirty="0">
                <a:solidFill>
                  <a:srgbClr val="48CAE4"/>
                </a:solidFill>
              </a:rPr>
              <a:t>100+ BUSINESS MODULES</a:t>
            </a:r>
            <a:endParaRPr lang="en-US" sz="1600" dirty="0"/>
          </a:p>
        </p:txBody>
      </p:sp>
      <p:sp>
        <p:nvSpPr>
          <p:cNvPr id="11" name="Text 9"/>
          <p:cNvSpPr/>
          <p:nvPr/>
        </p:nvSpPr>
        <p:spPr>
          <a:xfrm>
            <a:off x="640080" y="3017520"/>
            <a:ext cx="3273552" cy="3108960"/>
          </a:xfrm>
          <a:prstGeom prst="rect">
            <a:avLst/>
          </a:prstGeom>
          <a:noFill/>
          <a:ln/>
        </p:spPr>
        <p:txBody>
          <a:bodyPr wrap="square" rtlCol="0" anchor="ctr"/>
          <a:lstStyle/>
          <a:p>
            <a:pPr indent="0" marL="0">
              <a:buNone/>
            </a:pPr>
            <a:r>
              <a:rPr lang="en-US" sz="1300" dirty="0">
                <a:solidFill>
                  <a:srgbClr val="FFFFFF"/>
                </a:solidFill>
              </a:rPr>
              <a:t>Successfully consolidated over 100 fragmented HR, Mining, IT, and Travel modules into a single role-based Super-App (CISEA v2.0.0 at PT Bukit Asam Tbk).</a:t>
            </a:r>
            <a:endParaRPr lang="en-US" sz="1300" dirty="0"/>
          </a:p>
        </p:txBody>
      </p:sp>
      <p:sp>
        <p:nvSpPr>
          <p:cNvPr id="12" name="Shape 10"/>
          <p:cNvSpPr/>
          <p:nvPr/>
        </p:nvSpPr>
        <p:spPr>
          <a:xfrm>
            <a:off x="4279392" y="2240280"/>
            <a:ext cx="3639312" cy="4114800"/>
          </a:xfrm>
          <a:prstGeom prst="rect">
            <a:avLst>
              <a:gd name="adj" fmla="val 2010"/>
            </a:avLst>
          </a:prstGeom>
          <a:solidFill>
            <a:srgbClr val="1C2541"/>
          </a:solidFill>
          <a:ln w="25400">
            <a:solidFill>
              <a:srgbClr val="F59E0B"/>
            </a:solidFill>
            <a:prstDash val="solid"/>
          </a:ln>
        </p:spPr>
      </p:sp>
      <p:sp>
        <p:nvSpPr>
          <p:cNvPr id="13" name="Text 11"/>
          <p:cNvSpPr/>
          <p:nvPr/>
        </p:nvSpPr>
        <p:spPr>
          <a:xfrm>
            <a:off x="4462272" y="2423160"/>
            <a:ext cx="3273552" cy="457200"/>
          </a:xfrm>
          <a:prstGeom prst="rect">
            <a:avLst/>
          </a:prstGeom>
          <a:noFill/>
          <a:ln/>
        </p:spPr>
        <p:txBody>
          <a:bodyPr wrap="square" rtlCol="0" anchor="ctr"/>
          <a:lstStyle/>
          <a:p>
            <a:pPr indent="0" marL="0">
              <a:buNone/>
            </a:pPr>
            <a:r>
              <a:rPr lang="en-US" sz="1600" b="1" dirty="0">
                <a:solidFill>
                  <a:srgbClr val="F59E0B"/>
                </a:solidFill>
              </a:rPr>
              <a:t>4+ ENTERPRISE GIANTS</a:t>
            </a:r>
            <a:endParaRPr lang="en-US" sz="1600" dirty="0"/>
          </a:p>
        </p:txBody>
      </p:sp>
      <p:sp>
        <p:nvSpPr>
          <p:cNvPr id="14" name="Text 12"/>
          <p:cNvSpPr/>
          <p:nvPr/>
        </p:nvSpPr>
        <p:spPr>
          <a:xfrm>
            <a:off x="4462272" y="3017520"/>
            <a:ext cx="3273552" cy="3108960"/>
          </a:xfrm>
          <a:prstGeom prst="rect">
            <a:avLst/>
          </a:prstGeom>
          <a:noFill/>
          <a:ln/>
        </p:spPr>
        <p:txBody>
          <a:bodyPr wrap="square" rtlCol="0" anchor="ctr"/>
          <a:lstStyle/>
          <a:p>
            <a:pPr indent="0" marL="0">
              <a:buNone/>
            </a:pPr>
            <a:r>
              <a:rPr lang="en-US" sz="1300" dirty="0">
                <a:solidFill>
                  <a:srgbClr val="FFFFFF"/>
                </a:solidFill>
              </a:rPr>
              <a:t>Delivered mission-critical portals and architectural upgrades for PT Bukit Asam Tbk, PT Pupuk Sriwidjaja, IFG (Indonesia Financial Group), and PT Investree.</a:t>
            </a:r>
            <a:endParaRPr lang="en-US" sz="1300" dirty="0"/>
          </a:p>
        </p:txBody>
      </p:sp>
      <p:sp>
        <p:nvSpPr>
          <p:cNvPr id="15" name="Shape 13"/>
          <p:cNvSpPr/>
          <p:nvPr/>
        </p:nvSpPr>
        <p:spPr>
          <a:xfrm>
            <a:off x="8101584" y="2240280"/>
            <a:ext cx="3639312" cy="4114800"/>
          </a:xfrm>
          <a:prstGeom prst="rect">
            <a:avLst>
              <a:gd name="adj" fmla="val 2010"/>
            </a:avLst>
          </a:prstGeom>
          <a:solidFill>
            <a:srgbClr val="1C2541"/>
          </a:solidFill>
          <a:ln w="25400">
            <a:solidFill>
              <a:srgbClr val="10B981"/>
            </a:solidFill>
            <a:prstDash val="solid"/>
          </a:ln>
        </p:spPr>
      </p:sp>
      <p:sp>
        <p:nvSpPr>
          <p:cNvPr id="16" name="Text 14"/>
          <p:cNvSpPr/>
          <p:nvPr/>
        </p:nvSpPr>
        <p:spPr>
          <a:xfrm>
            <a:off x="8284464" y="2423160"/>
            <a:ext cx="3273552" cy="457200"/>
          </a:xfrm>
          <a:prstGeom prst="rect">
            <a:avLst/>
          </a:prstGeom>
          <a:noFill/>
          <a:ln/>
        </p:spPr>
        <p:txBody>
          <a:bodyPr wrap="square" rtlCol="0" anchor="ctr"/>
          <a:lstStyle/>
          <a:p>
            <a:pPr indent="0" marL="0">
              <a:buNone/>
            </a:pPr>
            <a:r>
              <a:rPr lang="en-US" sz="1600" b="1" dirty="0">
                <a:solidFill>
                  <a:srgbClr val="10B981"/>
                </a:solidFill>
              </a:rPr>
              <a:t>FULL-SPECTRUM ADAPTABILITY</a:t>
            </a:r>
            <a:endParaRPr lang="en-US" sz="1600" dirty="0"/>
          </a:p>
        </p:txBody>
      </p:sp>
      <p:sp>
        <p:nvSpPr>
          <p:cNvPr id="17" name="Text 15"/>
          <p:cNvSpPr/>
          <p:nvPr/>
        </p:nvSpPr>
        <p:spPr>
          <a:xfrm>
            <a:off x="8284464" y="3017520"/>
            <a:ext cx="3273552" cy="3108960"/>
          </a:xfrm>
          <a:prstGeom prst="rect">
            <a:avLst/>
          </a:prstGeom>
          <a:noFill/>
          <a:ln/>
        </p:spPr>
        <p:txBody>
          <a:bodyPr wrap="square" rtlCol="0" anchor="ctr"/>
          <a:lstStyle/>
          <a:p>
            <a:pPr indent="0" marL="0">
              <a:buNone/>
            </a:pPr>
            <a:r>
              <a:rPr lang="en-US" sz="1300" dirty="0">
                <a:solidFill>
                  <a:srgbClr val="FFFFFF"/>
                </a:solidFill>
              </a:rPr>
              <a:t>Rare technical versatility spanning physical Raspberry Pi / PLC hardware interlocks, MERN/Laravel backends, and Visual AI Node DAG Orchestration.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ENTERPRISE SUPER-APP • PT BUKIT ASAM TBK</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CISEA FACELIFT WEB APP v2.0.0 (http://cisea.bukitasam.co.id/)</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Consolidating 100+ internal business functions into one unified enterprise portal (Sept 2024 - Sept 2025)</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CISEA v2.0.0 Gateway (cisea.bukitasam.co.id)</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Executive Portal</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Master Employee HR</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Biometric Attendance</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Self-Service IT SLA</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Audit &amp; Compliance</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Director BI Dashboard</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100+ Modules Integrated in 1 Single Portal</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Active Personnel</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14,250+ Users</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RBAC Security Level</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Role-Based A+</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Attendance Audit</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100% Accurate</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System Uptime SLA</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99.9% Monitored</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Consolidated &amp; streamlined over 100 distinct internal business functions at PT Bukit Asam Tbk into one single digital portal.</a:t>
            </a:r>
            <a:endParaRPr lang="en-US" sz="950" dirty="0"/>
          </a:p>
          <a:p>
            <a:r>
              <a:rPr lang="en-US" sz="950" dirty="0">
                <a:solidFill>
                  <a:srgbClr val="FFFFFF"/>
                </a:solidFill>
                <a:latin typeface="Segoe UI" pitchFamily="34" charset="0"/>
                <a:ea typeface="Segoe UI" pitchFamily="34" charset="-122"/>
                <a:cs typeface="Segoe UI" pitchFamily="34" charset="-120"/>
              </a:rPr>
              <a:t>Created a unified interface serving thousands of employees, contractors, clients, and business partners.</a:t>
            </a:r>
            <a:endParaRPr lang="en-US" sz="950" dirty="0"/>
          </a:p>
          <a:p>
            <a:r>
              <a:rPr lang="en-US" sz="950" dirty="0">
                <a:solidFill>
                  <a:srgbClr val="FFFFFF"/>
                </a:solidFill>
                <a:latin typeface="Segoe UI" pitchFamily="34" charset="0"/>
                <a:ea typeface="Segoe UI" pitchFamily="34" charset="-122"/>
                <a:cs typeface="Segoe UI" pitchFamily="34" charset="-120"/>
              </a:rPr>
              <a:t>Eliminated legacy data silos across Human Resources, IT Support, Asset Tracking, and Mining Operations.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Master Employee System: Real-time employee data management with secure role-based access controls (RBAC).</a:t>
            </a:r>
            <a:endParaRPr lang="en-US" sz="950" dirty="0"/>
          </a:p>
          <a:p>
            <a:r>
              <a:rPr lang="en-US" sz="950" dirty="0">
                <a:solidFill>
                  <a:srgbClr val="FFFFFF"/>
                </a:solidFill>
                <a:latin typeface="Segoe UI" pitchFamily="34" charset="0"/>
                <a:ea typeface="Segoe UI" pitchFamily="34" charset="-122"/>
                <a:cs typeface="Segoe UI" pitchFamily="34" charset="-120"/>
              </a:rPr>
              <a:t>Multi-tier Attendance: Biometric integration &amp; precise geolocation verification for permanent employees and contractors.</a:t>
            </a:r>
            <a:endParaRPr lang="en-US" sz="950" dirty="0"/>
          </a:p>
          <a:p>
            <a:r>
              <a:rPr lang="en-US" sz="950" dirty="0">
                <a:solidFill>
                  <a:srgbClr val="FFFFFF"/>
                </a:solidFill>
                <a:latin typeface="Segoe UI" pitchFamily="34" charset="0"/>
                <a:ea typeface="Segoe UI" pitchFamily="34" charset="-122"/>
                <a:cs typeface="Segoe UI" pitchFamily="34" charset="-120"/>
              </a:rPr>
              <a:t>End-to-End HR: Recruitment, onboarding, performance evaluation, and automated payroll processing integration.</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100% elimination of attendance falsification via multi-factor geolocation and biometric verification.</a:t>
            </a:r>
            <a:endParaRPr lang="en-US" sz="950" dirty="0"/>
          </a:p>
          <a:p>
            <a:r>
              <a:rPr lang="en-US" sz="950" dirty="0">
                <a:solidFill>
                  <a:srgbClr val="FFFFFF"/>
                </a:solidFill>
                <a:latin typeface="Segoe UI" pitchFamily="34" charset="0"/>
                <a:ea typeface="Segoe UI" pitchFamily="34" charset="-122"/>
                <a:cs typeface="Segoe UI" pitchFamily="34" charset="-120"/>
              </a:rPr>
              <a:t>Streamlined corporate governance with real-time audit trails and SLA-monitored self-service IT portals.</a:t>
            </a:r>
            <a:endParaRPr lang="en-US" sz="950" dirty="0"/>
          </a:p>
          <a:p>
            <a:r>
              <a:rPr lang="en-US" sz="950" dirty="0">
                <a:solidFill>
                  <a:srgbClr val="FFFFFF"/>
                </a:solidFill>
                <a:latin typeface="Segoe UI" pitchFamily="34" charset="0"/>
                <a:ea typeface="Segoe UI" pitchFamily="34" charset="-122"/>
                <a:cs typeface="Segoe UI" pitchFamily="34" charset="-120"/>
              </a:rPr>
              <a:t>Responsive cross-platform compatibility supporting desktop, tablet, and mobile access seamlessly across mining sites.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MICROFRONTEND ARCHITECTURE • PT BUKIT ASAM TBK</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CISEA MINING OPERATIONS &amp; ARCHITECTURE (cisea.bukitasam.co.id)</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Zero-regression domain decoupling utilizing Turbo/Nx microfrontends with high-speed Redis real-time caching.</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11274552" cy="2011680"/>
          </a:xfrm>
          <a:prstGeom prst="rect">
            <a:avLst>
              <a:gd name="adj" fmla="val 3636"/>
            </a:avLst>
          </a:prstGeom>
          <a:solidFill>
            <a:srgbClr val="0F172A"/>
          </a:solidFill>
          <a:ln w="25400">
            <a:solidFill>
              <a:srgbClr val="A855F7"/>
            </a:solidFill>
            <a:prstDash val="solid"/>
          </a:ln>
        </p:spPr>
      </p:sp>
      <p:sp>
        <p:nvSpPr>
          <p:cNvPr id="8" name="Text 6"/>
          <p:cNvSpPr/>
          <p:nvPr/>
        </p:nvSpPr>
        <p:spPr>
          <a:xfrm>
            <a:off x="640080" y="1307592"/>
            <a:ext cx="10908792" cy="292608"/>
          </a:xfrm>
          <a:prstGeom prst="rect">
            <a:avLst/>
          </a:prstGeom>
          <a:noFill/>
          <a:ln/>
        </p:spPr>
        <p:txBody>
          <a:bodyPr wrap="square" rtlCol="0" anchor="ctr"/>
          <a:lstStyle/>
          <a:p>
            <a:pPr indent="0" marL="0">
              <a:buNone/>
            </a:pPr>
            <a:r>
              <a:rPr lang="en-US" sz="1250" b="1" dirty="0">
                <a:solidFill>
                  <a:srgbClr val="48CAE4"/>
                </a:solidFill>
              </a:rPr>
              <a:t>⚡ DIRECTED ACYCLIC GRAPH (DAG) &amp; SYSTEM PIPELINE: Decoupling 100+ Module Monolith (http://cisea.bukitasam.co.id/)</a:t>
            </a:r>
            <a:endParaRPr lang="en-US" sz="1250" dirty="0"/>
          </a:p>
        </p:txBody>
      </p:sp>
      <p:sp>
        <p:nvSpPr>
          <p:cNvPr id="9" name="Shape 7"/>
          <p:cNvSpPr/>
          <p:nvPr/>
        </p:nvSpPr>
        <p:spPr>
          <a:xfrm>
            <a:off x="777240" y="1673352"/>
            <a:ext cx="1783080" cy="914400"/>
          </a:xfrm>
          <a:prstGeom prst="rect">
            <a:avLst>
              <a:gd name="adj" fmla="val 6000"/>
            </a:avLst>
          </a:prstGeom>
          <a:solidFill>
            <a:srgbClr val="48CAE4"/>
          </a:solidFill>
          <a:ln w="19050">
            <a:solidFill>
              <a:srgbClr val="FFFFFF"/>
            </a:solidFill>
            <a:prstDash val="solid"/>
          </a:ln>
        </p:spPr>
      </p:sp>
      <p:sp>
        <p:nvSpPr>
          <p:cNvPr id="10" name="Text 8"/>
          <p:cNvSpPr/>
          <p:nvPr/>
        </p:nvSpPr>
        <p:spPr>
          <a:xfrm>
            <a:off x="822960" y="1746504"/>
            <a:ext cx="1691640" cy="768096"/>
          </a:xfrm>
          <a:prstGeom prst="rect">
            <a:avLst/>
          </a:prstGeom>
          <a:noFill/>
          <a:ln/>
        </p:spPr>
        <p:txBody>
          <a:bodyPr wrap="square" rtlCol="0" anchor="ctr"/>
          <a:lstStyle/>
          <a:p>
            <a:pPr algn="ctr" indent="0" marL="0">
              <a:buNone/>
            </a:pPr>
            <a:r>
              <a:rPr lang="en-US" sz="1050" b="1" dirty="0">
                <a:solidFill>
                  <a:srgbClr val="0B132B"/>
                </a:solidFill>
              </a:rPr>
              <a:t>Domain Decoupling:</a:t>
            </a:r>
            <a:endParaRPr lang="en-US" sz="1050" dirty="0"/>
          </a:p>
          <a:p>
            <a:pPr algn="ctr" indent="0" marL="0">
              <a:buNone/>
            </a:pPr>
            <a:r>
              <a:rPr lang="en-US" sz="1050" b="1" dirty="0">
                <a:solidFill>
                  <a:srgbClr val="0B132B"/>
                </a:solidFill>
              </a:rPr>
              <a:t>Turbo &amp; Nx Monorepo</a:t>
            </a:r>
            <a:endParaRPr lang="en-US" sz="1050" dirty="0"/>
          </a:p>
        </p:txBody>
      </p:sp>
      <p:sp>
        <p:nvSpPr>
          <p:cNvPr id="11" name="Shape 9"/>
          <p:cNvSpPr/>
          <p:nvPr/>
        </p:nvSpPr>
        <p:spPr>
          <a:xfrm>
            <a:off x="2633472" y="1993392"/>
            <a:ext cx="356616" cy="274320"/>
          </a:xfrm>
          <a:prstGeom prst="rightArrow">
            <a:avLst/>
          </a:prstGeom>
          <a:solidFill>
            <a:srgbClr val="F59E0B"/>
          </a:solidFill>
          <a:ln w="12700">
            <a:solidFill>
              <a:srgbClr val="F59E0B"/>
            </a:solidFill>
            <a:prstDash val="solid"/>
          </a:ln>
        </p:spPr>
      </p:sp>
      <p:sp>
        <p:nvSpPr>
          <p:cNvPr id="12" name="Shape 10"/>
          <p:cNvSpPr/>
          <p:nvPr/>
        </p:nvSpPr>
        <p:spPr>
          <a:xfrm>
            <a:off x="3063240" y="1673352"/>
            <a:ext cx="1783080" cy="914400"/>
          </a:xfrm>
          <a:prstGeom prst="rect">
            <a:avLst>
              <a:gd name="adj" fmla="val 6000"/>
            </a:avLst>
          </a:prstGeom>
          <a:solidFill>
            <a:srgbClr val="1C2541"/>
          </a:solidFill>
          <a:ln w="19050">
            <a:solidFill>
              <a:srgbClr val="48CAE4"/>
            </a:solidFill>
            <a:prstDash val="solid"/>
          </a:ln>
        </p:spPr>
      </p:sp>
      <p:sp>
        <p:nvSpPr>
          <p:cNvPr id="13" name="Text 11"/>
          <p:cNvSpPr/>
          <p:nvPr/>
        </p:nvSpPr>
        <p:spPr>
          <a:xfrm>
            <a:off x="3108960" y="1746504"/>
            <a:ext cx="1691640" cy="768096"/>
          </a:xfrm>
          <a:prstGeom prst="rect">
            <a:avLst/>
          </a:prstGeom>
          <a:noFill/>
          <a:ln/>
        </p:spPr>
        <p:txBody>
          <a:bodyPr wrap="square" rtlCol="0" anchor="ctr"/>
          <a:lstStyle/>
          <a:p>
            <a:pPr algn="ctr" indent="0" marL="0">
              <a:buNone/>
            </a:pPr>
            <a:r>
              <a:rPr lang="en-US" sz="1050" b="1" dirty="0">
                <a:solidFill>
                  <a:srgbClr val="FFFFFF"/>
                </a:solidFill>
              </a:rPr>
              <a:t>Frontend Slicing:</a:t>
            </a:r>
            <a:endParaRPr lang="en-US" sz="1050" dirty="0"/>
          </a:p>
          <a:p>
            <a:pPr algn="ctr" indent="0" marL="0">
              <a:buNone/>
            </a:pPr>
            <a:r>
              <a:rPr lang="en-US" sz="1050" b="1" dirty="0">
                <a:solidFill>
                  <a:srgbClr val="FFFFFF"/>
                </a:solidFill>
              </a:rPr>
              <a:t>React + TypeScript</a:t>
            </a:r>
            <a:endParaRPr lang="en-US" sz="1050" dirty="0"/>
          </a:p>
        </p:txBody>
      </p:sp>
      <p:sp>
        <p:nvSpPr>
          <p:cNvPr id="14" name="Shape 12"/>
          <p:cNvSpPr/>
          <p:nvPr/>
        </p:nvSpPr>
        <p:spPr>
          <a:xfrm>
            <a:off x="4919472" y="1993392"/>
            <a:ext cx="356616" cy="274320"/>
          </a:xfrm>
          <a:prstGeom prst="rightArrow">
            <a:avLst/>
          </a:prstGeom>
          <a:solidFill>
            <a:srgbClr val="F59E0B"/>
          </a:solidFill>
          <a:ln w="12700">
            <a:solidFill>
              <a:srgbClr val="F59E0B"/>
            </a:solidFill>
            <a:prstDash val="solid"/>
          </a:ln>
        </p:spPr>
      </p:sp>
      <p:sp>
        <p:nvSpPr>
          <p:cNvPr id="15" name="Shape 13"/>
          <p:cNvSpPr/>
          <p:nvPr/>
        </p:nvSpPr>
        <p:spPr>
          <a:xfrm>
            <a:off x="5349240" y="1673352"/>
            <a:ext cx="1783080" cy="914400"/>
          </a:xfrm>
          <a:prstGeom prst="rect">
            <a:avLst>
              <a:gd name="adj" fmla="val 6000"/>
            </a:avLst>
          </a:prstGeom>
          <a:solidFill>
            <a:srgbClr val="1C2541"/>
          </a:solidFill>
          <a:ln w="19050">
            <a:solidFill>
              <a:srgbClr val="48CAE4"/>
            </a:solidFill>
            <a:prstDash val="solid"/>
          </a:ln>
        </p:spPr>
      </p:sp>
      <p:sp>
        <p:nvSpPr>
          <p:cNvPr id="16" name="Text 14"/>
          <p:cNvSpPr/>
          <p:nvPr/>
        </p:nvSpPr>
        <p:spPr>
          <a:xfrm>
            <a:off x="5394960" y="1746504"/>
            <a:ext cx="1691640" cy="768096"/>
          </a:xfrm>
          <a:prstGeom prst="rect">
            <a:avLst/>
          </a:prstGeom>
          <a:noFill/>
          <a:ln/>
        </p:spPr>
        <p:txBody>
          <a:bodyPr wrap="square" rtlCol="0" anchor="ctr"/>
          <a:lstStyle/>
          <a:p>
            <a:pPr algn="ctr" indent="0" marL="0">
              <a:buNone/>
            </a:pPr>
            <a:r>
              <a:rPr lang="en-US" sz="1050" b="1" dirty="0">
                <a:solidFill>
                  <a:srgbClr val="FFFFFF"/>
                </a:solidFill>
              </a:rPr>
              <a:t>Core API Gateway:</a:t>
            </a:r>
            <a:endParaRPr lang="en-US" sz="1050" dirty="0"/>
          </a:p>
          <a:p>
            <a:pPr algn="ctr" indent="0" marL="0">
              <a:buNone/>
            </a:pPr>
            <a:r>
              <a:rPr lang="en-US" sz="1050" b="1" dirty="0">
                <a:solidFill>
                  <a:srgbClr val="FFFFFF"/>
                </a:solidFill>
              </a:rPr>
              <a:t>Express.js + Sequelize</a:t>
            </a:r>
            <a:endParaRPr lang="en-US" sz="1050" dirty="0"/>
          </a:p>
        </p:txBody>
      </p:sp>
      <p:sp>
        <p:nvSpPr>
          <p:cNvPr id="17" name="Shape 15"/>
          <p:cNvSpPr/>
          <p:nvPr/>
        </p:nvSpPr>
        <p:spPr>
          <a:xfrm>
            <a:off x="7205472" y="1993392"/>
            <a:ext cx="356616" cy="274320"/>
          </a:xfrm>
          <a:prstGeom prst="rightArrow">
            <a:avLst/>
          </a:prstGeom>
          <a:solidFill>
            <a:srgbClr val="F59E0B"/>
          </a:solidFill>
          <a:ln w="12700">
            <a:solidFill>
              <a:srgbClr val="F59E0B"/>
            </a:solidFill>
            <a:prstDash val="solid"/>
          </a:ln>
        </p:spPr>
      </p:sp>
      <p:sp>
        <p:nvSpPr>
          <p:cNvPr id="18" name="Shape 16"/>
          <p:cNvSpPr/>
          <p:nvPr/>
        </p:nvSpPr>
        <p:spPr>
          <a:xfrm>
            <a:off x="7635240" y="1673352"/>
            <a:ext cx="1783080" cy="914400"/>
          </a:xfrm>
          <a:prstGeom prst="rect">
            <a:avLst>
              <a:gd name="adj" fmla="val 6000"/>
            </a:avLst>
          </a:prstGeom>
          <a:solidFill>
            <a:srgbClr val="1C2541"/>
          </a:solidFill>
          <a:ln w="19050">
            <a:solidFill>
              <a:srgbClr val="48CAE4"/>
            </a:solidFill>
            <a:prstDash val="solid"/>
          </a:ln>
        </p:spPr>
      </p:sp>
      <p:sp>
        <p:nvSpPr>
          <p:cNvPr id="19" name="Text 17"/>
          <p:cNvSpPr/>
          <p:nvPr/>
        </p:nvSpPr>
        <p:spPr>
          <a:xfrm>
            <a:off x="7680960" y="1746504"/>
            <a:ext cx="1691640" cy="768096"/>
          </a:xfrm>
          <a:prstGeom prst="rect">
            <a:avLst/>
          </a:prstGeom>
          <a:noFill/>
          <a:ln/>
        </p:spPr>
        <p:txBody>
          <a:bodyPr wrap="square" rtlCol="0" anchor="ctr"/>
          <a:lstStyle/>
          <a:p>
            <a:pPr algn="ctr" indent="0" marL="0">
              <a:buNone/>
            </a:pPr>
            <a:r>
              <a:rPr lang="en-US" sz="1050" b="1" dirty="0">
                <a:solidFill>
                  <a:srgbClr val="FFFFFF"/>
                </a:solidFill>
              </a:rPr>
              <a:t>Cache &amp; Storage:</a:t>
            </a:r>
            <a:endParaRPr lang="en-US" sz="1050" dirty="0"/>
          </a:p>
          <a:p>
            <a:pPr algn="ctr" indent="0" marL="0">
              <a:buNone/>
            </a:pPr>
            <a:r>
              <a:rPr lang="en-US" sz="1050" b="1" dirty="0">
                <a:solidFill>
                  <a:srgbClr val="FFFFFF"/>
                </a:solidFill>
              </a:rPr>
              <a:t>Redis + MinIO S3</a:t>
            </a:r>
            <a:endParaRPr lang="en-US" sz="1050" dirty="0"/>
          </a:p>
        </p:txBody>
      </p:sp>
      <p:sp>
        <p:nvSpPr>
          <p:cNvPr id="20" name="Shape 18"/>
          <p:cNvSpPr/>
          <p:nvPr/>
        </p:nvSpPr>
        <p:spPr>
          <a:xfrm>
            <a:off x="9491472" y="1993392"/>
            <a:ext cx="356616" cy="274320"/>
          </a:xfrm>
          <a:prstGeom prst="rightArrow">
            <a:avLst/>
          </a:prstGeom>
          <a:solidFill>
            <a:srgbClr val="F59E0B"/>
          </a:solidFill>
          <a:ln w="12700">
            <a:solidFill>
              <a:srgbClr val="F59E0B"/>
            </a:solidFill>
            <a:prstDash val="solid"/>
          </a:ln>
        </p:spPr>
      </p:sp>
      <p:sp>
        <p:nvSpPr>
          <p:cNvPr id="21" name="Shape 19"/>
          <p:cNvSpPr/>
          <p:nvPr/>
        </p:nvSpPr>
        <p:spPr>
          <a:xfrm>
            <a:off x="9921240" y="1673352"/>
            <a:ext cx="1783080" cy="914400"/>
          </a:xfrm>
          <a:prstGeom prst="rect">
            <a:avLst>
              <a:gd name="adj" fmla="val 6000"/>
            </a:avLst>
          </a:prstGeom>
          <a:solidFill>
            <a:srgbClr val="48CAE4"/>
          </a:solidFill>
          <a:ln w="19050">
            <a:solidFill>
              <a:srgbClr val="FFFFFF"/>
            </a:solidFill>
            <a:prstDash val="solid"/>
          </a:ln>
        </p:spPr>
      </p:sp>
      <p:sp>
        <p:nvSpPr>
          <p:cNvPr id="22" name="Text 20"/>
          <p:cNvSpPr/>
          <p:nvPr/>
        </p:nvSpPr>
        <p:spPr>
          <a:xfrm>
            <a:off x="9966960" y="1746504"/>
            <a:ext cx="1691640" cy="768096"/>
          </a:xfrm>
          <a:prstGeom prst="rect">
            <a:avLst/>
          </a:prstGeom>
          <a:noFill/>
          <a:ln/>
        </p:spPr>
        <p:txBody>
          <a:bodyPr wrap="square" rtlCol="0" anchor="ctr"/>
          <a:lstStyle/>
          <a:p>
            <a:pPr algn="ctr" indent="0" marL="0">
              <a:buNone/>
            </a:pPr>
            <a:r>
              <a:rPr lang="en-US" sz="1050" b="1" dirty="0">
                <a:solidFill>
                  <a:srgbClr val="0B132B"/>
                </a:solidFill>
              </a:rPr>
              <a:t>CI/CD Pipeline:</a:t>
            </a:r>
            <a:endParaRPr lang="en-US" sz="1050" dirty="0"/>
          </a:p>
          <a:p>
            <a:pPr algn="ctr" indent="0" marL="0">
              <a:buNone/>
            </a:pPr>
            <a:r>
              <a:rPr lang="en-US" sz="1050" b="1" dirty="0">
                <a:solidFill>
                  <a:srgbClr val="0B132B"/>
                </a:solidFill>
              </a:rPr>
              <a:t>GitLab + Docker + Jest</a:t>
            </a:r>
            <a:endParaRPr lang="en-US" sz="1050" dirty="0"/>
          </a:p>
        </p:txBody>
      </p:sp>
      <p:sp>
        <p:nvSpPr>
          <p:cNvPr id="23" name="Text 21"/>
          <p:cNvSpPr/>
          <p:nvPr/>
        </p:nvSpPr>
        <p:spPr>
          <a:xfrm>
            <a:off x="777240" y="2743200"/>
            <a:ext cx="1920240" cy="320040"/>
          </a:xfrm>
          <a:prstGeom prst="rect">
            <a:avLst/>
          </a:prstGeom>
          <a:noFill/>
          <a:ln/>
        </p:spPr>
        <p:txBody>
          <a:bodyPr wrap="square" rtlCol="0" anchor="ctr"/>
          <a:lstStyle/>
          <a:p>
            <a:pPr indent="0" marL="0">
              <a:buNone/>
            </a:pPr>
            <a:r>
              <a:rPr lang="en-US" sz="1050" b="1" dirty="0">
                <a:solidFill>
                  <a:srgbClr val="94A3B8"/>
                </a:solidFill>
              </a:rPr>
              <a:t>Core Engine Protocols:</a:t>
            </a:r>
            <a:endParaRPr lang="en-US" sz="1050" dirty="0"/>
          </a:p>
        </p:txBody>
      </p:sp>
      <p:sp>
        <p:nvSpPr>
          <p:cNvPr id="24" name="Shape 22"/>
          <p:cNvSpPr/>
          <p:nvPr/>
        </p:nvSpPr>
        <p:spPr>
          <a:xfrm>
            <a:off x="2697480" y="2770632"/>
            <a:ext cx="1170432" cy="274320"/>
          </a:xfrm>
          <a:prstGeom prst="rect">
            <a:avLst>
              <a:gd name="adj" fmla="val 13333"/>
            </a:avLst>
          </a:prstGeom>
          <a:solidFill>
            <a:srgbClr val="1C2541"/>
          </a:solidFill>
          <a:ln w="12700">
            <a:solidFill>
              <a:srgbClr val="10B981"/>
            </a:solidFill>
            <a:prstDash val="solid"/>
          </a:ln>
        </p:spPr>
      </p:sp>
      <p:sp>
        <p:nvSpPr>
          <p:cNvPr id="25" name="Text 23"/>
          <p:cNvSpPr/>
          <p:nvPr/>
        </p:nvSpPr>
        <p:spPr>
          <a:xfrm>
            <a:off x="2697480" y="2770632"/>
            <a:ext cx="1170432" cy="274320"/>
          </a:xfrm>
          <a:prstGeom prst="rect">
            <a:avLst/>
          </a:prstGeom>
          <a:noFill/>
          <a:ln/>
        </p:spPr>
        <p:txBody>
          <a:bodyPr wrap="square" rtlCol="0" anchor="ctr"/>
          <a:lstStyle/>
          <a:p>
            <a:pPr algn="ctr" indent="0" marL="0">
              <a:buNone/>
            </a:pPr>
            <a:r>
              <a:rPr lang="en-US" sz="950" b="1" dirty="0">
                <a:solidFill>
                  <a:srgbClr val="10B981"/>
                </a:solidFill>
              </a:rPr>
              <a:t>React.js</a:t>
            </a:r>
            <a:endParaRPr lang="en-US" sz="950" dirty="0"/>
          </a:p>
        </p:txBody>
      </p:sp>
      <p:sp>
        <p:nvSpPr>
          <p:cNvPr id="26" name="Shape 24"/>
          <p:cNvSpPr/>
          <p:nvPr/>
        </p:nvSpPr>
        <p:spPr>
          <a:xfrm>
            <a:off x="4005072" y="2770632"/>
            <a:ext cx="1371600" cy="274320"/>
          </a:xfrm>
          <a:prstGeom prst="rect">
            <a:avLst>
              <a:gd name="adj" fmla="val 13333"/>
            </a:avLst>
          </a:prstGeom>
          <a:solidFill>
            <a:srgbClr val="1C2541"/>
          </a:solidFill>
          <a:ln w="12700">
            <a:solidFill>
              <a:srgbClr val="10B981"/>
            </a:solidFill>
            <a:prstDash val="solid"/>
          </a:ln>
        </p:spPr>
      </p:sp>
      <p:sp>
        <p:nvSpPr>
          <p:cNvPr id="27" name="Text 25"/>
          <p:cNvSpPr/>
          <p:nvPr/>
        </p:nvSpPr>
        <p:spPr>
          <a:xfrm>
            <a:off x="4005072" y="2770632"/>
            <a:ext cx="1371600" cy="274320"/>
          </a:xfrm>
          <a:prstGeom prst="rect">
            <a:avLst/>
          </a:prstGeom>
          <a:noFill/>
          <a:ln/>
        </p:spPr>
        <p:txBody>
          <a:bodyPr wrap="square" rtlCol="0" anchor="ctr"/>
          <a:lstStyle/>
          <a:p>
            <a:pPr algn="ctr" indent="0" marL="0">
              <a:buNone/>
            </a:pPr>
            <a:r>
              <a:rPr lang="en-US" sz="950" b="1" dirty="0">
                <a:solidFill>
                  <a:srgbClr val="10B981"/>
                </a:solidFill>
              </a:rPr>
              <a:t>TypeScript</a:t>
            </a:r>
            <a:endParaRPr lang="en-US" sz="950" dirty="0"/>
          </a:p>
        </p:txBody>
      </p:sp>
      <p:sp>
        <p:nvSpPr>
          <p:cNvPr id="28" name="Shape 26"/>
          <p:cNvSpPr/>
          <p:nvPr/>
        </p:nvSpPr>
        <p:spPr>
          <a:xfrm>
            <a:off x="5513832" y="2770632"/>
            <a:ext cx="1572768" cy="274320"/>
          </a:xfrm>
          <a:prstGeom prst="rect">
            <a:avLst>
              <a:gd name="adj" fmla="val 13333"/>
            </a:avLst>
          </a:prstGeom>
          <a:solidFill>
            <a:srgbClr val="1C2541"/>
          </a:solidFill>
          <a:ln w="12700">
            <a:solidFill>
              <a:srgbClr val="10B981"/>
            </a:solidFill>
            <a:prstDash val="solid"/>
          </a:ln>
        </p:spPr>
      </p:sp>
      <p:sp>
        <p:nvSpPr>
          <p:cNvPr id="29" name="Text 27"/>
          <p:cNvSpPr/>
          <p:nvPr/>
        </p:nvSpPr>
        <p:spPr>
          <a:xfrm>
            <a:off x="5513832" y="2770632"/>
            <a:ext cx="1572768" cy="274320"/>
          </a:xfrm>
          <a:prstGeom prst="rect">
            <a:avLst/>
          </a:prstGeom>
          <a:noFill/>
          <a:ln/>
        </p:spPr>
        <p:txBody>
          <a:bodyPr wrap="square" rtlCol="0" anchor="ctr"/>
          <a:lstStyle/>
          <a:p>
            <a:pPr algn="ctr" indent="0" marL="0">
              <a:buNone/>
            </a:pPr>
            <a:r>
              <a:rPr lang="en-US" sz="950" b="1" dirty="0">
                <a:solidFill>
                  <a:srgbClr val="10B981"/>
                </a:solidFill>
              </a:rPr>
              <a:t>Node/Express</a:t>
            </a:r>
            <a:endParaRPr lang="en-US" sz="950" dirty="0"/>
          </a:p>
        </p:txBody>
      </p:sp>
      <p:sp>
        <p:nvSpPr>
          <p:cNvPr id="30" name="Shape 28"/>
          <p:cNvSpPr/>
          <p:nvPr/>
        </p:nvSpPr>
        <p:spPr>
          <a:xfrm>
            <a:off x="7223760" y="2770632"/>
            <a:ext cx="1673352" cy="274320"/>
          </a:xfrm>
          <a:prstGeom prst="rect">
            <a:avLst>
              <a:gd name="adj" fmla="val 13333"/>
            </a:avLst>
          </a:prstGeom>
          <a:solidFill>
            <a:srgbClr val="1C2541"/>
          </a:solidFill>
          <a:ln w="12700">
            <a:solidFill>
              <a:srgbClr val="10B981"/>
            </a:solidFill>
            <a:prstDash val="solid"/>
          </a:ln>
        </p:spPr>
      </p:sp>
      <p:sp>
        <p:nvSpPr>
          <p:cNvPr id="31" name="Text 29"/>
          <p:cNvSpPr/>
          <p:nvPr/>
        </p:nvSpPr>
        <p:spPr>
          <a:xfrm>
            <a:off x="7223760" y="2770632"/>
            <a:ext cx="1673352" cy="274320"/>
          </a:xfrm>
          <a:prstGeom prst="rect">
            <a:avLst/>
          </a:prstGeom>
          <a:noFill/>
          <a:ln/>
        </p:spPr>
        <p:txBody>
          <a:bodyPr wrap="square" rtlCol="0" anchor="ctr"/>
          <a:lstStyle/>
          <a:p>
            <a:pPr algn="ctr" indent="0" marL="0">
              <a:buNone/>
            </a:pPr>
            <a:r>
              <a:rPr lang="en-US" sz="950" b="1" dirty="0">
                <a:solidFill>
                  <a:srgbClr val="10B981"/>
                </a:solidFill>
              </a:rPr>
              <a:t>Sequelize ORM</a:t>
            </a:r>
            <a:endParaRPr lang="en-US" sz="950" dirty="0"/>
          </a:p>
        </p:txBody>
      </p:sp>
      <p:sp>
        <p:nvSpPr>
          <p:cNvPr id="32" name="Shape 30"/>
          <p:cNvSpPr/>
          <p:nvPr/>
        </p:nvSpPr>
        <p:spPr>
          <a:xfrm>
            <a:off x="9034272" y="2770632"/>
            <a:ext cx="1472184" cy="274320"/>
          </a:xfrm>
          <a:prstGeom prst="rect">
            <a:avLst>
              <a:gd name="adj" fmla="val 13333"/>
            </a:avLst>
          </a:prstGeom>
          <a:solidFill>
            <a:srgbClr val="1C2541"/>
          </a:solidFill>
          <a:ln w="12700">
            <a:solidFill>
              <a:srgbClr val="10B981"/>
            </a:solidFill>
            <a:prstDash val="solid"/>
          </a:ln>
        </p:spPr>
      </p:sp>
      <p:sp>
        <p:nvSpPr>
          <p:cNvPr id="33" name="Text 31"/>
          <p:cNvSpPr/>
          <p:nvPr/>
        </p:nvSpPr>
        <p:spPr>
          <a:xfrm>
            <a:off x="9034272" y="2770632"/>
            <a:ext cx="1472184" cy="274320"/>
          </a:xfrm>
          <a:prstGeom prst="rect">
            <a:avLst/>
          </a:prstGeom>
          <a:noFill/>
          <a:ln/>
        </p:spPr>
        <p:txBody>
          <a:bodyPr wrap="square" rtlCol="0" anchor="ctr"/>
          <a:lstStyle/>
          <a:p>
            <a:pPr algn="ctr" indent="0" marL="0">
              <a:buNone/>
            </a:pPr>
            <a:r>
              <a:rPr lang="en-US" sz="950" b="1" dirty="0">
                <a:solidFill>
                  <a:srgbClr val="10B981"/>
                </a:solidFill>
              </a:rPr>
              <a:t>Redis Cache</a:t>
            </a:r>
            <a:endParaRPr lang="en-US" sz="950" dirty="0"/>
          </a:p>
        </p:txBody>
      </p:sp>
      <p:sp>
        <p:nvSpPr>
          <p:cNvPr id="34" name="Shape 32"/>
          <p:cNvSpPr/>
          <p:nvPr/>
        </p:nvSpPr>
        <p:spPr>
          <a:xfrm>
            <a:off x="10643616" y="2770632"/>
            <a:ext cx="1170432" cy="274320"/>
          </a:xfrm>
          <a:prstGeom prst="rect">
            <a:avLst>
              <a:gd name="adj" fmla="val 13333"/>
            </a:avLst>
          </a:prstGeom>
          <a:solidFill>
            <a:srgbClr val="1C2541"/>
          </a:solidFill>
          <a:ln w="12700">
            <a:solidFill>
              <a:srgbClr val="10B981"/>
            </a:solidFill>
            <a:prstDash val="solid"/>
          </a:ln>
        </p:spPr>
      </p:sp>
      <p:sp>
        <p:nvSpPr>
          <p:cNvPr id="35" name="Text 33"/>
          <p:cNvSpPr/>
          <p:nvPr/>
        </p:nvSpPr>
        <p:spPr>
          <a:xfrm>
            <a:off x="10643616" y="2770632"/>
            <a:ext cx="1170432" cy="274320"/>
          </a:xfrm>
          <a:prstGeom prst="rect">
            <a:avLst/>
          </a:prstGeom>
          <a:noFill/>
          <a:ln/>
        </p:spPr>
        <p:txBody>
          <a:bodyPr wrap="square" rtlCol="0" anchor="ctr"/>
          <a:lstStyle/>
          <a:p>
            <a:pPr algn="ctr" indent="0" marL="0">
              <a:buNone/>
            </a:pPr>
            <a:r>
              <a:rPr lang="en-US" sz="950" b="1" dirty="0">
                <a:solidFill>
                  <a:srgbClr val="10B981"/>
                </a:solidFill>
              </a:rPr>
              <a:t>MinIO S3</a:t>
            </a:r>
            <a:endParaRPr lang="en-US" sz="950" dirty="0"/>
          </a:p>
        </p:txBody>
      </p:sp>
      <p:sp>
        <p:nvSpPr>
          <p:cNvPr id="36" name="Shape 34"/>
          <p:cNvSpPr/>
          <p:nvPr/>
        </p:nvSpPr>
        <p:spPr>
          <a:xfrm>
            <a:off x="11951208" y="2770632"/>
            <a:ext cx="1572768" cy="274320"/>
          </a:xfrm>
          <a:prstGeom prst="rect">
            <a:avLst>
              <a:gd name="adj" fmla="val 13333"/>
            </a:avLst>
          </a:prstGeom>
          <a:solidFill>
            <a:srgbClr val="1C2541"/>
          </a:solidFill>
          <a:ln w="12700">
            <a:solidFill>
              <a:srgbClr val="10B981"/>
            </a:solidFill>
            <a:prstDash val="solid"/>
          </a:ln>
        </p:spPr>
      </p:sp>
      <p:sp>
        <p:nvSpPr>
          <p:cNvPr id="37" name="Text 35"/>
          <p:cNvSpPr/>
          <p:nvPr/>
        </p:nvSpPr>
        <p:spPr>
          <a:xfrm>
            <a:off x="11951208" y="2770632"/>
            <a:ext cx="1572768" cy="274320"/>
          </a:xfrm>
          <a:prstGeom prst="rect">
            <a:avLst/>
          </a:prstGeom>
          <a:noFill/>
          <a:ln/>
        </p:spPr>
        <p:txBody>
          <a:bodyPr wrap="square" rtlCol="0" anchor="ctr"/>
          <a:lstStyle/>
          <a:p>
            <a:pPr algn="ctr" indent="0" marL="0">
              <a:buNone/>
            </a:pPr>
            <a:r>
              <a:rPr lang="en-US" sz="950" b="1" dirty="0">
                <a:solidFill>
                  <a:srgbClr val="10B981"/>
                </a:solidFill>
              </a:rPr>
              <a:t>Docker CI/CD</a:t>
            </a:r>
            <a:endParaRPr lang="en-US" sz="950" dirty="0"/>
          </a:p>
        </p:txBody>
      </p:sp>
      <p:sp>
        <p:nvSpPr>
          <p:cNvPr id="38" name="Shape 36"/>
          <p:cNvSpPr/>
          <p:nvPr/>
        </p:nvSpPr>
        <p:spPr>
          <a:xfrm>
            <a:off x="13661136" y="2770632"/>
            <a:ext cx="1673352" cy="274320"/>
          </a:xfrm>
          <a:prstGeom prst="rect">
            <a:avLst>
              <a:gd name="adj" fmla="val 13333"/>
            </a:avLst>
          </a:prstGeom>
          <a:solidFill>
            <a:srgbClr val="1C2541"/>
          </a:solidFill>
          <a:ln w="12700">
            <a:solidFill>
              <a:srgbClr val="10B981"/>
            </a:solidFill>
            <a:prstDash val="solid"/>
          </a:ln>
        </p:spPr>
      </p:sp>
      <p:sp>
        <p:nvSpPr>
          <p:cNvPr id="39" name="Text 37"/>
          <p:cNvSpPr/>
          <p:nvPr/>
        </p:nvSpPr>
        <p:spPr>
          <a:xfrm>
            <a:off x="13661136" y="2770632"/>
            <a:ext cx="1673352" cy="274320"/>
          </a:xfrm>
          <a:prstGeom prst="rect">
            <a:avLst/>
          </a:prstGeom>
          <a:noFill/>
          <a:ln/>
        </p:spPr>
        <p:txBody>
          <a:bodyPr wrap="square" rtlCol="0" anchor="ctr"/>
          <a:lstStyle/>
          <a:p>
            <a:pPr algn="ctr" indent="0" marL="0">
              <a:buNone/>
            </a:pPr>
            <a:r>
              <a:rPr lang="en-US" sz="950" b="1" dirty="0">
                <a:solidFill>
                  <a:srgbClr val="10B981"/>
                </a:solidFill>
              </a:rPr>
              <a:t>Jest QA Suite</a:t>
            </a:r>
            <a:endParaRPr lang="en-US" sz="950" dirty="0"/>
          </a:p>
        </p:txBody>
      </p:sp>
      <p:sp>
        <p:nvSpPr>
          <p:cNvPr id="40" name="Shape 38"/>
          <p:cNvSpPr/>
          <p:nvPr/>
        </p:nvSpPr>
        <p:spPr>
          <a:xfrm>
            <a:off x="457200" y="3337560"/>
            <a:ext cx="3666744" cy="3108960"/>
          </a:xfrm>
          <a:prstGeom prst="rect">
            <a:avLst>
              <a:gd name="adj" fmla="val 2353"/>
            </a:avLst>
          </a:prstGeom>
          <a:solidFill>
            <a:srgbClr val="1C2541"/>
          </a:solidFill>
          <a:ln w="19050">
            <a:solidFill>
              <a:srgbClr val="48CAE4"/>
            </a:solidFill>
            <a:prstDash val="solid"/>
          </a:ln>
        </p:spPr>
      </p:sp>
      <p:sp>
        <p:nvSpPr>
          <p:cNvPr id="41" name="Text 39"/>
          <p:cNvSpPr/>
          <p:nvPr/>
        </p:nvSpPr>
        <p:spPr>
          <a:xfrm>
            <a:off x="566928" y="3410712"/>
            <a:ext cx="3447288" cy="274320"/>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2" name="Text 40"/>
          <p:cNvSpPr/>
          <p:nvPr/>
        </p:nvSpPr>
        <p:spPr>
          <a:xfrm>
            <a:off x="566928"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Mining Operations Monitoring: Real-time dashboard tracking mining activities, heavy equipment status, and safety compliance.</a:t>
            </a:r>
            <a:endParaRPr lang="en-US" sz="950" dirty="0"/>
          </a:p>
          <a:p>
            <a:r>
              <a:rPr lang="en-US" sz="950" dirty="0">
                <a:solidFill>
                  <a:srgbClr val="FFFFFF"/>
                </a:solidFill>
                <a:latin typeface="Segoe UI" pitchFamily="34" charset="0"/>
                <a:ea typeface="Segoe UI" pitchFamily="34" charset="-122"/>
                <a:cs typeface="Segoe UI" pitchFamily="34" charset="-120"/>
              </a:rPr>
              <a:t>Travel Management System: End-to-end business trip authorization, booking, tracking, and automated expense reconciliation.</a:t>
            </a:r>
            <a:endParaRPr lang="en-US" sz="950" dirty="0"/>
          </a:p>
          <a:p>
            <a:r>
              <a:rPr lang="en-US" sz="950" dirty="0">
                <a:solidFill>
                  <a:srgbClr val="FFFFFF"/>
                </a:solidFill>
                <a:latin typeface="Segoe UI" pitchFamily="34" charset="0"/>
                <a:ea typeface="Segoe UI" pitchFamily="34" charset="-122"/>
                <a:cs typeface="Segoe UI" pitchFamily="34" charset="-120"/>
              </a:rPr>
              <a:t>Business Intelligence (BI): Consolidated reporting &amp; customizable KPI dashboards across all directorate units.</a:t>
            </a:r>
            <a:endParaRPr lang="en-US" sz="950" dirty="0"/>
          </a:p>
        </p:txBody>
      </p:sp>
      <p:sp>
        <p:nvSpPr>
          <p:cNvPr id="43" name="Shape 41"/>
          <p:cNvSpPr/>
          <p:nvPr/>
        </p:nvSpPr>
        <p:spPr>
          <a:xfrm>
            <a:off x="4261104" y="3337560"/>
            <a:ext cx="3666744" cy="3108960"/>
          </a:xfrm>
          <a:prstGeom prst="rect">
            <a:avLst>
              <a:gd name="adj" fmla="val 2353"/>
            </a:avLst>
          </a:prstGeom>
          <a:solidFill>
            <a:srgbClr val="1C2541"/>
          </a:solidFill>
          <a:ln w="19050">
            <a:solidFill>
              <a:srgbClr val="F59E0B"/>
            </a:solidFill>
            <a:prstDash val="solid"/>
          </a:ln>
        </p:spPr>
      </p:sp>
      <p:sp>
        <p:nvSpPr>
          <p:cNvPr id="44" name="Text 42"/>
          <p:cNvSpPr/>
          <p:nvPr/>
        </p:nvSpPr>
        <p:spPr>
          <a:xfrm>
            <a:off x="4370832" y="3410712"/>
            <a:ext cx="3447288" cy="274320"/>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ARSITEKTUR TEKNIS (Output)</a:t>
            </a:r>
            <a:endParaRPr lang="en-US" sz="1250" dirty="0"/>
          </a:p>
        </p:txBody>
      </p:sp>
      <p:sp>
        <p:nvSpPr>
          <p:cNvPr id="45" name="Text 43"/>
          <p:cNvSpPr/>
          <p:nvPr/>
        </p:nvSpPr>
        <p:spPr>
          <a:xfrm>
            <a:off x="4370832"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Microfrontend Architecture utilizing Turbo &amp; Nx to decouple the massive 100+ module monolithic application into independent apps.</a:t>
            </a:r>
            <a:endParaRPr lang="en-US" sz="950" dirty="0"/>
          </a:p>
          <a:p>
            <a:r>
              <a:rPr lang="en-US" sz="950" dirty="0">
                <a:solidFill>
                  <a:srgbClr val="FFFFFF"/>
                </a:solidFill>
                <a:latin typeface="Segoe UI" pitchFamily="34" charset="0"/>
                <a:ea typeface="Segoe UI" pitchFamily="34" charset="-122"/>
                <a:cs typeface="Segoe UI" pitchFamily="34" charset="-120"/>
              </a:rPr>
              <a:t>Frontend: React, TypeScript, Bootstrap, high-speed modular slicing.</a:t>
            </a:r>
            <a:endParaRPr lang="en-US" sz="950" dirty="0"/>
          </a:p>
          <a:p>
            <a:r>
              <a:rPr lang="en-US" sz="950" dirty="0">
                <a:solidFill>
                  <a:srgbClr val="FFFFFF"/>
                </a:solidFill>
                <a:latin typeface="Segoe UI" pitchFamily="34" charset="0"/>
                <a:ea typeface="Segoe UI" pitchFamily="34" charset="-122"/>
                <a:cs typeface="Segoe UI" pitchFamily="34" charset="-120"/>
              </a:rPr>
              <a:t>Backend &amp; DB: Node.js, Express.js, Sequelize ORM, MySQL, MongoDB, Redis caching, MinIO Object Storage, Sentry tracing, and Docker.</a:t>
            </a:r>
            <a:endParaRPr lang="en-US" sz="950" dirty="0"/>
          </a:p>
        </p:txBody>
      </p:sp>
      <p:sp>
        <p:nvSpPr>
          <p:cNvPr id="46" name="Shape 44"/>
          <p:cNvSpPr/>
          <p:nvPr/>
        </p:nvSpPr>
        <p:spPr>
          <a:xfrm>
            <a:off x="8065008" y="3337560"/>
            <a:ext cx="3666744" cy="3108960"/>
          </a:xfrm>
          <a:prstGeom prst="rect">
            <a:avLst>
              <a:gd name="adj" fmla="val 2353"/>
            </a:avLst>
          </a:prstGeom>
          <a:solidFill>
            <a:srgbClr val="1C2541"/>
          </a:solidFill>
          <a:ln w="19050">
            <a:solidFill>
              <a:srgbClr val="10B981"/>
            </a:solidFill>
            <a:prstDash val="solid"/>
          </a:ln>
        </p:spPr>
      </p:sp>
      <p:sp>
        <p:nvSpPr>
          <p:cNvPr id="47" name="Text 45"/>
          <p:cNvSpPr/>
          <p:nvPr/>
        </p:nvSpPr>
        <p:spPr>
          <a:xfrm>
            <a:off x="8174736" y="3410712"/>
            <a:ext cx="3447288" cy="274320"/>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48" name="Text 46"/>
          <p:cNvSpPr/>
          <p:nvPr/>
        </p:nvSpPr>
        <p:spPr>
          <a:xfrm>
            <a:off x="8174736"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Automated CI/CD Pipeline Setup (GitLab CI/CD) and full Integration Testing suite using Jest ensuring zero regression across 100+ modules.</a:t>
            </a:r>
            <a:endParaRPr lang="en-US" sz="950" dirty="0"/>
          </a:p>
          <a:p>
            <a:r>
              <a:rPr lang="en-US" sz="950" dirty="0">
                <a:solidFill>
                  <a:srgbClr val="FFFFFF"/>
                </a:solidFill>
                <a:latin typeface="Segoe UI" pitchFamily="34" charset="0"/>
                <a:ea typeface="Segoe UI" pitchFamily="34" charset="-122"/>
                <a:cs typeface="Segoe UI" pitchFamily="34" charset="-120"/>
              </a:rPr>
              <a:t>Drastic improvement in system response time and throughput handled by Redis caching and modular loading.</a:t>
            </a:r>
            <a:endParaRPr lang="en-US" sz="950" dirty="0"/>
          </a:p>
          <a:p>
            <a:r>
              <a:rPr lang="en-US" sz="950" dirty="0">
                <a:solidFill>
                  <a:srgbClr val="FFFFFF"/>
                </a:solidFill>
                <a:latin typeface="Segoe UI" pitchFamily="34" charset="0"/>
                <a:ea typeface="Segoe UI" pitchFamily="34" charset="-122"/>
                <a:cs typeface="Segoe UI" pitchFamily="34" charset="-120"/>
              </a:rPr>
              <a:t>High-availability architecture maintaining 99.9% uptime across production mining sites.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FINANCIAL HOLDING GATEWAY • IFG (BUMN HOLDING)</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EPIC PORTAL — DIGITAL INSURANCE ENTERPRISE PLATFORM (hub-asum-dev.ifg-life.id)</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Engineering high-concurrency insurance workflows and policy portals with banking-grade security (https://hub-asum-dev.ifg-life.id/).</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IFG Epic Portal — Financial Holding Dashboard</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Java Quarkus Backend</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BPMN Workflow Engine</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IFG Life Hub Portal</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Policy Workflow</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Multi-Tenant RBAC</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Next.js &amp; Redux</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Centralized Policy &amp; Claim Gateway (hub-asum-dev.ifg-life.id)</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Policy Processing</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3x Faster SLA</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Security Standard</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Banking Grade-A</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Tenant Architecture</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Multi-Subsidiary</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Data Lookups</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Real-Time REST</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Currently handling &amp; engineering the digital insurance enterprise platform (Corporate LifeHub / Epic Portal) for Indonesia Financial Group Life (https://hub-asum-dev.ifg-life.id/).</a:t>
            </a:r>
            <a:endParaRPr lang="en-US" sz="950" dirty="0"/>
          </a:p>
          <a:p>
            <a:r>
              <a:rPr lang="en-US" sz="950" dirty="0">
                <a:solidFill>
                  <a:srgbClr val="FFFFFF"/>
                </a:solidFill>
                <a:latin typeface="Segoe UI" pitchFamily="34" charset="0"/>
                <a:ea typeface="Segoe UI" pitchFamily="34" charset="-122"/>
                <a:cs typeface="Segoe UI" pitchFamily="34" charset="-120"/>
              </a:rPr>
              <a:t>Centralized gateway serving insurance policy workflows, customer claims, and multi-tenant portal management across IFG Life subsidiaries.</a:t>
            </a:r>
            <a:endParaRPr lang="en-US" sz="950" dirty="0"/>
          </a:p>
          <a:p>
            <a:r>
              <a:rPr lang="en-US" sz="950" dirty="0">
                <a:solidFill>
                  <a:srgbClr val="FFFFFF"/>
                </a:solidFill>
                <a:latin typeface="Segoe UI" pitchFamily="34" charset="0"/>
                <a:ea typeface="Segoe UI" pitchFamily="34" charset="-122"/>
                <a:cs typeface="Segoe UI" pitchFamily="34" charset="-120"/>
              </a:rPr>
              <a:t>Deep integration with BPMN (Business Process Model and Notation) Workflow Integration for automated policy underwriting approval chains.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Architected with robust role-based access control (RBAC) ensuring strict data segregation across insurance entities.</a:t>
            </a:r>
            <a:endParaRPr lang="en-US" sz="950" dirty="0"/>
          </a:p>
          <a:p>
            <a:r>
              <a:rPr lang="en-US" sz="950" dirty="0">
                <a:solidFill>
                  <a:srgbClr val="FFFFFF"/>
                </a:solidFill>
                <a:latin typeface="Segoe UI" pitchFamily="34" charset="0"/>
                <a:ea typeface="Segoe UI" pitchFamily="34" charset="-122"/>
                <a:cs typeface="Segoe UI" pitchFamily="34" charset="-120"/>
              </a:rPr>
              <a:t>Backend microservices built on Java Quarkus (Supersonic Subatomic Cloud-Native Java) ensuring high throughput and minimal memory footprints.</a:t>
            </a:r>
            <a:endParaRPr lang="en-US" sz="950" dirty="0"/>
          </a:p>
          <a:p>
            <a:r>
              <a:rPr lang="en-US" sz="950" dirty="0">
                <a:solidFill>
                  <a:srgbClr val="FFFFFF"/>
                </a:solidFill>
                <a:latin typeface="Segoe UI" pitchFamily="34" charset="0"/>
                <a:ea typeface="Segoe UI" pitchFamily="34" charset="-122"/>
                <a:cs typeface="Segoe UI" pitchFamily="34" charset="-120"/>
              </a:rPr>
              <a:t>Full tech stack: Next.js, Tailwind CSS, Redux Toolkit, Java Quarkus, BPMN Workflow, PostgreSQL, and OIDC/OAuth2.</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Accelerated policy service turnaround time and unified digital customer engagement across IFG's network.</a:t>
            </a:r>
            <a:endParaRPr lang="en-US" sz="950" dirty="0"/>
          </a:p>
          <a:p>
            <a:r>
              <a:rPr lang="en-US" sz="950" dirty="0">
                <a:solidFill>
                  <a:srgbClr val="FFFFFF"/>
                </a:solidFill>
                <a:latin typeface="Segoe UI" pitchFamily="34" charset="0"/>
                <a:ea typeface="Segoe UI" pitchFamily="34" charset="-122"/>
                <a:cs typeface="Segoe UI" pitchFamily="34" charset="-120"/>
              </a:rPr>
              <a:t>Strict adherence to financial regulatory compliance and banking-grade cybersecurity standards.</a:t>
            </a:r>
            <a:endParaRPr lang="en-US" sz="950" dirty="0"/>
          </a:p>
          <a:p>
            <a:r>
              <a:rPr lang="en-US" sz="950" dirty="0">
                <a:solidFill>
                  <a:srgbClr val="FFFFFF"/>
                </a:solidFill>
                <a:latin typeface="Segoe UI" pitchFamily="34" charset="0"/>
                <a:ea typeface="Segoe UI" pitchFamily="34" charset="-122"/>
                <a:cs typeface="Segoe UI" pitchFamily="34" charset="-120"/>
              </a:rPr>
              <a:t>Provides executive management with real-time analytics on policy issuance and claim metrics.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HUMAN CAPITAL MANAGEMENT • PT PUPUK SRIWIDJAJA</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HCMS WEB APP — TALENT &amp; COMPETENCY SYSTEM</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Schema-driven architecture centralizing talent management, competency dictionaries, and mental health EAP.</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Pupuk Sriwidjaja HCMS Portal</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Master Employee</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Kamus Kompetensi</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Mental Health EAP</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Career Path Plan</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Mutation Engine</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CI/CD GitLab</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Integrated Competency &amp; Talent Management System</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Competency Mapping</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Soft &amp; Hard Skill</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Mental Health EAP</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100% Confidential</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Database Schema</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ERD Relational</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Promotion Velocity</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Objective Scoring</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Centralizes human capital management processes across PT Pupuk Sriwidjaja Palembang.</a:t>
            </a:r>
            <a:endParaRPr lang="en-US" sz="950" dirty="0"/>
          </a:p>
          <a:p>
            <a:r>
              <a:rPr lang="en-US" sz="950" dirty="0">
                <a:solidFill>
                  <a:srgbClr val="FFFFFF"/>
                </a:solidFill>
                <a:latin typeface="Segoe UI" pitchFamily="34" charset="0"/>
                <a:ea typeface="Segoe UI" pitchFamily="34" charset="-122"/>
                <a:cs typeface="Segoe UI" pitchFamily="34" charset="-120"/>
              </a:rPr>
              <a:t>Encompasses master employee data integration, education/training tracking, individual performance monitoring, and career path planning.</a:t>
            </a:r>
            <a:endParaRPr lang="en-US" sz="950" dirty="0"/>
          </a:p>
          <a:p>
            <a:r>
              <a:rPr lang="en-US" sz="950" dirty="0">
                <a:solidFill>
                  <a:srgbClr val="FFFFFF"/>
                </a:solidFill>
                <a:latin typeface="Segoe UI" pitchFamily="34" charset="0"/>
                <a:ea typeface="Segoe UI" pitchFamily="34" charset="-122"/>
                <a:cs typeface="Segoe UI" pitchFamily="34" charset="-120"/>
              </a:rPr>
              <a:t>Manages organizational structuring, position alignment, and employee mobility (mutations).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Integrated Competency Dictionary (Kamus Kompetensi Soft &amp; Hard Skills) mapping employee capabilities to job roles.</a:t>
            </a:r>
            <a:endParaRPr lang="en-US" sz="950" dirty="0"/>
          </a:p>
          <a:p>
            <a:r>
              <a:rPr lang="en-US" sz="950" dirty="0">
                <a:solidFill>
                  <a:srgbClr val="FFFFFF"/>
                </a:solidFill>
                <a:latin typeface="Segoe UI" pitchFamily="34" charset="0"/>
                <a:ea typeface="Segoe UI" pitchFamily="34" charset="-122"/>
                <a:cs typeface="Segoe UI" pitchFamily="34" charset="-120"/>
              </a:rPr>
              <a:t>Pioneered an integrated Employee Assistance Program (EAP) for confidential mental health consultation services.</a:t>
            </a:r>
            <a:endParaRPr lang="en-US" sz="950" dirty="0"/>
          </a:p>
          <a:p>
            <a:r>
              <a:rPr lang="en-US" sz="950" dirty="0">
                <a:solidFill>
                  <a:srgbClr val="FFFFFF"/>
                </a:solidFill>
                <a:latin typeface="Segoe UI" pitchFamily="34" charset="0"/>
                <a:ea typeface="Segoe UI" pitchFamily="34" charset="-122"/>
                <a:cs typeface="Segoe UI" pitchFamily="34" charset="-120"/>
              </a:rPr>
              <a:t>Tech Stack: PHP, Laravel, jQuery/AJAX, MySQL, PostgreSQL, Bootstrap, and GitLab CI/CD with strict ERD schema modeling.</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Promoted a holistic approach combining organizational productivity with workforce mental well-being.</a:t>
            </a:r>
            <a:endParaRPr lang="en-US" sz="950" dirty="0"/>
          </a:p>
          <a:p>
            <a:r>
              <a:rPr lang="en-US" sz="950" dirty="0">
                <a:solidFill>
                  <a:srgbClr val="FFFFFF"/>
                </a:solidFill>
                <a:latin typeface="Segoe UI" pitchFamily="34" charset="0"/>
                <a:ea typeface="Segoe UI" pitchFamily="34" charset="-122"/>
                <a:cs typeface="Segoe UI" pitchFamily="34" charset="-120"/>
              </a:rPr>
              <a:t>Accelerated HR promotion and mutation decisions with objective competency evaluation scores.</a:t>
            </a:r>
            <a:endParaRPr lang="en-US" sz="950" dirty="0"/>
          </a:p>
          <a:p>
            <a:r>
              <a:rPr lang="en-US" sz="950" dirty="0">
                <a:solidFill>
                  <a:srgbClr val="FFFFFF"/>
                </a:solidFill>
                <a:latin typeface="Segoe UI" pitchFamily="34" charset="0"/>
                <a:ea typeface="Segoe UI" pitchFamily="34" charset="-122"/>
                <a:cs typeface="Segoe UI" pitchFamily="34" charset="-120"/>
              </a:rPr>
              <a:t>Eliminated paperwork bottlenecks with neat, orderly, production-ready code performance.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WORKFORCE GOVERNANCE • PT PUPUK SRIWIDJAJA</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TKNO WEB APP — OUTSOURCED WORKFORCE SYSTEM</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Real-time organizational hierarchy tracking and contract governance across regional plant directorates.</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TKNO Outsourced Workforce Dashboard</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Directorate Hub</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Contract Master</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Hierarchy Tree</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Budget Alignment</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Plant Demographics</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Realtime Query</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Real-Time Hierarchy &amp; Contract Tracking Engine</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Workforce Structure</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3 Directorates</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Contract Renewal</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100% Tracked</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Duplicate Data</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0% (Eliminated)</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Labor Compliance</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SOP Aligned</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Integrated enterprise platform developed specifically to centralize and streamline contract &amp; non-organic employee management.</a:t>
            </a:r>
            <a:endParaRPr lang="en-US" sz="950" dirty="0"/>
          </a:p>
          <a:p>
            <a:r>
              <a:rPr lang="en-US" sz="950" dirty="0">
                <a:solidFill>
                  <a:srgbClr val="FFFFFF"/>
                </a:solidFill>
                <a:latin typeface="Segoe UI" pitchFamily="34" charset="0"/>
                <a:ea typeface="Segoe UI" pitchFamily="34" charset="-122"/>
                <a:cs typeface="Segoe UI" pitchFamily="34" charset="-120"/>
              </a:rPr>
              <a:t>Accurately records employee positions, organizational hierarchy across Directorates, and master contract data.</a:t>
            </a:r>
            <a:endParaRPr lang="en-US" sz="950" dirty="0"/>
          </a:p>
          <a:p>
            <a:r>
              <a:rPr lang="en-US" sz="950" dirty="0">
                <a:solidFill>
                  <a:srgbClr val="FFFFFF"/>
                </a:solidFill>
                <a:latin typeface="Segoe UI" pitchFamily="34" charset="0"/>
                <a:ea typeface="Segoe UI" pitchFamily="34" charset="-122"/>
                <a:cs typeface="Segoe UI" pitchFamily="34" charset="-120"/>
              </a:rPr>
              <a:t>Serves as a reliable single-source-of-truth for HR decision-making and regulatory compliance.</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Real-time visibility into workforce structure across Directorate Utama, Operations &amp; Production, and Finance &amp; General.</a:t>
            </a:r>
            <a:endParaRPr lang="en-US" sz="950" dirty="0"/>
          </a:p>
          <a:p>
            <a:r>
              <a:rPr lang="en-US" sz="950" dirty="0">
                <a:solidFill>
                  <a:srgbClr val="FFFFFF"/>
                </a:solidFill>
                <a:latin typeface="Segoe UI" pitchFamily="34" charset="0"/>
                <a:ea typeface="Segoe UI" pitchFamily="34" charset="-122"/>
                <a:cs typeface="Segoe UI" pitchFamily="34" charset="-120"/>
              </a:rPr>
              <a:t>Supports succession planning and ensures precise alignment between non-organic job roles and company budget structures.</a:t>
            </a:r>
            <a:endParaRPr lang="en-US" sz="950" dirty="0"/>
          </a:p>
          <a:p>
            <a:r>
              <a:rPr lang="en-US" sz="950" dirty="0">
                <a:solidFill>
                  <a:srgbClr val="FFFFFF"/>
                </a:solidFill>
                <a:latin typeface="Segoe UI" pitchFamily="34" charset="0"/>
                <a:ea typeface="Segoe UI" pitchFamily="34" charset="-122"/>
                <a:cs typeface="Segoe UI" pitchFamily="34" charset="-120"/>
              </a:rPr>
              <a:t>Tech Stack: PHP, Laravel, jQuery, MySQL, PostgreSQL, Bootstrap, clean schema relational design.</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Eliminated duplicate and untracked outsourced employee data across regional plant units.</a:t>
            </a:r>
            <a:endParaRPr lang="en-US" sz="950" dirty="0"/>
          </a:p>
          <a:p>
            <a:r>
              <a:rPr lang="en-US" sz="950" dirty="0">
                <a:solidFill>
                  <a:srgbClr val="FFFFFF"/>
                </a:solidFill>
                <a:latin typeface="Segoe UI" pitchFamily="34" charset="0"/>
                <a:ea typeface="Segoe UI" pitchFamily="34" charset="-122"/>
                <a:cs typeface="Segoe UI" pitchFamily="34" charset="-120"/>
              </a:rPr>
              <a:t>Seamless payroll integration ensuring timely contract renewals and compliance with Indonesian labor regulations.</a:t>
            </a:r>
            <a:endParaRPr lang="en-US" sz="950" dirty="0"/>
          </a:p>
          <a:p>
            <a:r>
              <a:rPr lang="en-US" sz="950" dirty="0">
                <a:solidFill>
                  <a:srgbClr val="FFFFFF"/>
                </a:solidFill>
                <a:latin typeface="Segoe UI" pitchFamily="34" charset="0"/>
                <a:ea typeface="Segoe UI" pitchFamily="34" charset="-122"/>
                <a:cs typeface="Segoe UI" pitchFamily="34" charset="-120"/>
              </a:rPr>
              <a:t>Empowered management with instant demographic and deployment reporting across all processing facilities.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FINTECH ENTERPRISE HR SYSTEM • PT INVESTREE RADHIKA JAYA</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STUDENT INTERN DAILY ACTIVITY &amp; MILESTONE MONITORING APP</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Interactive daily activity tracking, shift logs, and departmental supervisor KPI evaluation engine (Fintech Enterprise).</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Investree Internship Monitoring Dashboard</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Fintech Enterprise HR</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Digital Handbook</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Daily Shift Logs</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Supervisor KPI Review</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Grading Rubric</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Reload-Free UI</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Daily Activity Tracker &amp; Milestone Rubric Engine</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Evaluation Rubric</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Real-Time AJAX</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Tech Stack Tracking</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Multi-Department</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Company Category</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Fintech Enterprise</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Team Collaboration</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3-Engineer Agile</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Comprehensive student intern monitoring application engineered specifically for PT Investree Radhika Jaya (Financial Technology Enterprise).</a:t>
            </a:r>
            <a:endParaRPr lang="en-US" sz="950" dirty="0"/>
          </a:p>
          <a:p>
            <a:r>
              <a:rPr lang="en-US" sz="950" dirty="0">
                <a:solidFill>
                  <a:srgbClr val="FFFFFF"/>
                </a:solidFill>
                <a:latin typeface="Segoe UI" pitchFamily="34" charset="0"/>
                <a:ea typeface="Segoe UI" pitchFamily="34" charset="-122"/>
                <a:cs typeface="Segoe UI" pitchFamily="34" charset="-120"/>
              </a:rPr>
              <a:t>Tracks daily intern activities, shift logs, documents technical challenges faced, and logs project deliverables across departments.</a:t>
            </a:r>
            <a:endParaRPr lang="en-US" sz="950" dirty="0"/>
          </a:p>
          <a:p>
            <a:r>
              <a:rPr lang="en-US" sz="950" dirty="0">
                <a:solidFill>
                  <a:srgbClr val="FFFFFF"/>
                </a:solidFill>
                <a:latin typeface="Segoe UI" pitchFamily="34" charset="0"/>
                <a:ea typeface="Segoe UI" pitchFamily="34" charset="-122"/>
                <a:cs typeface="Segoe UI" pitchFamily="34" charset="-120"/>
              </a:rPr>
              <a:t>Provides departmental supervisors with structured KPI tracking to evaluate intern milestones without paperwork delays.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Built-in evaluation engine enabling continuous feedback between interns and supervisors with clear grading rubrics.</a:t>
            </a:r>
            <a:endParaRPr lang="en-US" sz="950" dirty="0"/>
          </a:p>
          <a:p>
            <a:r>
              <a:rPr lang="en-US" sz="950" dirty="0">
                <a:solidFill>
                  <a:srgbClr val="FFFFFF"/>
                </a:solidFill>
                <a:latin typeface="Segoe UI" pitchFamily="34" charset="0"/>
                <a:ea typeface="Segoe UI" pitchFamily="34" charset="-122"/>
                <a:cs typeface="Segoe UI" pitchFamily="34" charset="-120"/>
              </a:rPr>
              <a:t>ERD database schema tracking individual growth opportunities and technology stack utilization across departments.</a:t>
            </a:r>
            <a:endParaRPr lang="en-US" sz="950" dirty="0"/>
          </a:p>
          <a:p>
            <a:r>
              <a:rPr lang="en-US" sz="950" dirty="0">
                <a:solidFill>
                  <a:srgbClr val="FFFFFF"/>
                </a:solidFill>
                <a:latin typeface="Segoe UI" pitchFamily="34" charset="0"/>
                <a:ea typeface="Segoe UI" pitchFamily="34" charset="-122"/>
                <a:cs typeface="Segoe UI" pitchFamily="34" charset="-120"/>
              </a:rPr>
              <a:t>Tech Stack: PHP, Laravel, jQuery, MySQL, PostgreSQL, Bootstrap (Developed in a collaborative 3-engineer team).</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Enhanced transparency and communication between interns and supervisors, reducing onboarding friction.</a:t>
            </a:r>
            <a:endParaRPr lang="en-US" sz="950" dirty="0"/>
          </a:p>
          <a:p>
            <a:r>
              <a:rPr lang="en-US" sz="950" dirty="0">
                <a:solidFill>
                  <a:srgbClr val="FFFFFF"/>
                </a:solidFill>
                <a:latin typeface="Segoe UI" pitchFamily="34" charset="0"/>
                <a:ea typeface="Segoe UI" pitchFamily="34" charset="-122"/>
                <a:cs typeface="Segoe UI" pitchFamily="34" charset="-120"/>
              </a:rPr>
              <a:t>Provided Investree's HR with structured evaluation data to identify top-performing interns for permanent hire.</a:t>
            </a:r>
            <a:endParaRPr lang="en-US" sz="950" dirty="0"/>
          </a:p>
          <a:p>
            <a:r>
              <a:rPr lang="en-US" sz="950" dirty="0">
                <a:solidFill>
                  <a:srgbClr val="FFFFFF"/>
                </a:solidFill>
                <a:latin typeface="Segoe UI" pitchFamily="34" charset="0"/>
                <a:ea typeface="Segoe UI" pitchFamily="34" charset="-122"/>
                <a:cs typeface="Segoe UI" pitchFamily="34" charset="-120"/>
              </a:rPr>
              <a:t>Delivered production-ready clean front-end code utilizing AJAX for smooth, reload-free evaluations.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PRIVATE AI R&amp;D • VISUAL DAG ENGINE</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SUPREME MOTHER ORCHESTRATOR V1.0 (FIXED)</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Dynamic natural language command to AI model generation pipeline with visual graph execution chain.</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11274552" cy="2011680"/>
          </a:xfrm>
          <a:prstGeom prst="rect">
            <a:avLst>
              <a:gd name="adj" fmla="val 3636"/>
            </a:avLst>
          </a:prstGeom>
          <a:solidFill>
            <a:srgbClr val="0F172A"/>
          </a:solidFill>
          <a:ln w="25400">
            <a:solidFill>
              <a:srgbClr val="A855F7"/>
            </a:solidFill>
            <a:prstDash val="solid"/>
          </a:ln>
        </p:spPr>
      </p:sp>
      <p:sp>
        <p:nvSpPr>
          <p:cNvPr id="8" name="Text 6"/>
          <p:cNvSpPr/>
          <p:nvPr/>
        </p:nvSpPr>
        <p:spPr>
          <a:xfrm>
            <a:off x="640080" y="1307592"/>
            <a:ext cx="10908792" cy="292608"/>
          </a:xfrm>
          <a:prstGeom prst="rect">
            <a:avLst/>
          </a:prstGeom>
          <a:noFill/>
          <a:ln/>
        </p:spPr>
        <p:txBody>
          <a:bodyPr wrap="square" rtlCol="0" anchor="ctr"/>
          <a:lstStyle/>
          <a:p>
            <a:pPr indent="0" marL="0">
              <a:buNone/>
            </a:pPr>
            <a:r>
              <a:rPr lang="en-US" sz="1250" b="1" dirty="0">
                <a:solidFill>
                  <a:srgbClr val="48CAE4"/>
                </a:solidFill>
              </a:rPr>
              <a:t>⚡ DIRECTED ACYCLIC GRAPH (DAG) &amp; SYSTEM PIPELINE: Supreme Mother Orchestrator — DAG Chaining &amp; Rendering Engine</a:t>
            </a:r>
            <a:endParaRPr lang="en-US" sz="1250" dirty="0"/>
          </a:p>
        </p:txBody>
      </p:sp>
      <p:sp>
        <p:nvSpPr>
          <p:cNvPr id="9" name="Shape 7"/>
          <p:cNvSpPr/>
          <p:nvPr/>
        </p:nvSpPr>
        <p:spPr>
          <a:xfrm>
            <a:off x="777240" y="1673352"/>
            <a:ext cx="1783080" cy="914400"/>
          </a:xfrm>
          <a:prstGeom prst="rect">
            <a:avLst>
              <a:gd name="adj" fmla="val 6000"/>
            </a:avLst>
          </a:prstGeom>
          <a:solidFill>
            <a:srgbClr val="48CAE4"/>
          </a:solidFill>
          <a:ln w="19050">
            <a:solidFill>
              <a:srgbClr val="FFFFFF"/>
            </a:solidFill>
            <a:prstDash val="solid"/>
          </a:ln>
        </p:spPr>
      </p:sp>
      <p:sp>
        <p:nvSpPr>
          <p:cNvPr id="10" name="Text 8"/>
          <p:cNvSpPr/>
          <p:nvPr/>
        </p:nvSpPr>
        <p:spPr>
          <a:xfrm>
            <a:off x="822960" y="1746504"/>
            <a:ext cx="1691640" cy="768096"/>
          </a:xfrm>
          <a:prstGeom prst="rect">
            <a:avLst/>
          </a:prstGeom>
          <a:noFill/>
          <a:ln/>
        </p:spPr>
        <p:txBody>
          <a:bodyPr wrap="square" rtlCol="0" anchor="ctr"/>
          <a:lstStyle/>
          <a:p>
            <a:pPr algn="ctr" indent="0" marL="0">
              <a:buNone/>
            </a:pPr>
            <a:r>
              <a:rPr lang="en-US" sz="1050" b="1" dirty="0">
                <a:solidFill>
                  <a:srgbClr val="0B132B"/>
                </a:solidFill>
              </a:rPr>
              <a:t>Natural Language</a:t>
            </a:r>
            <a:endParaRPr lang="en-US" sz="1050" dirty="0"/>
          </a:p>
          <a:p>
            <a:pPr algn="ctr" indent="0" marL="0">
              <a:buNone/>
            </a:pPr>
            <a:r>
              <a:rPr lang="en-US" sz="1050" b="1" dirty="0">
                <a:solidFill>
                  <a:srgbClr val="0B132B"/>
                </a:solidFill>
              </a:rPr>
              <a:t>Comment Parser</a:t>
            </a:r>
            <a:endParaRPr lang="en-US" sz="1050" dirty="0"/>
          </a:p>
        </p:txBody>
      </p:sp>
      <p:sp>
        <p:nvSpPr>
          <p:cNvPr id="11" name="Shape 9"/>
          <p:cNvSpPr/>
          <p:nvPr/>
        </p:nvSpPr>
        <p:spPr>
          <a:xfrm>
            <a:off x="2633472" y="1993392"/>
            <a:ext cx="356616" cy="274320"/>
          </a:xfrm>
          <a:prstGeom prst="rightArrow">
            <a:avLst/>
          </a:prstGeom>
          <a:solidFill>
            <a:srgbClr val="F59E0B"/>
          </a:solidFill>
          <a:ln w="12700">
            <a:solidFill>
              <a:srgbClr val="F59E0B"/>
            </a:solidFill>
            <a:prstDash val="solid"/>
          </a:ln>
        </p:spPr>
      </p:sp>
      <p:sp>
        <p:nvSpPr>
          <p:cNvPr id="12" name="Shape 10"/>
          <p:cNvSpPr/>
          <p:nvPr/>
        </p:nvSpPr>
        <p:spPr>
          <a:xfrm>
            <a:off x="3063240" y="1673352"/>
            <a:ext cx="1783080" cy="914400"/>
          </a:xfrm>
          <a:prstGeom prst="rect">
            <a:avLst>
              <a:gd name="adj" fmla="val 6000"/>
            </a:avLst>
          </a:prstGeom>
          <a:solidFill>
            <a:srgbClr val="1C2541"/>
          </a:solidFill>
          <a:ln w="19050">
            <a:solidFill>
              <a:srgbClr val="48CAE4"/>
            </a:solidFill>
            <a:prstDash val="solid"/>
          </a:ln>
        </p:spPr>
      </p:sp>
      <p:sp>
        <p:nvSpPr>
          <p:cNvPr id="13" name="Text 11"/>
          <p:cNvSpPr/>
          <p:nvPr/>
        </p:nvSpPr>
        <p:spPr>
          <a:xfrm>
            <a:off x="3108960" y="1746504"/>
            <a:ext cx="1691640" cy="768096"/>
          </a:xfrm>
          <a:prstGeom prst="rect">
            <a:avLst/>
          </a:prstGeom>
          <a:noFill/>
          <a:ln/>
        </p:spPr>
        <p:txBody>
          <a:bodyPr wrap="square" rtlCol="0" anchor="ctr"/>
          <a:lstStyle/>
          <a:p>
            <a:pPr algn="ctr" indent="0" marL="0">
              <a:buNone/>
            </a:pPr>
            <a:r>
              <a:rPr lang="en-US" sz="1050" b="1" dirty="0">
                <a:solidFill>
                  <a:srgbClr val="FFFFFF"/>
                </a:solidFill>
              </a:rPr>
              <a:t>Visual DAG Graph</a:t>
            </a:r>
            <a:endParaRPr lang="en-US" sz="1050" dirty="0"/>
          </a:p>
          <a:p>
            <a:pPr algn="ctr" indent="0" marL="0">
              <a:buNone/>
            </a:pPr>
            <a:r>
              <a:rPr lang="en-US" sz="1050" b="1" dirty="0">
                <a:solidFill>
                  <a:srgbClr val="FFFFFF"/>
                </a:solidFill>
              </a:rPr>
              <a:t>Chaining Engine</a:t>
            </a:r>
            <a:endParaRPr lang="en-US" sz="1050" dirty="0"/>
          </a:p>
        </p:txBody>
      </p:sp>
      <p:sp>
        <p:nvSpPr>
          <p:cNvPr id="14" name="Shape 12"/>
          <p:cNvSpPr/>
          <p:nvPr/>
        </p:nvSpPr>
        <p:spPr>
          <a:xfrm>
            <a:off x="4919472" y="1993392"/>
            <a:ext cx="356616" cy="274320"/>
          </a:xfrm>
          <a:prstGeom prst="rightArrow">
            <a:avLst/>
          </a:prstGeom>
          <a:solidFill>
            <a:srgbClr val="F59E0B"/>
          </a:solidFill>
          <a:ln w="12700">
            <a:solidFill>
              <a:srgbClr val="F59E0B"/>
            </a:solidFill>
            <a:prstDash val="solid"/>
          </a:ln>
        </p:spPr>
      </p:sp>
      <p:sp>
        <p:nvSpPr>
          <p:cNvPr id="15" name="Shape 13"/>
          <p:cNvSpPr/>
          <p:nvPr/>
        </p:nvSpPr>
        <p:spPr>
          <a:xfrm>
            <a:off x="5349240" y="1673352"/>
            <a:ext cx="1783080" cy="914400"/>
          </a:xfrm>
          <a:prstGeom prst="rect">
            <a:avLst>
              <a:gd name="adj" fmla="val 6000"/>
            </a:avLst>
          </a:prstGeom>
          <a:solidFill>
            <a:srgbClr val="1C2541"/>
          </a:solidFill>
          <a:ln w="19050">
            <a:solidFill>
              <a:srgbClr val="48CAE4"/>
            </a:solidFill>
            <a:prstDash val="solid"/>
          </a:ln>
        </p:spPr>
      </p:sp>
      <p:sp>
        <p:nvSpPr>
          <p:cNvPr id="16" name="Text 14"/>
          <p:cNvSpPr/>
          <p:nvPr/>
        </p:nvSpPr>
        <p:spPr>
          <a:xfrm>
            <a:off x="5394960" y="1746504"/>
            <a:ext cx="1691640" cy="768096"/>
          </a:xfrm>
          <a:prstGeom prst="rect">
            <a:avLst/>
          </a:prstGeom>
          <a:noFill/>
          <a:ln/>
        </p:spPr>
        <p:txBody>
          <a:bodyPr wrap="square" rtlCol="0" anchor="ctr"/>
          <a:lstStyle/>
          <a:p>
            <a:pPr algn="ctr" indent="0" marL="0">
              <a:buNone/>
            </a:pPr>
            <a:r>
              <a:rPr lang="en-US" sz="1050" b="1" dirty="0">
                <a:solidFill>
                  <a:srgbClr val="FFFFFF"/>
                </a:solidFill>
              </a:rPr>
              <a:t>Scene Splitter &amp;</a:t>
            </a:r>
            <a:endParaRPr lang="en-US" sz="1050" dirty="0"/>
          </a:p>
          <a:p>
            <a:pPr algn="ctr" indent="0" marL="0">
              <a:buNone/>
            </a:pPr>
            <a:r>
              <a:rPr lang="en-US" sz="1050" b="1" dirty="0">
                <a:solidFill>
                  <a:srgbClr val="FFFFFF"/>
                </a:solidFill>
              </a:rPr>
              <a:t>Clip Cache Cache</a:t>
            </a:r>
            <a:endParaRPr lang="en-US" sz="1050" dirty="0"/>
          </a:p>
        </p:txBody>
      </p:sp>
      <p:sp>
        <p:nvSpPr>
          <p:cNvPr id="17" name="Shape 15"/>
          <p:cNvSpPr/>
          <p:nvPr/>
        </p:nvSpPr>
        <p:spPr>
          <a:xfrm>
            <a:off x="7205472" y="1993392"/>
            <a:ext cx="356616" cy="274320"/>
          </a:xfrm>
          <a:prstGeom prst="rightArrow">
            <a:avLst/>
          </a:prstGeom>
          <a:solidFill>
            <a:srgbClr val="F59E0B"/>
          </a:solidFill>
          <a:ln w="12700">
            <a:solidFill>
              <a:srgbClr val="F59E0B"/>
            </a:solidFill>
            <a:prstDash val="solid"/>
          </a:ln>
        </p:spPr>
      </p:sp>
      <p:sp>
        <p:nvSpPr>
          <p:cNvPr id="18" name="Shape 16"/>
          <p:cNvSpPr/>
          <p:nvPr/>
        </p:nvSpPr>
        <p:spPr>
          <a:xfrm>
            <a:off x="7635240" y="1673352"/>
            <a:ext cx="1783080" cy="914400"/>
          </a:xfrm>
          <a:prstGeom prst="rect">
            <a:avLst>
              <a:gd name="adj" fmla="val 6000"/>
            </a:avLst>
          </a:prstGeom>
          <a:solidFill>
            <a:srgbClr val="1C2541"/>
          </a:solidFill>
          <a:ln w="19050">
            <a:solidFill>
              <a:srgbClr val="48CAE4"/>
            </a:solidFill>
            <a:prstDash val="solid"/>
          </a:ln>
        </p:spPr>
      </p:sp>
      <p:sp>
        <p:nvSpPr>
          <p:cNvPr id="19" name="Text 17"/>
          <p:cNvSpPr/>
          <p:nvPr/>
        </p:nvSpPr>
        <p:spPr>
          <a:xfrm>
            <a:off x="7680960" y="1746504"/>
            <a:ext cx="1691640" cy="768096"/>
          </a:xfrm>
          <a:prstGeom prst="rect">
            <a:avLst/>
          </a:prstGeom>
          <a:noFill/>
          <a:ln/>
        </p:spPr>
        <p:txBody>
          <a:bodyPr wrap="square" rtlCol="0" anchor="ctr"/>
          <a:lstStyle/>
          <a:p>
            <a:pPr algn="ctr" indent="0" marL="0">
              <a:buNone/>
            </a:pPr>
            <a:r>
              <a:rPr lang="en-US" sz="1050" b="1" dirty="0">
                <a:solidFill>
                  <a:srgbClr val="FFFFFF"/>
                </a:solidFill>
              </a:rPr>
              <a:t>Dynamic AI Model</a:t>
            </a:r>
            <a:endParaRPr lang="en-US" sz="1050" dirty="0"/>
          </a:p>
          <a:p>
            <a:pPr algn="ctr" indent="0" marL="0">
              <a:buNone/>
            </a:pPr>
            <a:r>
              <a:rPr lang="en-US" sz="1050" b="1" dirty="0">
                <a:solidFill>
                  <a:srgbClr val="FFFFFF"/>
                </a:solidFill>
              </a:rPr>
              <a:t>Parameter Tuning</a:t>
            </a:r>
            <a:endParaRPr lang="en-US" sz="1050" dirty="0"/>
          </a:p>
        </p:txBody>
      </p:sp>
      <p:sp>
        <p:nvSpPr>
          <p:cNvPr id="20" name="Shape 18"/>
          <p:cNvSpPr/>
          <p:nvPr/>
        </p:nvSpPr>
        <p:spPr>
          <a:xfrm>
            <a:off x="9491472" y="1993392"/>
            <a:ext cx="356616" cy="274320"/>
          </a:xfrm>
          <a:prstGeom prst="rightArrow">
            <a:avLst/>
          </a:prstGeom>
          <a:solidFill>
            <a:srgbClr val="F59E0B"/>
          </a:solidFill>
          <a:ln w="12700">
            <a:solidFill>
              <a:srgbClr val="F59E0B"/>
            </a:solidFill>
            <a:prstDash val="solid"/>
          </a:ln>
        </p:spPr>
      </p:sp>
      <p:sp>
        <p:nvSpPr>
          <p:cNvPr id="21" name="Shape 19"/>
          <p:cNvSpPr/>
          <p:nvPr/>
        </p:nvSpPr>
        <p:spPr>
          <a:xfrm>
            <a:off x="9921240" y="1673352"/>
            <a:ext cx="1783080" cy="914400"/>
          </a:xfrm>
          <a:prstGeom prst="rect">
            <a:avLst>
              <a:gd name="adj" fmla="val 6000"/>
            </a:avLst>
          </a:prstGeom>
          <a:solidFill>
            <a:srgbClr val="48CAE4"/>
          </a:solidFill>
          <a:ln w="19050">
            <a:solidFill>
              <a:srgbClr val="FFFFFF"/>
            </a:solidFill>
            <a:prstDash val="solid"/>
          </a:ln>
        </p:spPr>
      </p:sp>
      <p:sp>
        <p:nvSpPr>
          <p:cNvPr id="22" name="Text 20"/>
          <p:cNvSpPr/>
          <p:nvPr/>
        </p:nvSpPr>
        <p:spPr>
          <a:xfrm>
            <a:off x="9966960" y="1746504"/>
            <a:ext cx="1691640" cy="768096"/>
          </a:xfrm>
          <a:prstGeom prst="rect">
            <a:avLst/>
          </a:prstGeom>
          <a:noFill/>
          <a:ln/>
        </p:spPr>
        <p:txBody>
          <a:bodyPr wrap="square" rtlCol="0" anchor="ctr"/>
          <a:lstStyle/>
          <a:p>
            <a:pPr algn="ctr" indent="0" marL="0">
              <a:buNone/>
            </a:pPr>
            <a:r>
              <a:rPr lang="en-US" sz="1050" b="1" dirty="0">
                <a:solidFill>
                  <a:srgbClr val="0B132B"/>
                </a:solidFill>
              </a:rPr>
              <a:t>Merge Video &amp;</a:t>
            </a:r>
            <a:endParaRPr lang="en-US" sz="1050" dirty="0"/>
          </a:p>
          <a:p>
            <a:pPr algn="ctr" indent="0" marL="0">
              <a:buNone/>
            </a:pPr>
            <a:r>
              <a:rPr lang="en-US" sz="1050" b="1" dirty="0">
                <a:solidFill>
                  <a:srgbClr val="0B132B"/>
                </a:solidFill>
              </a:rPr>
              <a:t>Telegram API Sync</a:t>
            </a:r>
            <a:endParaRPr lang="en-US" sz="1050" dirty="0"/>
          </a:p>
        </p:txBody>
      </p:sp>
      <p:sp>
        <p:nvSpPr>
          <p:cNvPr id="23" name="Text 21"/>
          <p:cNvSpPr/>
          <p:nvPr/>
        </p:nvSpPr>
        <p:spPr>
          <a:xfrm>
            <a:off x="777240" y="2743200"/>
            <a:ext cx="1920240" cy="320040"/>
          </a:xfrm>
          <a:prstGeom prst="rect">
            <a:avLst/>
          </a:prstGeom>
          <a:noFill/>
          <a:ln/>
        </p:spPr>
        <p:txBody>
          <a:bodyPr wrap="square" rtlCol="0" anchor="ctr"/>
          <a:lstStyle/>
          <a:p>
            <a:pPr indent="0" marL="0">
              <a:buNone/>
            </a:pPr>
            <a:r>
              <a:rPr lang="en-US" sz="1050" b="1" dirty="0">
                <a:solidFill>
                  <a:srgbClr val="94A3B8"/>
                </a:solidFill>
              </a:rPr>
              <a:t>Core Engine Protocols:</a:t>
            </a:r>
            <a:endParaRPr lang="en-US" sz="1050" dirty="0"/>
          </a:p>
        </p:txBody>
      </p:sp>
      <p:sp>
        <p:nvSpPr>
          <p:cNvPr id="24" name="Shape 22"/>
          <p:cNvSpPr/>
          <p:nvPr/>
        </p:nvSpPr>
        <p:spPr>
          <a:xfrm>
            <a:off x="2697480" y="2770632"/>
            <a:ext cx="1472184" cy="274320"/>
          </a:xfrm>
          <a:prstGeom prst="rect">
            <a:avLst>
              <a:gd name="adj" fmla="val 13333"/>
            </a:avLst>
          </a:prstGeom>
          <a:solidFill>
            <a:srgbClr val="1C2541"/>
          </a:solidFill>
          <a:ln w="12700">
            <a:solidFill>
              <a:srgbClr val="10B981"/>
            </a:solidFill>
            <a:prstDash val="solid"/>
          </a:ln>
        </p:spPr>
      </p:sp>
      <p:sp>
        <p:nvSpPr>
          <p:cNvPr id="25" name="Text 23"/>
          <p:cNvSpPr/>
          <p:nvPr/>
        </p:nvSpPr>
        <p:spPr>
          <a:xfrm>
            <a:off x="2697480" y="2770632"/>
            <a:ext cx="1472184" cy="274320"/>
          </a:xfrm>
          <a:prstGeom prst="rect">
            <a:avLst/>
          </a:prstGeom>
          <a:noFill/>
          <a:ln/>
        </p:spPr>
        <p:txBody>
          <a:bodyPr wrap="square" rtlCol="0" anchor="ctr"/>
          <a:lstStyle/>
          <a:p>
            <a:pPr algn="ctr" indent="0" marL="0">
              <a:buNone/>
            </a:pPr>
            <a:r>
              <a:rPr lang="en-US" sz="950" b="1" dirty="0">
                <a:solidFill>
                  <a:srgbClr val="10B981"/>
                </a:solidFill>
              </a:rPr>
              <a:t>Python 3.11</a:t>
            </a:r>
            <a:endParaRPr lang="en-US" sz="950" dirty="0"/>
          </a:p>
        </p:txBody>
      </p:sp>
      <p:sp>
        <p:nvSpPr>
          <p:cNvPr id="26" name="Shape 24"/>
          <p:cNvSpPr/>
          <p:nvPr/>
        </p:nvSpPr>
        <p:spPr>
          <a:xfrm>
            <a:off x="4306824" y="2770632"/>
            <a:ext cx="1874520" cy="274320"/>
          </a:xfrm>
          <a:prstGeom prst="rect">
            <a:avLst>
              <a:gd name="adj" fmla="val 13333"/>
            </a:avLst>
          </a:prstGeom>
          <a:solidFill>
            <a:srgbClr val="1C2541"/>
          </a:solidFill>
          <a:ln w="12700">
            <a:solidFill>
              <a:srgbClr val="10B981"/>
            </a:solidFill>
            <a:prstDash val="solid"/>
          </a:ln>
        </p:spPr>
      </p:sp>
      <p:sp>
        <p:nvSpPr>
          <p:cNvPr id="27" name="Text 25"/>
          <p:cNvSpPr/>
          <p:nvPr/>
        </p:nvSpPr>
        <p:spPr>
          <a:xfrm>
            <a:off x="4306824" y="2770632"/>
            <a:ext cx="1874520" cy="274320"/>
          </a:xfrm>
          <a:prstGeom prst="rect">
            <a:avLst/>
          </a:prstGeom>
          <a:noFill/>
          <a:ln/>
        </p:spPr>
        <p:txBody>
          <a:bodyPr wrap="square" rtlCol="0" anchor="ctr"/>
          <a:lstStyle/>
          <a:p>
            <a:pPr algn="ctr" indent="0" marL="0">
              <a:buNone/>
            </a:pPr>
            <a:r>
              <a:rPr lang="en-US" sz="950" b="1" dirty="0">
                <a:solidFill>
                  <a:srgbClr val="10B981"/>
                </a:solidFill>
              </a:rPr>
              <a:t>FastAPI Backend</a:t>
            </a:r>
            <a:endParaRPr lang="en-US" sz="950" dirty="0"/>
          </a:p>
        </p:txBody>
      </p:sp>
      <p:sp>
        <p:nvSpPr>
          <p:cNvPr id="28" name="Shape 26"/>
          <p:cNvSpPr/>
          <p:nvPr/>
        </p:nvSpPr>
        <p:spPr>
          <a:xfrm>
            <a:off x="6318504" y="2770632"/>
            <a:ext cx="2176272" cy="274320"/>
          </a:xfrm>
          <a:prstGeom prst="rect">
            <a:avLst>
              <a:gd name="adj" fmla="val 13333"/>
            </a:avLst>
          </a:prstGeom>
          <a:solidFill>
            <a:srgbClr val="1C2541"/>
          </a:solidFill>
          <a:ln w="12700">
            <a:solidFill>
              <a:srgbClr val="10B981"/>
            </a:solidFill>
            <a:prstDash val="solid"/>
          </a:ln>
        </p:spPr>
      </p:sp>
      <p:sp>
        <p:nvSpPr>
          <p:cNvPr id="29" name="Text 27"/>
          <p:cNvSpPr/>
          <p:nvPr/>
        </p:nvSpPr>
        <p:spPr>
          <a:xfrm>
            <a:off x="6318504" y="2770632"/>
            <a:ext cx="2176272" cy="274320"/>
          </a:xfrm>
          <a:prstGeom prst="rect">
            <a:avLst/>
          </a:prstGeom>
          <a:noFill/>
          <a:ln/>
        </p:spPr>
        <p:txBody>
          <a:bodyPr wrap="square" rtlCol="0" anchor="ctr"/>
          <a:lstStyle/>
          <a:p>
            <a:pPr algn="ctr" indent="0" marL="0">
              <a:buNone/>
            </a:pPr>
            <a:r>
              <a:rPr lang="en-US" sz="950" b="1" dirty="0">
                <a:solidFill>
                  <a:srgbClr val="10B981"/>
                </a:solidFill>
              </a:rPr>
              <a:t>Visual Node Canvas</a:t>
            </a:r>
            <a:endParaRPr lang="en-US" sz="950" dirty="0"/>
          </a:p>
        </p:txBody>
      </p:sp>
      <p:sp>
        <p:nvSpPr>
          <p:cNvPr id="30" name="Shape 28"/>
          <p:cNvSpPr/>
          <p:nvPr/>
        </p:nvSpPr>
        <p:spPr>
          <a:xfrm>
            <a:off x="8631936" y="2770632"/>
            <a:ext cx="2377440" cy="274320"/>
          </a:xfrm>
          <a:prstGeom prst="rect">
            <a:avLst>
              <a:gd name="adj" fmla="val 13333"/>
            </a:avLst>
          </a:prstGeom>
          <a:solidFill>
            <a:srgbClr val="1C2541"/>
          </a:solidFill>
          <a:ln w="12700">
            <a:solidFill>
              <a:srgbClr val="10B981"/>
            </a:solidFill>
            <a:prstDash val="solid"/>
          </a:ln>
        </p:spPr>
      </p:sp>
      <p:sp>
        <p:nvSpPr>
          <p:cNvPr id="31" name="Text 29"/>
          <p:cNvSpPr/>
          <p:nvPr/>
        </p:nvSpPr>
        <p:spPr>
          <a:xfrm>
            <a:off x="8631936" y="2770632"/>
            <a:ext cx="2377440" cy="274320"/>
          </a:xfrm>
          <a:prstGeom prst="rect">
            <a:avLst/>
          </a:prstGeom>
          <a:noFill/>
          <a:ln/>
        </p:spPr>
        <p:txBody>
          <a:bodyPr wrap="square" rtlCol="0" anchor="ctr"/>
          <a:lstStyle/>
          <a:p>
            <a:pPr algn="ctr" indent="0" marL="0">
              <a:buNone/>
            </a:pPr>
            <a:r>
              <a:rPr lang="en-US" sz="950" b="1" dirty="0">
                <a:solidFill>
                  <a:srgbClr val="10B981"/>
                </a:solidFill>
              </a:rPr>
              <a:t>Async Cluster Render</a:t>
            </a:r>
            <a:endParaRPr lang="en-US" sz="950" dirty="0"/>
          </a:p>
        </p:txBody>
      </p:sp>
      <p:sp>
        <p:nvSpPr>
          <p:cNvPr id="32" name="Shape 30"/>
          <p:cNvSpPr/>
          <p:nvPr/>
        </p:nvSpPr>
        <p:spPr>
          <a:xfrm>
            <a:off x="11146536" y="2770632"/>
            <a:ext cx="2377440" cy="274320"/>
          </a:xfrm>
          <a:prstGeom prst="rect">
            <a:avLst>
              <a:gd name="adj" fmla="val 13333"/>
            </a:avLst>
          </a:prstGeom>
          <a:solidFill>
            <a:srgbClr val="1C2541"/>
          </a:solidFill>
          <a:ln w="12700">
            <a:solidFill>
              <a:srgbClr val="10B981"/>
            </a:solidFill>
            <a:prstDash val="solid"/>
          </a:ln>
        </p:spPr>
      </p:sp>
      <p:sp>
        <p:nvSpPr>
          <p:cNvPr id="33" name="Text 31"/>
          <p:cNvSpPr/>
          <p:nvPr/>
        </p:nvSpPr>
        <p:spPr>
          <a:xfrm>
            <a:off x="11146536" y="2770632"/>
            <a:ext cx="2377440" cy="274320"/>
          </a:xfrm>
          <a:prstGeom prst="rect">
            <a:avLst/>
          </a:prstGeom>
          <a:noFill/>
          <a:ln/>
        </p:spPr>
        <p:txBody>
          <a:bodyPr wrap="square" rtlCol="0" anchor="ctr"/>
          <a:lstStyle/>
          <a:p>
            <a:pPr algn="ctr" indent="0" marL="0">
              <a:buNone/>
            </a:pPr>
            <a:r>
              <a:rPr lang="en-US" sz="950" b="1" dirty="0">
                <a:solidFill>
                  <a:srgbClr val="10B981"/>
                </a:solidFill>
              </a:rPr>
              <a:t>Telegram Alert Hooks</a:t>
            </a:r>
            <a:endParaRPr lang="en-US" sz="950" dirty="0"/>
          </a:p>
        </p:txBody>
      </p:sp>
      <p:sp>
        <p:nvSpPr>
          <p:cNvPr id="34" name="Shape 32"/>
          <p:cNvSpPr/>
          <p:nvPr/>
        </p:nvSpPr>
        <p:spPr>
          <a:xfrm>
            <a:off x="13661136" y="2770632"/>
            <a:ext cx="1975104" cy="274320"/>
          </a:xfrm>
          <a:prstGeom prst="rect">
            <a:avLst>
              <a:gd name="adj" fmla="val 13333"/>
            </a:avLst>
          </a:prstGeom>
          <a:solidFill>
            <a:srgbClr val="1C2541"/>
          </a:solidFill>
          <a:ln w="12700">
            <a:solidFill>
              <a:srgbClr val="10B981"/>
            </a:solidFill>
            <a:prstDash val="solid"/>
          </a:ln>
        </p:spPr>
      </p:sp>
      <p:sp>
        <p:nvSpPr>
          <p:cNvPr id="35" name="Text 33"/>
          <p:cNvSpPr/>
          <p:nvPr/>
        </p:nvSpPr>
        <p:spPr>
          <a:xfrm>
            <a:off x="13661136" y="2770632"/>
            <a:ext cx="1975104" cy="274320"/>
          </a:xfrm>
          <a:prstGeom prst="rect">
            <a:avLst/>
          </a:prstGeom>
          <a:noFill/>
          <a:ln/>
        </p:spPr>
        <p:txBody>
          <a:bodyPr wrap="square" rtlCol="0" anchor="ctr"/>
          <a:lstStyle/>
          <a:p>
            <a:pPr algn="ctr" indent="0" marL="0">
              <a:buNone/>
            </a:pPr>
            <a:r>
              <a:rPr lang="en-US" sz="950" b="1" dirty="0">
                <a:solidFill>
                  <a:srgbClr val="10B981"/>
                </a:solidFill>
              </a:rPr>
              <a:t>Model Tuning API</a:t>
            </a:r>
            <a:endParaRPr lang="en-US" sz="950" dirty="0"/>
          </a:p>
        </p:txBody>
      </p:sp>
      <p:sp>
        <p:nvSpPr>
          <p:cNvPr id="36" name="Shape 34"/>
          <p:cNvSpPr/>
          <p:nvPr/>
        </p:nvSpPr>
        <p:spPr>
          <a:xfrm>
            <a:off x="457200" y="3337560"/>
            <a:ext cx="3666744" cy="3108960"/>
          </a:xfrm>
          <a:prstGeom prst="rect">
            <a:avLst>
              <a:gd name="adj" fmla="val 2353"/>
            </a:avLst>
          </a:prstGeom>
          <a:solidFill>
            <a:srgbClr val="1C2541"/>
          </a:solidFill>
          <a:ln w="19050">
            <a:solidFill>
              <a:srgbClr val="48CAE4"/>
            </a:solidFill>
            <a:prstDash val="solid"/>
          </a:ln>
        </p:spPr>
      </p:sp>
      <p:sp>
        <p:nvSpPr>
          <p:cNvPr id="37" name="Text 35"/>
          <p:cNvSpPr/>
          <p:nvPr/>
        </p:nvSpPr>
        <p:spPr>
          <a:xfrm>
            <a:off x="566928" y="3410712"/>
            <a:ext cx="3447288" cy="274320"/>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38" name="Text 36"/>
          <p:cNvSpPr/>
          <p:nvPr/>
        </p:nvSpPr>
        <p:spPr>
          <a:xfrm>
            <a:off x="566928"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Proprietary node-based visual workflow orchestrator built to model, chain, and execute complex generative AI pipelines.</a:t>
            </a:r>
            <a:endParaRPr lang="en-US" sz="950" dirty="0"/>
          </a:p>
          <a:p>
            <a:r>
              <a:rPr lang="en-US" sz="950" dirty="0">
                <a:solidFill>
                  <a:srgbClr val="FFFFFF"/>
                </a:solidFill>
                <a:latin typeface="Segoe UI" pitchFamily="34" charset="0"/>
                <a:ea typeface="Segoe UI" pitchFamily="34" charset="-122"/>
                <a:cs typeface="Segoe UI" pitchFamily="34" charset="-120"/>
              </a:rPr>
              <a:t>Enables users to visually connect modular nodes for multi-stage video generation, image synthesis, and scene splitting.</a:t>
            </a:r>
            <a:endParaRPr lang="en-US" sz="950" dirty="0"/>
          </a:p>
          <a:p>
            <a:r>
              <a:rPr lang="en-US" sz="950" dirty="0">
                <a:solidFill>
                  <a:srgbClr val="FFFFFF"/>
                </a:solidFill>
                <a:latin typeface="Segoe UI" pitchFamily="34" charset="0"/>
                <a:ea typeface="Segoe UI" pitchFamily="34" charset="-122"/>
                <a:cs typeface="Segoe UI" pitchFamily="34" charset="-120"/>
              </a:rPr>
              <a:t>Engineered with a visual graph editor that executes tasks asynchronously across backend rendering clusters.</a:t>
            </a:r>
            <a:endParaRPr lang="en-US" sz="950" dirty="0"/>
          </a:p>
        </p:txBody>
      </p:sp>
      <p:sp>
        <p:nvSpPr>
          <p:cNvPr id="39" name="Shape 37"/>
          <p:cNvSpPr/>
          <p:nvPr/>
        </p:nvSpPr>
        <p:spPr>
          <a:xfrm>
            <a:off x="4261104" y="3337560"/>
            <a:ext cx="3666744" cy="3108960"/>
          </a:xfrm>
          <a:prstGeom prst="rect">
            <a:avLst>
              <a:gd name="adj" fmla="val 2353"/>
            </a:avLst>
          </a:prstGeom>
          <a:solidFill>
            <a:srgbClr val="1C2541"/>
          </a:solidFill>
          <a:ln w="19050">
            <a:solidFill>
              <a:srgbClr val="F59E0B"/>
            </a:solidFill>
            <a:prstDash val="solid"/>
          </a:ln>
        </p:spPr>
      </p:sp>
      <p:sp>
        <p:nvSpPr>
          <p:cNvPr id="40" name="Text 38"/>
          <p:cNvSpPr/>
          <p:nvPr/>
        </p:nvSpPr>
        <p:spPr>
          <a:xfrm>
            <a:off x="4370832" y="3410712"/>
            <a:ext cx="3447288" cy="274320"/>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41" name="Text 39"/>
          <p:cNvSpPr/>
          <p:nvPr/>
        </p:nvSpPr>
        <p:spPr>
          <a:xfrm>
            <a:off x="4370832"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Custom Model Generation: Dynamically generates and tunes new AI model parameters based on natural language comments ('automatically generating new models based on custom user prompts').</a:t>
            </a:r>
            <a:endParaRPr lang="en-US" sz="950" dirty="0"/>
          </a:p>
          <a:p>
            <a:r>
              <a:rPr lang="en-US" sz="950" dirty="0">
                <a:solidFill>
                  <a:srgbClr val="FFFFFF"/>
                </a:solidFill>
                <a:latin typeface="Segoe UI" pitchFamily="34" charset="0"/>
                <a:ea typeface="Segoe UI" pitchFamily="34" charset="-122"/>
                <a:cs typeface="Segoe UI" pitchFamily="34" charset="-120"/>
              </a:rPr>
              <a:t>Node Execution Chain: Init Clip Cache -&gt; Supreme Mother Orchestrator -&gt; Extract Data -&gt; Split Scenes -&gt; Generate Image/Motion -&gt; Check Style -&gt; Loop Over Scenes -&gt; Merge -&gt; Video Upload.</a:t>
            </a:r>
            <a:endParaRPr lang="en-US" sz="950" dirty="0"/>
          </a:p>
          <a:p>
            <a:r>
              <a:rPr lang="en-US" sz="950" dirty="0">
                <a:solidFill>
                  <a:srgbClr val="FFFFFF"/>
                </a:solidFill>
                <a:latin typeface="Segoe UI" pitchFamily="34" charset="0"/>
                <a:ea typeface="Segoe UI" pitchFamily="34" charset="-122"/>
                <a:cs typeface="Segoe UI" pitchFamily="34" charset="-120"/>
              </a:rPr>
              <a:t>Tech Stack: Python, FastAPI backend, RESTful LLM/Image APIs, Telegram Message alert hooks, and custom node canvas.</a:t>
            </a:r>
            <a:endParaRPr lang="en-US" sz="950" dirty="0"/>
          </a:p>
        </p:txBody>
      </p:sp>
      <p:sp>
        <p:nvSpPr>
          <p:cNvPr id="42" name="Shape 40"/>
          <p:cNvSpPr/>
          <p:nvPr/>
        </p:nvSpPr>
        <p:spPr>
          <a:xfrm>
            <a:off x="8065008" y="3337560"/>
            <a:ext cx="3666744" cy="3108960"/>
          </a:xfrm>
          <a:prstGeom prst="rect">
            <a:avLst>
              <a:gd name="adj" fmla="val 2353"/>
            </a:avLst>
          </a:prstGeom>
          <a:solidFill>
            <a:srgbClr val="1C2541"/>
          </a:solidFill>
          <a:ln w="19050">
            <a:solidFill>
              <a:srgbClr val="10B981"/>
            </a:solidFill>
            <a:prstDash val="solid"/>
          </a:ln>
        </p:spPr>
      </p:sp>
      <p:sp>
        <p:nvSpPr>
          <p:cNvPr id="43" name="Text 41"/>
          <p:cNvSpPr/>
          <p:nvPr/>
        </p:nvSpPr>
        <p:spPr>
          <a:xfrm>
            <a:off x="8174736" y="3410712"/>
            <a:ext cx="3447288" cy="274320"/>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MEASURABLE R&amp;D IMPACT</a:t>
            </a:r>
            <a:endParaRPr lang="en-US" sz="1250" dirty="0"/>
          </a:p>
        </p:txBody>
      </p:sp>
      <p:sp>
        <p:nvSpPr>
          <p:cNvPr id="44" name="Text 42"/>
          <p:cNvSpPr/>
          <p:nvPr/>
        </p:nvSpPr>
        <p:spPr>
          <a:xfrm>
            <a:off x="8174736"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Eliminated manual script-to-video rendering bottlenecks by automating scene extraction and clip merging completely.</a:t>
            </a:r>
            <a:endParaRPr lang="en-US" sz="950" dirty="0"/>
          </a:p>
          <a:p>
            <a:r>
              <a:rPr lang="en-US" sz="950" dirty="0">
                <a:solidFill>
                  <a:srgbClr val="FFFFFF"/>
                </a:solidFill>
                <a:latin typeface="Segoe UI" pitchFamily="34" charset="0"/>
                <a:ea typeface="Segoe UI" pitchFamily="34" charset="-122"/>
                <a:cs typeface="Segoe UI" pitchFamily="34" charset="-120"/>
              </a:rPr>
              <a:t>Demonstrates elite-level engineering capabilities in AI system architecture, graph theory execution, and API pipeline design.</a:t>
            </a:r>
            <a:endParaRPr lang="en-US" sz="950" dirty="0"/>
          </a:p>
          <a:p>
            <a:r>
              <a:rPr lang="en-US" sz="950" dirty="0">
                <a:solidFill>
                  <a:srgbClr val="FFFFFF"/>
                </a:solidFill>
                <a:latin typeface="Segoe UI" pitchFamily="34" charset="0"/>
                <a:ea typeface="Segoe UI" pitchFamily="34" charset="-122"/>
                <a:cs typeface="Segoe UI" pitchFamily="34" charset="-120"/>
              </a:rPr>
              <a:t>Currently undergoing continuous R&amp;D expansion to support advanced generative video models.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PRIVATE REPOSITORY • AUTONOMOUS AI PIPELINE</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AI AUTOMATION YOUTUBE ENGINE</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24/7 autonomous content synthesis: LLM Prompt -&gt; Audio TTS -&gt; FFmpeg Video Engine -&gt; YouTube API v3.</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11274552" cy="2011680"/>
          </a:xfrm>
          <a:prstGeom prst="rect">
            <a:avLst>
              <a:gd name="adj" fmla="val 3636"/>
            </a:avLst>
          </a:prstGeom>
          <a:solidFill>
            <a:srgbClr val="0F172A"/>
          </a:solidFill>
          <a:ln w="25400">
            <a:solidFill>
              <a:srgbClr val="A855F7"/>
            </a:solidFill>
            <a:prstDash val="solid"/>
          </a:ln>
        </p:spPr>
      </p:sp>
      <p:sp>
        <p:nvSpPr>
          <p:cNvPr id="8" name="Text 6"/>
          <p:cNvSpPr/>
          <p:nvPr/>
        </p:nvSpPr>
        <p:spPr>
          <a:xfrm>
            <a:off x="640080" y="1307592"/>
            <a:ext cx="10908792" cy="292608"/>
          </a:xfrm>
          <a:prstGeom prst="rect">
            <a:avLst/>
          </a:prstGeom>
          <a:noFill/>
          <a:ln/>
        </p:spPr>
        <p:txBody>
          <a:bodyPr wrap="square" rtlCol="0" anchor="ctr"/>
          <a:lstStyle/>
          <a:p>
            <a:pPr indent="0" marL="0">
              <a:buNone/>
            </a:pPr>
            <a:r>
              <a:rPr lang="en-US" sz="1250" b="1" dirty="0">
                <a:solidFill>
                  <a:srgbClr val="48CAE4"/>
                </a:solidFill>
              </a:rPr>
              <a:t>⚡ DIRECTED ACYCLIC GRAPH (DAG) &amp; SYSTEM PIPELINE: Autonomous YouTube Media Generation &amp; Publishing Pipeline</a:t>
            </a:r>
            <a:endParaRPr lang="en-US" sz="1250" dirty="0"/>
          </a:p>
        </p:txBody>
      </p:sp>
      <p:sp>
        <p:nvSpPr>
          <p:cNvPr id="9" name="Shape 7"/>
          <p:cNvSpPr/>
          <p:nvPr/>
        </p:nvSpPr>
        <p:spPr>
          <a:xfrm>
            <a:off x="777240" y="1673352"/>
            <a:ext cx="1783080" cy="914400"/>
          </a:xfrm>
          <a:prstGeom prst="rect">
            <a:avLst>
              <a:gd name="adj" fmla="val 6000"/>
            </a:avLst>
          </a:prstGeom>
          <a:solidFill>
            <a:srgbClr val="48CAE4"/>
          </a:solidFill>
          <a:ln w="19050">
            <a:solidFill>
              <a:srgbClr val="FFFFFF"/>
            </a:solidFill>
            <a:prstDash val="solid"/>
          </a:ln>
        </p:spPr>
      </p:sp>
      <p:sp>
        <p:nvSpPr>
          <p:cNvPr id="10" name="Text 8"/>
          <p:cNvSpPr/>
          <p:nvPr/>
        </p:nvSpPr>
        <p:spPr>
          <a:xfrm>
            <a:off x="822960" y="1746504"/>
            <a:ext cx="1691640" cy="768096"/>
          </a:xfrm>
          <a:prstGeom prst="rect">
            <a:avLst/>
          </a:prstGeom>
          <a:noFill/>
          <a:ln/>
        </p:spPr>
        <p:txBody>
          <a:bodyPr wrap="square" rtlCol="0" anchor="ctr"/>
          <a:lstStyle/>
          <a:p>
            <a:pPr algn="ctr" indent="0" marL="0">
              <a:buNone/>
            </a:pPr>
            <a:r>
              <a:rPr lang="en-US" sz="1050" b="1" dirty="0">
                <a:solidFill>
                  <a:srgbClr val="0B132B"/>
                </a:solidFill>
              </a:rPr>
              <a:t>LLM Prompt &amp; Script</a:t>
            </a:r>
            <a:endParaRPr lang="en-US" sz="1050" dirty="0"/>
          </a:p>
          <a:p>
            <a:pPr algn="ctr" indent="0" marL="0">
              <a:buNone/>
            </a:pPr>
            <a:r>
              <a:rPr lang="en-US" sz="1050" b="1" dirty="0">
                <a:solidFill>
                  <a:srgbClr val="0B132B"/>
                </a:solidFill>
              </a:rPr>
              <a:t>Synthesis Engine</a:t>
            </a:r>
            <a:endParaRPr lang="en-US" sz="1050" dirty="0"/>
          </a:p>
        </p:txBody>
      </p:sp>
      <p:sp>
        <p:nvSpPr>
          <p:cNvPr id="11" name="Shape 9"/>
          <p:cNvSpPr/>
          <p:nvPr/>
        </p:nvSpPr>
        <p:spPr>
          <a:xfrm>
            <a:off x="2633472" y="1993392"/>
            <a:ext cx="356616" cy="274320"/>
          </a:xfrm>
          <a:prstGeom prst="rightArrow">
            <a:avLst/>
          </a:prstGeom>
          <a:solidFill>
            <a:srgbClr val="F59E0B"/>
          </a:solidFill>
          <a:ln w="12700">
            <a:solidFill>
              <a:srgbClr val="F59E0B"/>
            </a:solidFill>
            <a:prstDash val="solid"/>
          </a:ln>
        </p:spPr>
      </p:sp>
      <p:sp>
        <p:nvSpPr>
          <p:cNvPr id="12" name="Shape 10"/>
          <p:cNvSpPr/>
          <p:nvPr/>
        </p:nvSpPr>
        <p:spPr>
          <a:xfrm>
            <a:off x="3063240" y="1673352"/>
            <a:ext cx="1783080" cy="914400"/>
          </a:xfrm>
          <a:prstGeom prst="rect">
            <a:avLst>
              <a:gd name="adj" fmla="val 6000"/>
            </a:avLst>
          </a:prstGeom>
          <a:solidFill>
            <a:srgbClr val="1C2541"/>
          </a:solidFill>
          <a:ln w="19050">
            <a:solidFill>
              <a:srgbClr val="48CAE4"/>
            </a:solidFill>
            <a:prstDash val="solid"/>
          </a:ln>
        </p:spPr>
      </p:sp>
      <p:sp>
        <p:nvSpPr>
          <p:cNvPr id="13" name="Text 11"/>
          <p:cNvSpPr/>
          <p:nvPr/>
        </p:nvSpPr>
        <p:spPr>
          <a:xfrm>
            <a:off x="3108960" y="1746504"/>
            <a:ext cx="1691640" cy="768096"/>
          </a:xfrm>
          <a:prstGeom prst="rect">
            <a:avLst/>
          </a:prstGeom>
          <a:noFill/>
          <a:ln/>
        </p:spPr>
        <p:txBody>
          <a:bodyPr wrap="square" rtlCol="0" anchor="ctr"/>
          <a:lstStyle/>
          <a:p>
            <a:pPr algn="ctr" indent="0" marL="0">
              <a:buNone/>
            </a:pPr>
            <a:r>
              <a:rPr lang="en-US" sz="1050" b="1" dirty="0">
                <a:solidFill>
                  <a:srgbClr val="FFFFFF"/>
                </a:solidFill>
              </a:rPr>
              <a:t>Audio TTS High-Fidelity</a:t>
            </a:r>
            <a:endParaRPr lang="en-US" sz="1050" dirty="0"/>
          </a:p>
          <a:p>
            <a:pPr algn="ctr" indent="0" marL="0">
              <a:buNone/>
            </a:pPr>
            <a:r>
              <a:rPr lang="en-US" sz="1050" b="1" dirty="0">
                <a:solidFill>
                  <a:srgbClr val="FFFFFF"/>
                </a:solidFill>
              </a:rPr>
              <a:t>Speech Generation</a:t>
            </a:r>
            <a:endParaRPr lang="en-US" sz="1050" dirty="0"/>
          </a:p>
        </p:txBody>
      </p:sp>
      <p:sp>
        <p:nvSpPr>
          <p:cNvPr id="14" name="Shape 12"/>
          <p:cNvSpPr/>
          <p:nvPr/>
        </p:nvSpPr>
        <p:spPr>
          <a:xfrm>
            <a:off x="4919472" y="1993392"/>
            <a:ext cx="356616" cy="274320"/>
          </a:xfrm>
          <a:prstGeom prst="rightArrow">
            <a:avLst/>
          </a:prstGeom>
          <a:solidFill>
            <a:srgbClr val="F59E0B"/>
          </a:solidFill>
          <a:ln w="12700">
            <a:solidFill>
              <a:srgbClr val="F59E0B"/>
            </a:solidFill>
            <a:prstDash val="solid"/>
          </a:ln>
        </p:spPr>
      </p:sp>
      <p:sp>
        <p:nvSpPr>
          <p:cNvPr id="15" name="Shape 13"/>
          <p:cNvSpPr/>
          <p:nvPr/>
        </p:nvSpPr>
        <p:spPr>
          <a:xfrm>
            <a:off x="5349240" y="1673352"/>
            <a:ext cx="1783080" cy="914400"/>
          </a:xfrm>
          <a:prstGeom prst="rect">
            <a:avLst>
              <a:gd name="adj" fmla="val 6000"/>
            </a:avLst>
          </a:prstGeom>
          <a:solidFill>
            <a:srgbClr val="1C2541"/>
          </a:solidFill>
          <a:ln w="19050">
            <a:solidFill>
              <a:srgbClr val="48CAE4"/>
            </a:solidFill>
            <a:prstDash val="solid"/>
          </a:ln>
        </p:spPr>
      </p:sp>
      <p:sp>
        <p:nvSpPr>
          <p:cNvPr id="16" name="Text 14"/>
          <p:cNvSpPr/>
          <p:nvPr/>
        </p:nvSpPr>
        <p:spPr>
          <a:xfrm>
            <a:off x="5394960" y="1746504"/>
            <a:ext cx="1691640" cy="768096"/>
          </a:xfrm>
          <a:prstGeom prst="rect">
            <a:avLst/>
          </a:prstGeom>
          <a:noFill/>
          <a:ln/>
        </p:spPr>
        <p:txBody>
          <a:bodyPr wrap="square" rtlCol="0" anchor="ctr"/>
          <a:lstStyle/>
          <a:p>
            <a:pPr algn="ctr" indent="0" marL="0">
              <a:buNone/>
            </a:pPr>
            <a:r>
              <a:rPr lang="en-US" sz="1050" b="1" dirty="0">
                <a:solidFill>
                  <a:srgbClr val="FFFFFF"/>
                </a:solidFill>
              </a:rPr>
              <a:t>Python FFmpeg Video</a:t>
            </a:r>
            <a:endParaRPr lang="en-US" sz="1050" dirty="0"/>
          </a:p>
          <a:p>
            <a:pPr algn="ctr" indent="0" marL="0">
              <a:buNone/>
            </a:pPr>
            <a:r>
              <a:rPr lang="en-US" sz="1050" b="1" dirty="0">
                <a:solidFill>
                  <a:srgbClr val="FFFFFF"/>
                </a:solidFill>
              </a:rPr>
              <a:t>&amp; Visual Clip Align</a:t>
            </a:r>
            <a:endParaRPr lang="en-US" sz="1050" dirty="0"/>
          </a:p>
        </p:txBody>
      </p:sp>
      <p:sp>
        <p:nvSpPr>
          <p:cNvPr id="17" name="Shape 15"/>
          <p:cNvSpPr/>
          <p:nvPr/>
        </p:nvSpPr>
        <p:spPr>
          <a:xfrm>
            <a:off x="7205472" y="1993392"/>
            <a:ext cx="356616" cy="274320"/>
          </a:xfrm>
          <a:prstGeom prst="rightArrow">
            <a:avLst/>
          </a:prstGeom>
          <a:solidFill>
            <a:srgbClr val="F59E0B"/>
          </a:solidFill>
          <a:ln w="12700">
            <a:solidFill>
              <a:srgbClr val="F59E0B"/>
            </a:solidFill>
            <a:prstDash val="solid"/>
          </a:ln>
        </p:spPr>
      </p:sp>
      <p:sp>
        <p:nvSpPr>
          <p:cNvPr id="18" name="Shape 16"/>
          <p:cNvSpPr/>
          <p:nvPr/>
        </p:nvSpPr>
        <p:spPr>
          <a:xfrm>
            <a:off x="7635240" y="1673352"/>
            <a:ext cx="1783080" cy="914400"/>
          </a:xfrm>
          <a:prstGeom prst="rect">
            <a:avLst>
              <a:gd name="adj" fmla="val 6000"/>
            </a:avLst>
          </a:prstGeom>
          <a:solidFill>
            <a:srgbClr val="1C2541"/>
          </a:solidFill>
          <a:ln w="19050">
            <a:solidFill>
              <a:srgbClr val="48CAE4"/>
            </a:solidFill>
            <a:prstDash val="solid"/>
          </a:ln>
        </p:spPr>
      </p:sp>
      <p:sp>
        <p:nvSpPr>
          <p:cNvPr id="19" name="Text 17"/>
          <p:cNvSpPr/>
          <p:nvPr/>
        </p:nvSpPr>
        <p:spPr>
          <a:xfrm>
            <a:off x="7680960" y="1746504"/>
            <a:ext cx="1691640" cy="768096"/>
          </a:xfrm>
          <a:prstGeom prst="rect">
            <a:avLst/>
          </a:prstGeom>
          <a:noFill/>
          <a:ln/>
        </p:spPr>
        <p:txBody>
          <a:bodyPr wrap="square" rtlCol="0" anchor="ctr"/>
          <a:lstStyle/>
          <a:p>
            <a:pPr algn="ctr" indent="0" marL="0">
              <a:buNone/>
            </a:pPr>
            <a:r>
              <a:rPr lang="en-US" sz="1050" b="1" dirty="0">
                <a:solidFill>
                  <a:srgbClr val="FFFFFF"/>
                </a:solidFill>
              </a:rPr>
              <a:t>SEO Metadata &amp;</a:t>
            </a:r>
            <a:endParaRPr lang="en-US" sz="1050" dirty="0"/>
          </a:p>
          <a:p>
            <a:pPr algn="ctr" indent="0" marL="0">
              <a:buNone/>
            </a:pPr>
            <a:r>
              <a:rPr lang="en-US" sz="1050" b="1" dirty="0">
                <a:solidFill>
                  <a:srgbClr val="FFFFFF"/>
                </a:solidFill>
              </a:rPr>
              <a:t>Thumbnail Injection</a:t>
            </a:r>
            <a:endParaRPr lang="en-US" sz="1050" dirty="0"/>
          </a:p>
        </p:txBody>
      </p:sp>
      <p:sp>
        <p:nvSpPr>
          <p:cNvPr id="20" name="Shape 18"/>
          <p:cNvSpPr/>
          <p:nvPr/>
        </p:nvSpPr>
        <p:spPr>
          <a:xfrm>
            <a:off x="9491472" y="1993392"/>
            <a:ext cx="356616" cy="274320"/>
          </a:xfrm>
          <a:prstGeom prst="rightArrow">
            <a:avLst/>
          </a:prstGeom>
          <a:solidFill>
            <a:srgbClr val="F59E0B"/>
          </a:solidFill>
          <a:ln w="12700">
            <a:solidFill>
              <a:srgbClr val="F59E0B"/>
            </a:solidFill>
            <a:prstDash val="solid"/>
          </a:ln>
        </p:spPr>
      </p:sp>
      <p:sp>
        <p:nvSpPr>
          <p:cNvPr id="21" name="Shape 19"/>
          <p:cNvSpPr/>
          <p:nvPr/>
        </p:nvSpPr>
        <p:spPr>
          <a:xfrm>
            <a:off x="9921240" y="1673352"/>
            <a:ext cx="1783080" cy="914400"/>
          </a:xfrm>
          <a:prstGeom prst="rect">
            <a:avLst>
              <a:gd name="adj" fmla="val 6000"/>
            </a:avLst>
          </a:prstGeom>
          <a:solidFill>
            <a:srgbClr val="48CAE4"/>
          </a:solidFill>
          <a:ln w="19050">
            <a:solidFill>
              <a:srgbClr val="FFFFFF"/>
            </a:solidFill>
            <a:prstDash val="solid"/>
          </a:ln>
        </p:spPr>
      </p:sp>
      <p:sp>
        <p:nvSpPr>
          <p:cNvPr id="22" name="Text 20"/>
          <p:cNvSpPr/>
          <p:nvPr/>
        </p:nvSpPr>
        <p:spPr>
          <a:xfrm>
            <a:off x="9966960" y="1746504"/>
            <a:ext cx="1691640" cy="768096"/>
          </a:xfrm>
          <a:prstGeom prst="rect">
            <a:avLst/>
          </a:prstGeom>
          <a:noFill/>
          <a:ln/>
        </p:spPr>
        <p:txBody>
          <a:bodyPr wrap="square" rtlCol="0" anchor="ctr"/>
          <a:lstStyle/>
          <a:p>
            <a:pPr algn="ctr" indent="0" marL="0">
              <a:buNone/>
            </a:pPr>
            <a:r>
              <a:rPr lang="en-US" sz="1050" b="1" dirty="0">
                <a:solidFill>
                  <a:srgbClr val="0B132B"/>
                </a:solidFill>
              </a:rPr>
              <a:t>YouTube Data API v3</a:t>
            </a:r>
            <a:endParaRPr lang="en-US" sz="1050" dirty="0"/>
          </a:p>
          <a:p>
            <a:pPr algn="ctr" indent="0" marL="0">
              <a:buNone/>
            </a:pPr>
            <a:r>
              <a:rPr lang="en-US" sz="1050" b="1" dirty="0">
                <a:solidFill>
                  <a:srgbClr val="0B132B"/>
                </a:solidFill>
              </a:rPr>
              <a:t>Auto-Schedule Upload</a:t>
            </a:r>
            <a:endParaRPr lang="en-US" sz="1050" dirty="0"/>
          </a:p>
        </p:txBody>
      </p:sp>
      <p:sp>
        <p:nvSpPr>
          <p:cNvPr id="23" name="Text 21"/>
          <p:cNvSpPr/>
          <p:nvPr/>
        </p:nvSpPr>
        <p:spPr>
          <a:xfrm>
            <a:off x="777240" y="2743200"/>
            <a:ext cx="1920240" cy="320040"/>
          </a:xfrm>
          <a:prstGeom prst="rect">
            <a:avLst/>
          </a:prstGeom>
          <a:noFill/>
          <a:ln/>
        </p:spPr>
        <p:txBody>
          <a:bodyPr wrap="square" rtlCol="0" anchor="ctr"/>
          <a:lstStyle/>
          <a:p>
            <a:pPr indent="0" marL="0">
              <a:buNone/>
            </a:pPr>
            <a:r>
              <a:rPr lang="en-US" sz="1050" b="1" dirty="0">
                <a:solidFill>
                  <a:srgbClr val="94A3B8"/>
                </a:solidFill>
              </a:rPr>
              <a:t>Core Engine Protocols:</a:t>
            </a:r>
            <a:endParaRPr lang="en-US" sz="1050" dirty="0"/>
          </a:p>
        </p:txBody>
      </p:sp>
      <p:sp>
        <p:nvSpPr>
          <p:cNvPr id="24" name="Shape 22"/>
          <p:cNvSpPr/>
          <p:nvPr/>
        </p:nvSpPr>
        <p:spPr>
          <a:xfrm>
            <a:off x="2697480" y="2770632"/>
            <a:ext cx="1472184" cy="274320"/>
          </a:xfrm>
          <a:prstGeom prst="rect">
            <a:avLst>
              <a:gd name="adj" fmla="val 13333"/>
            </a:avLst>
          </a:prstGeom>
          <a:solidFill>
            <a:srgbClr val="1C2541"/>
          </a:solidFill>
          <a:ln w="12700">
            <a:solidFill>
              <a:srgbClr val="10B981"/>
            </a:solidFill>
            <a:prstDash val="solid"/>
          </a:ln>
        </p:spPr>
      </p:sp>
      <p:sp>
        <p:nvSpPr>
          <p:cNvPr id="25" name="Text 23"/>
          <p:cNvSpPr/>
          <p:nvPr/>
        </p:nvSpPr>
        <p:spPr>
          <a:xfrm>
            <a:off x="2697480" y="2770632"/>
            <a:ext cx="1472184" cy="274320"/>
          </a:xfrm>
          <a:prstGeom prst="rect">
            <a:avLst/>
          </a:prstGeom>
          <a:noFill/>
          <a:ln/>
        </p:spPr>
        <p:txBody>
          <a:bodyPr wrap="square" rtlCol="0" anchor="ctr"/>
          <a:lstStyle/>
          <a:p>
            <a:pPr algn="ctr" indent="0" marL="0">
              <a:buNone/>
            </a:pPr>
            <a:r>
              <a:rPr lang="en-US" sz="950" b="1" dirty="0">
                <a:solidFill>
                  <a:srgbClr val="10B981"/>
                </a:solidFill>
              </a:rPr>
              <a:t>Python 3.11</a:t>
            </a:r>
            <a:endParaRPr lang="en-US" sz="950" dirty="0"/>
          </a:p>
        </p:txBody>
      </p:sp>
      <p:sp>
        <p:nvSpPr>
          <p:cNvPr id="26" name="Shape 24"/>
          <p:cNvSpPr/>
          <p:nvPr/>
        </p:nvSpPr>
        <p:spPr>
          <a:xfrm>
            <a:off x="4306824" y="2770632"/>
            <a:ext cx="1673352" cy="274320"/>
          </a:xfrm>
          <a:prstGeom prst="rect">
            <a:avLst>
              <a:gd name="adj" fmla="val 13333"/>
            </a:avLst>
          </a:prstGeom>
          <a:solidFill>
            <a:srgbClr val="1C2541"/>
          </a:solidFill>
          <a:ln w="12700">
            <a:solidFill>
              <a:srgbClr val="10B981"/>
            </a:solidFill>
            <a:prstDash val="solid"/>
          </a:ln>
        </p:spPr>
      </p:sp>
      <p:sp>
        <p:nvSpPr>
          <p:cNvPr id="27" name="Text 25"/>
          <p:cNvSpPr/>
          <p:nvPr/>
        </p:nvSpPr>
        <p:spPr>
          <a:xfrm>
            <a:off x="4306824" y="2770632"/>
            <a:ext cx="1673352" cy="274320"/>
          </a:xfrm>
          <a:prstGeom prst="rect">
            <a:avLst/>
          </a:prstGeom>
          <a:noFill/>
          <a:ln/>
        </p:spPr>
        <p:txBody>
          <a:bodyPr wrap="square" rtlCol="0" anchor="ctr"/>
          <a:lstStyle/>
          <a:p>
            <a:pPr algn="ctr" indent="0" marL="0">
              <a:buNone/>
            </a:pPr>
            <a:r>
              <a:rPr lang="en-US" sz="950" b="1" dirty="0">
                <a:solidFill>
                  <a:srgbClr val="10B981"/>
                </a:solidFill>
              </a:rPr>
              <a:t>FFmpeg Engine</a:t>
            </a:r>
            <a:endParaRPr lang="en-US" sz="950" dirty="0"/>
          </a:p>
        </p:txBody>
      </p:sp>
      <p:sp>
        <p:nvSpPr>
          <p:cNvPr id="28" name="Shape 26"/>
          <p:cNvSpPr/>
          <p:nvPr/>
        </p:nvSpPr>
        <p:spPr>
          <a:xfrm>
            <a:off x="6117336" y="2770632"/>
            <a:ext cx="2276856" cy="274320"/>
          </a:xfrm>
          <a:prstGeom prst="rect">
            <a:avLst>
              <a:gd name="adj" fmla="val 13333"/>
            </a:avLst>
          </a:prstGeom>
          <a:solidFill>
            <a:srgbClr val="1C2541"/>
          </a:solidFill>
          <a:ln w="12700">
            <a:solidFill>
              <a:srgbClr val="10B981"/>
            </a:solidFill>
            <a:prstDash val="solid"/>
          </a:ln>
        </p:spPr>
      </p:sp>
      <p:sp>
        <p:nvSpPr>
          <p:cNvPr id="29" name="Text 27"/>
          <p:cNvSpPr/>
          <p:nvPr/>
        </p:nvSpPr>
        <p:spPr>
          <a:xfrm>
            <a:off x="6117336" y="2770632"/>
            <a:ext cx="2276856" cy="274320"/>
          </a:xfrm>
          <a:prstGeom prst="rect">
            <a:avLst/>
          </a:prstGeom>
          <a:noFill/>
          <a:ln/>
        </p:spPr>
        <p:txBody>
          <a:bodyPr wrap="square" rtlCol="0" anchor="ctr"/>
          <a:lstStyle/>
          <a:p>
            <a:pPr algn="ctr" indent="0" marL="0">
              <a:buNone/>
            </a:pPr>
            <a:r>
              <a:rPr lang="en-US" sz="950" b="1" dirty="0">
                <a:solidFill>
                  <a:srgbClr val="10B981"/>
                </a:solidFill>
              </a:rPr>
              <a:t>YouTube Data API v3</a:t>
            </a:r>
            <a:endParaRPr lang="en-US" sz="950" dirty="0"/>
          </a:p>
        </p:txBody>
      </p:sp>
      <p:sp>
        <p:nvSpPr>
          <p:cNvPr id="30" name="Shape 28"/>
          <p:cNvSpPr/>
          <p:nvPr/>
        </p:nvSpPr>
        <p:spPr>
          <a:xfrm>
            <a:off x="8531352" y="2770632"/>
            <a:ext cx="1472184" cy="274320"/>
          </a:xfrm>
          <a:prstGeom prst="rect">
            <a:avLst>
              <a:gd name="adj" fmla="val 13333"/>
            </a:avLst>
          </a:prstGeom>
          <a:solidFill>
            <a:srgbClr val="1C2541"/>
          </a:solidFill>
          <a:ln w="12700">
            <a:solidFill>
              <a:srgbClr val="10B981"/>
            </a:solidFill>
            <a:prstDash val="solid"/>
          </a:ln>
        </p:spPr>
      </p:sp>
      <p:sp>
        <p:nvSpPr>
          <p:cNvPr id="31" name="Text 29"/>
          <p:cNvSpPr/>
          <p:nvPr/>
        </p:nvSpPr>
        <p:spPr>
          <a:xfrm>
            <a:off x="8531352" y="2770632"/>
            <a:ext cx="1472184" cy="274320"/>
          </a:xfrm>
          <a:prstGeom prst="rect">
            <a:avLst/>
          </a:prstGeom>
          <a:noFill/>
          <a:ln/>
        </p:spPr>
        <p:txBody>
          <a:bodyPr wrap="square" rtlCol="0" anchor="ctr"/>
          <a:lstStyle/>
          <a:p>
            <a:pPr algn="ctr" indent="0" marL="0">
              <a:buNone/>
            </a:pPr>
            <a:r>
              <a:rPr lang="en-US" sz="950" b="1" dirty="0">
                <a:solidFill>
                  <a:srgbClr val="10B981"/>
                </a:solidFill>
              </a:rPr>
              <a:t>OAuth2 Auth</a:t>
            </a:r>
            <a:endParaRPr lang="en-US" sz="950" dirty="0"/>
          </a:p>
        </p:txBody>
      </p:sp>
      <p:sp>
        <p:nvSpPr>
          <p:cNvPr id="32" name="Shape 30"/>
          <p:cNvSpPr/>
          <p:nvPr/>
        </p:nvSpPr>
        <p:spPr>
          <a:xfrm>
            <a:off x="10140696" y="2770632"/>
            <a:ext cx="2377440" cy="274320"/>
          </a:xfrm>
          <a:prstGeom prst="rect">
            <a:avLst>
              <a:gd name="adj" fmla="val 13333"/>
            </a:avLst>
          </a:prstGeom>
          <a:solidFill>
            <a:srgbClr val="1C2541"/>
          </a:solidFill>
          <a:ln w="12700">
            <a:solidFill>
              <a:srgbClr val="10B981"/>
            </a:solidFill>
            <a:prstDash val="solid"/>
          </a:ln>
        </p:spPr>
      </p:sp>
      <p:sp>
        <p:nvSpPr>
          <p:cNvPr id="33" name="Text 31"/>
          <p:cNvSpPr/>
          <p:nvPr/>
        </p:nvSpPr>
        <p:spPr>
          <a:xfrm>
            <a:off x="10140696" y="2770632"/>
            <a:ext cx="2377440" cy="274320"/>
          </a:xfrm>
          <a:prstGeom prst="rect">
            <a:avLst/>
          </a:prstGeom>
          <a:noFill/>
          <a:ln/>
        </p:spPr>
        <p:txBody>
          <a:bodyPr wrap="square" rtlCol="0" anchor="ctr"/>
          <a:lstStyle/>
          <a:p>
            <a:pPr algn="ctr" indent="0" marL="0">
              <a:buNone/>
            </a:pPr>
            <a:r>
              <a:rPr lang="en-US" sz="950" b="1" dirty="0">
                <a:solidFill>
                  <a:srgbClr val="10B981"/>
                </a:solidFill>
              </a:rPr>
              <a:t>Cron Autonomous Loop</a:t>
            </a:r>
            <a:endParaRPr lang="en-US" sz="950" dirty="0"/>
          </a:p>
        </p:txBody>
      </p:sp>
      <p:sp>
        <p:nvSpPr>
          <p:cNvPr id="34" name="Shape 32"/>
          <p:cNvSpPr/>
          <p:nvPr/>
        </p:nvSpPr>
        <p:spPr>
          <a:xfrm>
            <a:off x="12655296" y="2770632"/>
            <a:ext cx="1975104" cy="274320"/>
          </a:xfrm>
          <a:prstGeom prst="rect">
            <a:avLst>
              <a:gd name="adj" fmla="val 13333"/>
            </a:avLst>
          </a:prstGeom>
          <a:solidFill>
            <a:srgbClr val="1C2541"/>
          </a:solidFill>
          <a:ln w="12700">
            <a:solidFill>
              <a:srgbClr val="10B981"/>
            </a:solidFill>
            <a:prstDash val="solid"/>
          </a:ln>
        </p:spPr>
      </p:sp>
      <p:sp>
        <p:nvSpPr>
          <p:cNvPr id="35" name="Text 33"/>
          <p:cNvSpPr/>
          <p:nvPr/>
        </p:nvSpPr>
        <p:spPr>
          <a:xfrm>
            <a:off x="12655296" y="2770632"/>
            <a:ext cx="1975104" cy="274320"/>
          </a:xfrm>
          <a:prstGeom prst="rect">
            <a:avLst/>
          </a:prstGeom>
          <a:noFill/>
          <a:ln/>
        </p:spPr>
        <p:txBody>
          <a:bodyPr wrap="square" rtlCol="0" anchor="ctr"/>
          <a:lstStyle/>
          <a:p>
            <a:pPr algn="ctr" indent="0" marL="0">
              <a:buNone/>
            </a:pPr>
            <a:r>
              <a:rPr lang="en-US" sz="950" b="1" dirty="0">
                <a:solidFill>
                  <a:srgbClr val="10B981"/>
                </a:solidFill>
              </a:rPr>
              <a:t>SEO Optimization</a:t>
            </a:r>
            <a:endParaRPr lang="en-US" sz="950" dirty="0"/>
          </a:p>
        </p:txBody>
      </p:sp>
      <p:sp>
        <p:nvSpPr>
          <p:cNvPr id="36" name="Shape 34"/>
          <p:cNvSpPr/>
          <p:nvPr/>
        </p:nvSpPr>
        <p:spPr>
          <a:xfrm>
            <a:off x="457200" y="3337560"/>
            <a:ext cx="3666744" cy="3108960"/>
          </a:xfrm>
          <a:prstGeom prst="rect">
            <a:avLst>
              <a:gd name="adj" fmla="val 2353"/>
            </a:avLst>
          </a:prstGeom>
          <a:solidFill>
            <a:srgbClr val="1C2541"/>
          </a:solidFill>
          <a:ln w="19050">
            <a:solidFill>
              <a:srgbClr val="48CAE4"/>
            </a:solidFill>
            <a:prstDash val="solid"/>
          </a:ln>
        </p:spPr>
      </p:sp>
      <p:sp>
        <p:nvSpPr>
          <p:cNvPr id="37" name="Text 35"/>
          <p:cNvSpPr/>
          <p:nvPr/>
        </p:nvSpPr>
        <p:spPr>
          <a:xfrm>
            <a:off x="566928" y="3410712"/>
            <a:ext cx="3447288" cy="274320"/>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38" name="Text 36"/>
          <p:cNvSpPr/>
          <p:nvPr/>
        </p:nvSpPr>
        <p:spPr>
          <a:xfrm>
            <a:off x="566928"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Engineered a fully autonomous backend pipeline capable of conceptualizing, generating, formatting, and publishing YouTube videos.</a:t>
            </a:r>
            <a:endParaRPr lang="en-US" sz="950" dirty="0"/>
          </a:p>
          <a:p>
            <a:r>
              <a:rPr lang="en-US" sz="950" dirty="0">
                <a:solidFill>
                  <a:srgbClr val="FFFFFF"/>
                </a:solidFill>
                <a:latin typeface="Segoe UI" pitchFamily="34" charset="0"/>
                <a:ea typeface="Segoe UI" pitchFamily="34" charset="-122"/>
                <a:cs typeface="Segoe UI" pitchFamily="34" charset="-120"/>
              </a:rPr>
              <a:t>Removes all manual human intervention across the content creation lifecycle.</a:t>
            </a:r>
            <a:endParaRPr lang="en-US" sz="950" dirty="0"/>
          </a:p>
          <a:p>
            <a:r>
              <a:rPr lang="en-US" sz="950" dirty="0">
                <a:solidFill>
                  <a:srgbClr val="FFFFFF"/>
                </a:solidFill>
                <a:latin typeface="Segoe UI" pitchFamily="34" charset="0"/>
                <a:ea typeface="Segoe UI" pitchFamily="34" charset="-122"/>
                <a:cs typeface="Segoe UI" pitchFamily="34" charset="-120"/>
              </a:rPr>
              <a:t>Designed for scalable digital asset generation and programmatic media channel management.</a:t>
            </a:r>
            <a:endParaRPr lang="en-US" sz="950" dirty="0"/>
          </a:p>
        </p:txBody>
      </p:sp>
      <p:sp>
        <p:nvSpPr>
          <p:cNvPr id="39" name="Shape 37"/>
          <p:cNvSpPr/>
          <p:nvPr/>
        </p:nvSpPr>
        <p:spPr>
          <a:xfrm>
            <a:off x="4261104" y="3337560"/>
            <a:ext cx="3666744" cy="3108960"/>
          </a:xfrm>
          <a:prstGeom prst="rect">
            <a:avLst>
              <a:gd name="adj" fmla="val 2353"/>
            </a:avLst>
          </a:prstGeom>
          <a:solidFill>
            <a:srgbClr val="1C2541"/>
          </a:solidFill>
          <a:ln w="19050">
            <a:solidFill>
              <a:srgbClr val="F59E0B"/>
            </a:solidFill>
            <a:prstDash val="solid"/>
          </a:ln>
        </p:spPr>
      </p:sp>
      <p:sp>
        <p:nvSpPr>
          <p:cNvPr id="40" name="Text 38"/>
          <p:cNvSpPr/>
          <p:nvPr/>
        </p:nvSpPr>
        <p:spPr>
          <a:xfrm>
            <a:off x="4370832" y="3410712"/>
            <a:ext cx="3447288" cy="274320"/>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41" name="Text 39"/>
          <p:cNvSpPr/>
          <p:nvPr/>
        </p:nvSpPr>
        <p:spPr>
          <a:xfrm>
            <a:off x="4370832"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Script &amp; Prompt Synthesis: LLM integration generating engaging scripts, titles, and SEO-optimized video descriptions.</a:t>
            </a:r>
            <a:endParaRPr lang="en-US" sz="950" dirty="0"/>
          </a:p>
          <a:p>
            <a:r>
              <a:rPr lang="en-US" sz="950" dirty="0">
                <a:solidFill>
                  <a:srgbClr val="FFFFFF"/>
                </a:solidFill>
                <a:latin typeface="Segoe UI" pitchFamily="34" charset="0"/>
                <a:ea typeface="Segoe UI" pitchFamily="34" charset="-122"/>
                <a:cs typeface="Segoe UI" pitchFamily="34" charset="-120"/>
              </a:rPr>
              <a:t>Audio &amp; Visual Alignment: High-fidelity Text-to-Speech (TTS) audio synthesis combined with Python/FFmpeg video processing to align dynamic visual clips with narration timing.</a:t>
            </a:r>
            <a:endParaRPr lang="en-US" sz="950" dirty="0"/>
          </a:p>
          <a:p>
            <a:r>
              <a:rPr lang="en-US" sz="950" dirty="0">
                <a:solidFill>
                  <a:srgbClr val="FFFFFF"/>
                </a:solidFill>
                <a:latin typeface="Segoe UI" pitchFamily="34" charset="0"/>
                <a:ea typeface="Segoe UI" pitchFamily="34" charset="-122"/>
                <a:cs typeface="Segoe UI" pitchFamily="34" charset="-120"/>
              </a:rPr>
              <a:t>Auto-Publishing Engine: Direct integration with YouTube Data API v3 for scheduled uploads, custom thumbnail setting, and tag injection.</a:t>
            </a:r>
            <a:endParaRPr lang="en-US" sz="950" dirty="0"/>
          </a:p>
        </p:txBody>
      </p:sp>
      <p:sp>
        <p:nvSpPr>
          <p:cNvPr id="42" name="Shape 40"/>
          <p:cNvSpPr/>
          <p:nvPr/>
        </p:nvSpPr>
        <p:spPr>
          <a:xfrm>
            <a:off x="8065008" y="3337560"/>
            <a:ext cx="3666744" cy="3108960"/>
          </a:xfrm>
          <a:prstGeom prst="rect">
            <a:avLst>
              <a:gd name="adj" fmla="val 2353"/>
            </a:avLst>
          </a:prstGeom>
          <a:solidFill>
            <a:srgbClr val="1C2541"/>
          </a:solidFill>
          <a:ln w="19050">
            <a:solidFill>
              <a:srgbClr val="10B981"/>
            </a:solidFill>
            <a:prstDash val="solid"/>
          </a:ln>
        </p:spPr>
      </p:sp>
      <p:sp>
        <p:nvSpPr>
          <p:cNvPr id="43" name="Text 41"/>
          <p:cNvSpPr/>
          <p:nvPr/>
        </p:nvSpPr>
        <p:spPr>
          <a:xfrm>
            <a:off x="8174736" y="3410712"/>
            <a:ext cx="3447288" cy="274320"/>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44" name="Text 42"/>
          <p:cNvSpPr/>
          <p:nvPr/>
        </p:nvSpPr>
        <p:spPr>
          <a:xfrm>
            <a:off x="8174736"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Achieved continuous, autonomous video publishing with zero manual video editing or rendering overhead.</a:t>
            </a:r>
            <a:endParaRPr lang="en-US" sz="950" dirty="0"/>
          </a:p>
          <a:p>
            <a:r>
              <a:rPr lang="en-US" sz="950" dirty="0">
                <a:solidFill>
                  <a:srgbClr val="FFFFFF"/>
                </a:solidFill>
                <a:latin typeface="Segoe UI" pitchFamily="34" charset="0"/>
                <a:ea typeface="Segoe UI" pitchFamily="34" charset="-122"/>
                <a:cs typeface="Segoe UI" pitchFamily="34" charset="-120"/>
              </a:rPr>
              <a:t>Proves mastery over complex multi-step Python automation, media processing libraries (FFmpeg), and OAuth2 external APIs.</a:t>
            </a:r>
            <a:endParaRPr lang="en-US" sz="950" dirty="0"/>
          </a:p>
          <a:p>
            <a:r>
              <a:rPr lang="en-US" sz="950" dirty="0">
                <a:solidFill>
                  <a:srgbClr val="FFFFFF"/>
                </a:solidFill>
                <a:latin typeface="Segoe UI" pitchFamily="34" charset="0"/>
                <a:ea typeface="Segoe UI" pitchFamily="34" charset="-122"/>
                <a:cs typeface="Segoe UI" pitchFamily="34" charset="-120"/>
              </a:rPr>
              <a:t>Creates a highly scalable framework for automated digital content monetization and distribution.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HARDWARE-TO-CLOUD IOT • RASPBERRY PI INTERLOCK</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SYSTEM CONTROLLER SIMULATOR RASPBERRY PI</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Bridging physical GPIO electrical circuits with remote Railway Cloud REST APIs for industrial commissioning.</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5029200" cy="5212080"/>
          </a:xfrm>
          <a:prstGeom prst="rect">
            <a:avLst>
              <a:gd name="adj" fmla="val 1818"/>
            </a:avLst>
          </a:prstGeom>
          <a:solidFill>
            <a:srgbClr val="0F172A"/>
          </a:solidFill>
          <a:ln w="25400">
            <a:solidFill>
              <a:srgbClr val="F59E0B"/>
            </a:solidFill>
            <a:prstDash val="solid"/>
          </a:ln>
        </p:spPr>
      </p:sp>
      <p:sp>
        <p:nvSpPr>
          <p:cNvPr id="8" name="Text 6"/>
          <p:cNvSpPr/>
          <p:nvPr/>
        </p:nvSpPr>
        <p:spPr>
          <a:xfrm>
            <a:off x="640080" y="1371600"/>
            <a:ext cx="4663440" cy="320040"/>
          </a:xfrm>
          <a:prstGeom prst="rect">
            <a:avLst/>
          </a:prstGeom>
          <a:noFill/>
          <a:ln/>
        </p:spPr>
        <p:txBody>
          <a:bodyPr wrap="square" rtlCol="0" anchor="ctr"/>
          <a:lstStyle/>
          <a:p>
            <a:pPr indent="0" marL="0">
              <a:buNone/>
            </a:pPr>
            <a:r>
              <a:rPr lang="en-US" sz="1300" b="1" dirty="0">
                <a:solidFill>
                  <a:srgbClr val="F59E0B"/>
                </a:solidFill>
              </a:rPr>
              <a:t>⚡ HARDWARE-TO-CLOUD TELEMETRY SCHEMATIC</a:t>
            </a:r>
            <a:endParaRPr lang="en-US" sz="1300" dirty="0"/>
          </a:p>
        </p:txBody>
      </p:sp>
      <p:sp>
        <p:nvSpPr>
          <p:cNvPr id="9" name="Shape 7"/>
          <p:cNvSpPr/>
          <p:nvPr/>
        </p:nvSpPr>
        <p:spPr>
          <a:xfrm>
            <a:off x="685800" y="1783080"/>
            <a:ext cx="4572000" cy="1965960"/>
          </a:xfrm>
          <a:prstGeom prst="rect">
            <a:avLst>
              <a:gd name="adj" fmla="val 2791"/>
            </a:avLst>
          </a:prstGeom>
          <a:solidFill>
            <a:srgbClr val="1C2541"/>
          </a:solidFill>
          <a:ln w="19050">
            <a:solidFill>
              <a:srgbClr val="48CAE4"/>
            </a:solidFill>
            <a:prstDash val="solid"/>
          </a:ln>
        </p:spPr>
      </p:sp>
      <p:sp>
        <p:nvSpPr>
          <p:cNvPr id="10" name="Text 8"/>
          <p:cNvSpPr/>
          <p:nvPr/>
        </p:nvSpPr>
        <p:spPr>
          <a:xfrm>
            <a:off x="822960" y="1874520"/>
            <a:ext cx="4297680" cy="274320"/>
          </a:xfrm>
          <a:prstGeom prst="rect">
            <a:avLst/>
          </a:prstGeom>
          <a:noFill/>
          <a:ln/>
        </p:spPr>
        <p:txBody>
          <a:bodyPr wrap="square" rtlCol="0" anchor="ctr"/>
          <a:lstStyle/>
          <a:p>
            <a:pPr indent="0" marL="0">
              <a:buNone/>
            </a:pPr>
            <a:r>
              <a:rPr lang="en-US" sz="1200" b="1" dirty="0">
                <a:solidFill>
                  <a:srgbClr val="48CAE4"/>
                </a:solidFill>
              </a:rPr>
              <a:t>🔧 Physical Controller / GPIO &amp; Interlock Specs:</a:t>
            </a:r>
            <a:endParaRPr lang="en-US" sz="1200" dirty="0"/>
          </a:p>
        </p:txBody>
      </p:sp>
      <p:sp>
        <p:nvSpPr>
          <p:cNvPr id="11" name="Text 9"/>
          <p:cNvSpPr/>
          <p:nvPr/>
        </p:nvSpPr>
        <p:spPr>
          <a:xfrm>
            <a:off x="822960" y="2194560"/>
            <a:ext cx="4297680" cy="320040"/>
          </a:xfrm>
          <a:prstGeom prst="rect">
            <a:avLst/>
          </a:prstGeom>
          <a:noFill/>
          <a:ln/>
        </p:spPr>
        <p:txBody>
          <a:bodyPr wrap="square" rtlCol="0" anchor="ctr"/>
          <a:lstStyle/>
          <a:p>
            <a:pPr indent="0" marL="0">
              <a:buNone/>
            </a:pPr>
            <a:r>
              <a:rPr lang="en-US" sz="1100" dirty="0">
                <a:solidFill>
                  <a:srgbClr val="FFFFFF"/>
                </a:solidFill>
              </a:rPr>
              <a:t>▪ Raspberry Pi GPIO Pins [0-40] Logic Control</a:t>
            </a:r>
            <a:endParaRPr lang="en-US" sz="1100" dirty="0"/>
          </a:p>
        </p:txBody>
      </p:sp>
      <p:sp>
        <p:nvSpPr>
          <p:cNvPr id="12" name="Text 10"/>
          <p:cNvSpPr/>
          <p:nvPr/>
        </p:nvSpPr>
        <p:spPr>
          <a:xfrm>
            <a:off x="822960" y="2514600"/>
            <a:ext cx="4297680" cy="320040"/>
          </a:xfrm>
          <a:prstGeom prst="rect">
            <a:avLst/>
          </a:prstGeom>
          <a:noFill/>
          <a:ln/>
        </p:spPr>
        <p:txBody>
          <a:bodyPr wrap="square" rtlCol="0" anchor="ctr"/>
          <a:lstStyle/>
          <a:p>
            <a:pPr indent="0" marL="0">
              <a:buNone/>
            </a:pPr>
            <a:r>
              <a:rPr lang="en-US" sz="1100" dirty="0">
                <a:solidFill>
                  <a:srgbClr val="FFFFFF"/>
                </a:solidFill>
              </a:rPr>
              <a:t>▪ Relay Wiring &amp; Safety Interlock Simulation</a:t>
            </a:r>
            <a:endParaRPr lang="en-US" sz="1100" dirty="0"/>
          </a:p>
        </p:txBody>
      </p:sp>
      <p:sp>
        <p:nvSpPr>
          <p:cNvPr id="13" name="Text 11"/>
          <p:cNvSpPr/>
          <p:nvPr/>
        </p:nvSpPr>
        <p:spPr>
          <a:xfrm>
            <a:off x="822960" y="2834640"/>
            <a:ext cx="4297680" cy="320040"/>
          </a:xfrm>
          <a:prstGeom prst="rect">
            <a:avLst/>
          </a:prstGeom>
          <a:noFill/>
          <a:ln/>
        </p:spPr>
        <p:txBody>
          <a:bodyPr wrap="square" rtlCol="0" anchor="ctr"/>
          <a:lstStyle/>
          <a:p>
            <a:pPr indent="0" marL="0">
              <a:buNone/>
            </a:pPr>
            <a:r>
              <a:rPr lang="en-US" sz="1100" dirty="0">
                <a:solidFill>
                  <a:srgbClr val="FFFFFF"/>
                </a:solidFill>
              </a:rPr>
              <a:t>▪ Secondary Microcontroller UART/SPI Interface</a:t>
            </a:r>
            <a:endParaRPr lang="en-US" sz="1100" dirty="0"/>
          </a:p>
        </p:txBody>
      </p:sp>
      <p:sp>
        <p:nvSpPr>
          <p:cNvPr id="14" name="Text 12"/>
          <p:cNvSpPr/>
          <p:nvPr/>
        </p:nvSpPr>
        <p:spPr>
          <a:xfrm>
            <a:off x="822960" y="3154680"/>
            <a:ext cx="4297680" cy="320040"/>
          </a:xfrm>
          <a:prstGeom prst="rect">
            <a:avLst/>
          </a:prstGeom>
          <a:noFill/>
          <a:ln/>
        </p:spPr>
        <p:txBody>
          <a:bodyPr wrap="square" rtlCol="0" anchor="ctr"/>
          <a:lstStyle/>
          <a:p>
            <a:pPr indent="0" marL="0">
              <a:buNone/>
            </a:pPr>
            <a:r>
              <a:rPr lang="en-US" sz="1100" dirty="0">
                <a:solidFill>
                  <a:srgbClr val="FFFFFF"/>
                </a:solidFill>
              </a:rPr>
              <a:t>▪ Electrical Power Supply Simulation [24V DC]</a:t>
            </a:r>
            <a:endParaRPr lang="en-US" sz="1100" dirty="0"/>
          </a:p>
        </p:txBody>
      </p:sp>
      <p:sp>
        <p:nvSpPr>
          <p:cNvPr id="15" name="Shape 13"/>
          <p:cNvSpPr/>
          <p:nvPr/>
        </p:nvSpPr>
        <p:spPr>
          <a:xfrm>
            <a:off x="1554480" y="3840480"/>
            <a:ext cx="2834640" cy="411480"/>
          </a:xfrm>
          <a:prstGeom prst="rect">
            <a:avLst>
              <a:gd name="adj" fmla="val 11111"/>
            </a:avLst>
          </a:prstGeom>
          <a:solidFill>
            <a:srgbClr val="F59E0B"/>
          </a:solidFill>
          <a:ln/>
        </p:spPr>
      </p:sp>
      <p:sp>
        <p:nvSpPr>
          <p:cNvPr id="16" name="Text 14"/>
          <p:cNvSpPr/>
          <p:nvPr/>
        </p:nvSpPr>
        <p:spPr>
          <a:xfrm>
            <a:off x="1554480" y="3840480"/>
            <a:ext cx="2834640" cy="411480"/>
          </a:xfrm>
          <a:prstGeom prst="rect">
            <a:avLst/>
          </a:prstGeom>
          <a:noFill/>
          <a:ln/>
        </p:spPr>
        <p:txBody>
          <a:bodyPr wrap="square" rtlCol="0" anchor="ctr"/>
          <a:lstStyle/>
          <a:p>
            <a:pPr algn="ctr" indent="0" marL="0">
              <a:buNone/>
            </a:pPr>
            <a:r>
              <a:rPr lang="en-US" sz="1100" b="1" dirty="0">
                <a:solidFill>
                  <a:srgbClr val="0B132B"/>
                </a:solidFill>
              </a:rPr>
              <a:t>🔃 Bidirectional REST API / MQTT Telemetry Stream</a:t>
            </a:r>
            <a:endParaRPr lang="en-US" sz="1100" dirty="0"/>
          </a:p>
        </p:txBody>
      </p:sp>
      <p:sp>
        <p:nvSpPr>
          <p:cNvPr id="17" name="Shape 15"/>
          <p:cNvSpPr/>
          <p:nvPr/>
        </p:nvSpPr>
        <p:spPr>
          <a:xfrm>
            <a:off x="685800" y="4343400"/>
            <a:ext cx="4572000" cy="1920240"/>
          </a:xfrm>
          <a:prstGeom prst="rect">
            <a:avLst>
              <a:gd name="adj" fmla="val 2857"/>
            </a:avLst>
          </a:prstGeom>
          <a:solidFill>
            <a:srgbClr val="1C2541"/>
          </a:solidFill>
          <a:ln w="19050">
            <a:solidFill>
              <a:srgbClr val="10B981"/>
            </a:solidFill>
            <a:prstDash val="solid"/>
          </a:ln>
        </p:spPr>
      </p:sp>
      <p:sp>
        <p:nvSpPr>
          <p:cNvPr id="18" name="Text 16"/>
          <p:cNvSpPr/>
          <p:nvPr/>
        </p:nvSpPr>
        <p:spPr>
          <a:xfrm>
            <a:off x="822960" y="4434840"/>
            <a:ext cx="4297680" cy="274320"/>
          </a:xfrm>
          <a:prstGeom prst="rect">
            <a:avLst/>
          </a:prstGeom>
          <a:noFill/>
          <a:ln/>
        </p:spPr>
        <p:txBody>
          <a:bodyPr wrap="square" rtlCol="0" anchor="ctr"/>
          <a:lstStyle/>
          <a:p>
            <a:pPr indent="0" marL="0">
              <a:buNone/>
            </a:pPr>
            <a:r>
              <a:rPr lang="en-US" sz="1200" b="1" dirty="0">
                <a:solidFill>
                  <a:srgbClr val="10B981"/>
                </a:solidFill>
              </a:rPr>
              <a:t>🌐 Remote Railway Cloud &amp; Telemetry Endpoints:</a:t>
            </a:r>
            <a:endParaRPr lang="en-US" sz="1200" dirty="0"/>
          </a:p>
        </p:txBody>
      </p:sp>
      <p:sp>
        <p:nvSpPr>
          <p:cNvPr id="19" name="Text 17"/>
          <p:cNvSpPr/>
          <p:nvPr/>
        </p:nvSpPr>
        <p:spPr>
          <a:xfrm>
            <a:off x="822960" y="4754880"/>
            <a:ext cx="4297680" cy="320040"/>
          </a:xfrm>
          <a:prstGeom prst="rect">
            <a:avLst/>
          </a:prstGeom>
          <a:noFill/>
          <a:ln/>
        </p:spPr>
        <p:txBody>
          <a:bodyPr wrap="square" rtlCol="0" anchor="ctr"/>
          <a:lstStyle/>
          <a:p>
            <a:pPr indent="0" marL="0">
              <a:buNone/>
            </a:pPr>
            <a:r>
              <a:rPr lang="en-US" sz="1100" dirty="0">
                <a:solidFill>
                  <a:srgbClr val="FFFFFF"/>
                </a:solidFill>
              </a:rPr>
              <a:t>▪ Railway Cloud REST API Data Endpoints</a:t>
            </a:r>
            <a:endParaRPr lang="en-US" sz="1100" dirty="0"/>
          </a:p>
        </p:txBody>
      </p:sp>
      <p:sp>
        <p:nvSpPr>
          <p:cNvPr id="20" name="Text 18"/>
          <p:cNvSpPr/>
          <p:nvPr/>
        </p:nvSpPr>
        <p:spPr>
          <a:xfrm>
            <a:off x="822960" y="5074920"/>
            <a:ext cx="4297680" cy="320040"/>
          </a:xfrm>
          <a:prstGeom prst="rect">
            <a:avLst/>
          </a:prstGeom>
          <a:noFill/>
          <a:ln/>
        </p:spPr>
        <p:txBody>
          <a:bodyPr wrap="square" rtlCol="0" anchor="ctr"/>
          <a:lstStyle/>
          <a:p>
            <a:pPr indent="0" marL="0">
              <a:buNone/>
            </a:pPr>
            <a:r>
              <a:rPr lang="en-US" sz="1100" dirty="0">
                <a:solidFill>
                  <a:srgbClr val="FFFFFF"/>
                </a:solidFill>
              </a:rPr>
              <a:t>▪ Realtime Remote Telemetry Stream &amp; Logging</a:t>
            </a:r>
            <a:endParaRPr lang="en-US" sz="1100" dirty="0"/>
          </a:p>
        </p:txBody>
      </p:sp>
      <p:sp>
        <p:nvSpPr>
          <p:cNvPr id="21" name="Text 19"/>
          <p:cNvSpPr/>
          <p:nvPr/>
        </p:nvSpPr>
        <p:spPr>
          <a:xfrm>
            <a:off x="822960" y="5394960"/>
            <a:ext cx="4297680" cy="320040"/>
          </a:xfrm>
          <a:prstGeom prst="rect">
            <a:avLst/>
          </a:prstGeom>
          <a:noFill/>
          <a:ln/>
        </p:spPr>
        <p:txBody>
          <a:bodyPr wrap="square" rtlCol="0" anchor="ctr"/>
          <a:lstStyle/>
          <a:p>
            <a:pPr indent="0" marL="0">
              <a:buNone/>
            </a:pPr>
            <a:r>
              <a:rPr lang="en-US" sz="1100" dirty="0">
                <a:solidFill>
                  <a:srgbClr val="FFFFFF"/>
                </a:solidFill>
              </a:rPr>
              <a:t>▪ Web-Based System Controller Dashboard UI</a:t>
            </a:r>
            <a:endParaRPr lang="en-US" sz="1100" dirty="0"/>
          </a:p>
        </p:txBody>
      </p:sp>
      <p:sp>
        <p:nvSpPr>
          <p:cNvPr id="22" name="Text 20"/>
          <p:cNvSpPr/>
          <p:nvPr/>
        </p:nvSpPr>
        <p:spPr>
          <a:xfrm>
            <a:off x="822960" y="5715000"/>
            <a:ext cx="4297680" cy="320040"/>
          </a:xfrm>
          <a:prstGeom prst="rect">
            <a:avLst/>
          </a:prstGeom>
          <a:noFill/>
          <a:ln/>
        </p:spPr>
        <p:txBody>
          <a:bodyPr wrap="square" rtlCol="0" anchor="ctr"/>
          <a:lstStyle/>
          <a:p>
            <a:pPr indent="0" marL="0">
              <a:buNone/>
            </a:pPr>
            <a:r>
              <a:rPr lang="en-US" sz="1100" dirty="0">
                <a:solidFill>
                  <a:srgbClr val="FFFFFF"/>
                </a:solidFill>
              </a:rPr>
              <a:t>▪ 50% Field Commissioning Time Reduction SLA</a:t>
            </a:r>
            <a:endParaRPr lang="en-US" sz="1100" dirty="0"/>
          </a:p>
        </p:txBody>
      </p:sp>
      <p:sp>
        <p:nvSpPr>
          <p:cNvPr id="23" name="Shape 21"/>
          <p:cNvSpPr/>
          <p:nvPr/>
        </p:nvSpPr>
        <p:spPr>
          <a:xfrm>
            <a:off x="5669280" y="1234440"/>
            <a:ext cx="6062472" cy="1676400"/>
          </a:xfrm>
          <a:prstGeom prst="rect">
            <a:avLst>
              <a:gd name="adj" fmla="val 4364"/>
            </a:avLst>
          </a:prstGeom>
          <a:solidFill>
            <a:srgbClr val="1C2541"/>
          </a:solidFill>
          <a:ln w="19050">
            <a:solidFill>
              <a:srgbClr val="48CAE4"/>
            </a:solidFill>
            <a:prstDash val="solid"/>
          </a:ln>
        </p:spPr>
      </p:sp>
      <p:sp>
        <p:nvSpPr>
          <p:cNvPr id="24" name="Text 22"/>
          <p:cNvSpPr/>
          <p:nvPr/>
        </p:nvSpPr>
        <p:spPr>
          <a:xfrm>
            <a:off x="5806440" y="1280160"/>
            <a:ext cx="578815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25" name="Text 23"/>
          <p:cNvSpPr/>
          <p:nvPr/>
        </p:nvSpPr>
        <p:spPr>
          <a:xfrm>
            <a:off x="5806440" y="1517904"/>
            <a:ext cx="578815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Integrated hardware-software simulation platform modeling and testing industrial automation architectures using Raspberry Pi.</a:t>
            </a:r>
            <a:endParaRPr lang="en-US" sz="950" dirty="0"/>
          </a:p>
          <a:p>
            <a:r>
              <a:rPr lang="en-US" sz="950" dirty="0">
                <a:solidFill>
                  <a:srgbClr val="FFFFFF"/>
                </a:solidFill>
                <a:latin typeface="Segoe UI" pitchFamily="34" charset="0"/>
                <a:ea typeface="Segoe UI" pitchFamily="34" charset="-122"/>
                <a:cs typeface="Segoe UI" pitchFamily="34" charset="-120"/>
              </a:rPr>
              <a:t>Serves as a comprehensive development and training testbed for configuring control logic and validating industrial wiring setups.</a:t>
            </a:r>
            <a:endParaRPr lang="en-US" sz="950" dirty="0"/>
          </a:p>
          <a:p>
            <a:r>
              <a:rPr lang="en-US" sz="950" dirty="0">
                <a:solidFill>
                  <a:srgbClr val="FFFFFF"/>
                </a:solidFill>
                <a:latin typeface="Segoe UI" pitchFamily="34" charset="0"/>
                <a:ea typeface="Segoe UI" pitchFamily="34" charset="-122"/>
                <a:cs typeface="Segoe UI" pitchFamily="34" charset="-120"/>
              </a:rPr>
              <a:t>Bridges physical electrical control circuits with modern web-based telemetry systems.</a:t>
            </a:r>
            <a:endParaRPr lang="en-US" sz="950" dirty="0"/>
          </a:p>
        </p:txBody>
      </p:sp>
      <p:sp>
        <p:nvSpPr>
          <p:cNvPr id="26" name="Shape 24"/>
          <p:cNvSpPr/>
          <p:nvPr/>
        </p:nvSpPr>
        <p:spPr>
          <a:xfrm>
            <a:off x="5669280" y="3002280"/>
            <a:ext cx="6062472" cy="1676400"/>
          </a:xfrm>
          <a:prstGeom prst="rect">
            <a:avLst>
              <a:gd name="adj" fmla="val 4364"/>
            </a:avLst>
          </a:prstGeom>
          <a:solidFill>
            <a:srgbClr val="1C2541"/>
          </a:solidFill>
          <a:ln w="19050">
            <a:solidFill>
              <a:srgbClr val="F59E0B"/>
            </a:solidFill>
            <a:prstDash val="solid"/>
          </a:ln>
        </p:spPr>
      </p:sp>
      <p:sp>
        <p:nvSpPr>
          <p:cNvPr id="27" name="Text 25"/>
          <p:cNvSpPr/>
          <p:nvPr/>
        </p:nvSpPr>
        <p:spPr>
          <a:xfrm>
            <a:off x="5806440" y="3048000"/>
            <a:ext cx="578815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28" name="Text 26"/>
          <p:cNvSpPr/>
          <p:nvPr/>
        </p:nvSpPr>
        <p:spPr>
          <a:xfrm>
            <a:off x="5806440" y="3285744"/>
            <a:ext cx="578815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Industrial I/O Simulation: Validates digital/analog Input/Output setups, relay wiring, and new device power supply simulations.</a:t>
            </a:r>
            <a:endParaRPr lang="en-US" sz="950" dirty="0"/>
          </a:p>
          <a:p>
            <a:r>
              <a:rPr lang="en-US" sz="950" dirty="0">
                <a:solidFill>
                  <a:srgbClr val="FFFFFF"/>
                </a:solidFill>
                <a:latin typeface="Segoe UI" pitchFamily="34" charset="0"/>
                <a:ea typeface="Segoe UI" pitchFamily="34" charset="-122"/>
                <a:cs typeface="Segoe UI" pitchFamily="34" charset="-120"/>
              </a:rPr>
              <a:t>Microcontroller Interface: Custom Python logic controlling Raspberry Pi GPIO pins communicating with secondary IoT microcontrollers.</a:t>
            </a:r>
            <a:endParaRPr lang="en-US" sz="950" dirty="0"/>
          </a:p>
          <a:p>
            <a:r>
              <a:rPr lang="en-US" sz="950" dirty="0">
                <a:solidFill>
                  <a:srgbClr val="FFFFFF"/>
                </a:solidFill>
                <a:latin typeface="Segoe UI" pitchFamily="34" charset="0"/>
                <a:ea typeface="Segoe UI" pitchFamily="34" charset="-122"/>
                <a:cs typeface="Segoe UI" pitchFamily="34" charset="-120"/>
              </a:rPr>
              <a:t>Cloud API Integration: RESTful API-driven data exchange interfacing with external systems and Railway endpoints hosting public datasets for real-time remote monitoring.</a:t>
            </a:r>
            <a:endParaRPr lang="en-US" sz="950" dirty="0"/>
          </a:p>
        </p:txBody>
      </p:sp>
      <p:sp>
        <p:nvSpPr>
          <p:cNvPr id="29" name="Shape 27"/>
          <p:cNvSpPr/>
          <p:nvPr/>
        </p:nvSpPr>
        <p:spPr>
          <a:xfrm>
            <a:off x="5669280" y="4770120"/>
            <a:ext cx="6062472" cy="1676400"/>
          </a:xfrm>
          <a:prstGeom prst="rect">
            <a:avLst>
              <a:gd name="adj" fmla="val 4364"/>
            </a:avLst>
          </a:prstGeom>
          <a:solidFill>
            <a:srgbClr val="1C2541"/>
          </a:solidFill>
          <a:ln w="19050">
            <a:solidFill>
              <a:srgbClr val="10B981"/>
            </a:solidFill>
            <a:prstDash val="solid"/>
          </a:ln>
        </p:spPr>
      </p:sp>
      <p:sp>
        <p:nvSpPr>
          <p:cNvPr id="30" name="Text 28"/>
          <p:cNvSpPr/>
          <p:nvPr/>
        </p:nvSpPr>
        <p:spPr>
          <a:xfrm>
            <a:off x="5806440" y="4815840"/>
            <a:ext cx="578815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31" name="Text 29"/>
          <p:cNvSpPr/>
          <p:nvPr/>
        </p:nvSpPr>
        <p:spPr>
          <a:xfrm>
            <a:off x="5806440" y="5053584"/>
            <a:ext cx="578815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Enables engineers to design, stress-test, and optimize control architectures before physical factory deployment.</a:t>
            </a:r>
            <a:endParaRPr lang="en-US" sz="950" dirty="0"/>
          </a:p>
          <a:p>
            <a:r>
              <a:rPr lang="en-US" sz="950" dirty="0">
                <a:solidFill>
                  <a:srgbClr val="FFFFFF"/>
                </a:solidFill>
                <a:latin typeface="Segoe UI" pitchFamily="34" charset="0"/>
                <a:ea typeface="Segoe UI" pitchFamily="34" charset="-122"/>
                <a:cs typeface="Segoe UI" pitchFamily="34" charset="-120"/>
              </a:rPr>
              <a:t>Reduced field commissioning time by 50% and eliminated wiring/logic safety hazards during hardware installation.</a:t>
            </a:r>
            <a:endParaRPr lang="en-US" sz="950" dirty="0"/>
          </a:p>
          <a:p>
            <a:r>
              <a:rPr lang="en-US" sz="950" dirty="0">
                <a:solidFill>
                  <a:srgbClr val="FFFFFF"/>
                </a:solidFill>
                <a:latin typeface="Segoe UI" pitchFamily="34" charset="0"/>
                <a:ea typeface="Segoe UI" pitchFamily="34" charset="-122"/>
                <a:cs typeface="Segoe UI" pitchFamily="34" charset="-120"/>
              </a:rPr>
              <a:t>Invaluable training platform for technicians validating safety interlocks in a controlled lab environment.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INDUSTRIAL INSTRUMENTATION • PT PUPUK SRIWIDJAJA</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DIFFERENTIAL PRESSURE PROTECTION SYSTEM (ΔP)</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Automated PLC &amp; HMI emergency interlock systems preventing critical chemical plant equipment damage.</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5029200" cy="5212080"/>
          </a:xfrm>
          <a:prstGeom prst="rect">
            <a:avLst>
              <a:gd name="adj" fmla="val 1818"/>
            </a:avLst>
          </a:prstGeom>
          <a:solidFill>
            <a:srgbClr val="0F172A"/>
          </a:solidFill>
          <a:ln w="25400">
            <a:solidFill>
              <a:srgbClr val="F59E0B"/>
            </a:solidFill>
            <a:prstDash val="solid"/>
          </a:ln>
        </p:spPr>
      </p:sp>
      <p:sp>
        <p:nvSpPr>
          <p:cNvPr id="8" name="Text 6"/>
          <p:cNvSpPr/>
          <p:nvPr/>
        </p:nvSpPr>
        <p:spPr>
          <a:xfrm>
            <a:off x="640080" y="1371600"/>
            <a:ext cx="4663440" cy="320040"/>
          </a:xfrm>
          <a:prstGeom prst="rect">
            <a:avLst/>
          </a:prstGeom>
          <a:noFill/>
          <a:ln/>
        </p:spPr>
        <p:txBody>
          <a:bodyPr wrap="square" rtlCol="0" anchor="ctr"/>
          <a:lstStyle/>
          <a:p>
            <a:pPr indent="0" marL="0">
              <a:buNone/>
            </a:pPr>
            <a:r>
              <a:rPr lang="en-US" sz="1300" b="1" dirty="0">
                <a:solidFill>
                  <a:srgbClr val="F59E0B"/>
                </a:solidFill>
              </a:rPr>
              <a:t>⚡ HARDWARE-TO-CLOUD TELEMETRY SCHEMATIC</a:t>
            </a:r>
            <a:endParaRPr lang="en-US" sz="1300" dirty="0"/>
          </a:p>
        </p:txBody>
      </p:sp>
      <p:sp>
        <p:nvSpPr>
          <p:cNvPr id="9" name="Shape 7"/>
          <p:cNvSpPr/>
          <p:nvPr/>
        </p:nvSpPr>
        <p:spPr>
          <a:xfrm>
            <a:off x="685800" y="1783080"/>
            <a:ext cx="4572000" cy="1965960"/>
          </a:xfrm>
          <a:prstGeom prst="rect">
            <a:avLst>
              <a:gd name="adj" fmla="val 2791"/>
            </a:avLst>
          </a:prstGeom>
          <a:solidFill>
            <a:srgbClr val="1C2541"/>
          </a:solidFill>
          <a:ln w="19050">
            <a:solidFill>
              <a:srgbClr val="48CAE4"/>
            </a:solidFill>
            <a:prstDash val="solid"/>
          </a:ln>
        </p:spPr>
      </p:sp>
      <p:sp>
        <p:nvSpPr>
          <p:cNvPr id="10" name="Text 8"/>
          <p:cNvSpPr/>
          <p:nvPr/>
        </p:nvSpPr>
        <p:spPr>
          <a:xfrm>
            <a:off x="822960" y="1874520"/>
            <a:ext cx="4297680" cy="274320"/>
          </a:xfrm>
          <a:prstGeom prst="rect">
            <a:avLst/>
          </a:prstGeom>
          <a:noFill/>
          <a:ln/>
        </p:spPr>
        <p:txBody>
          <a:bodyPr wrap="square" rtlCol="0" anchor="ctr"/>
          <a:lstStyle/>
          <a:p>
            <a:pPr indent="0" marL="0">
              <a:buNone/>
            </a:pPr>
            <a:r>
              <a:rPr lang="en-US" sz="1200" b="1" dirty="0">
                <a:solidFill>
                  <a:srgbClr val="48CAE4"/>
                </a:solidFill>
              </a:rPr>
              <a:t>🔧 Physical Controller / GPIO &amp; Interlock Specs:</a:t>
            </a:r>
            <a:endParaRPr lang="en-US" sz="1200" dirty="0"/>
          </a:p>
        </p:txBody>
      </p:sp>
      <p:sp>
        <p:nvSpPr>
          <p:cNvPr id="11" name="Text 9"/>
          <p:cNvSpPr/>
          <p:nvPr/>
        </p:nvSpPr>
        <p:spPr>
          <a:xfrm>
            <a:off x="822960" y="2194560"/>
            <a:ext cx="4297680" cy="320040"/>
          </a:xfrm>
          <a:prstGeom prst="rect">
            <a:avLst/>
          </a:prstGeom>
          <a:noFill/>
          <a:ln/>
        </p:spPr>
        <p:txBody>
          <a:bodyPr wrap="square" rtlCol="0" anchor="ctr"/>
          <a:lstStyle/>
          <a:p>
            <a:pPr indent="0" marL="0">
              <a:buNone/>
            </a:pPr>
            <a:r>
              <a:rPr lang="en-US" sz="1100" dirty="0">
                <a:solidFill>
                  <a:srgbClr val="FFFFFF"/>
                </a:solidFill>
              </a:rPr>
              <a:t>▪ High-Precision ΔP Sensor Instrumentation Loop</a:t>
            </a:r>
            <a:endParaRPr lang="en-US" sz="1100" dirty="0"/>
          </a:p>
        </p:txBody>
      </p:sp>
      <p:sp>
        <p:nvSpPr>
          <p:cNvPr id="12" name="Text 10"/>
          <p:cNvSpPr/>
          <p:nvPr/>
        </p:nvSpPr>
        <p:spPr>
          <a:xfrm>
            <a:off x="822960" y="2514600"/>
            <a:ext cx="4297680" cy="320040"/>
          </a:xfrm>
          <a:prstGeom prst="rect">
            <a:avLst/>
          </a:prstGeom>
          <a:noFill/>
          <a:ln/>
        </p:spPr>
        <p:txBody>
          <a:bodyPr wrap="square" rtlCol="0" anchor="ctr"/>
          <a:lstStyle/>
          <a:p>
            <a:pPr indent="0" marL="0">
              <a:buNone/>
            </a:pPr>
            <a:r>
              <a:rPr lang="en-US" sz="1100" dirty="0">
                <a:solidFill>
                  <a:srgbClr val="FFFFFF"/>
                </a:solidFill>
              </a:rPr>
              <a:t>▪ Chemical Filter &amp; Piping Pressure Monitoring</a:t>
            </a:r>
            <a:endParaRPr lang="en-US" sz="1100" dirty="0"/>
          </a:p>
        </p:txBody>
      </p:sp>
      <p:sp>
        <p:nvSpPr>
          <p:cNvPr id="13" name="Text 11"/>
          <p:cNvSpPr/>
          <p:nvPr/>
        </p:nvSpPr>
        <p:spPr>
          <a:xfrm>
            <a:off x="822960" y="2834640"/>
            <a:ext cx="4297680" cy="320040"/>
          </a:xfrm>
          <a:prstGeom prst="rect">
            <a:avLst/>
          </a:prstGeom>
          <a:noFill/>
          <a:ln/>
        </p:spPr>
        <p:txBody>
          <a:bodyPr wrap="square" rtlCol="0" anchor="ctr"/>
          <a:lstStyle/>
          <a:p>
            <a:pPr indent="0" marL="0">
              <a:buNone/>
            </a:pPr>
            <a:r>
              <a:rPr lang="en-US" sz="1100" dirty="0">
                <a:solidFill>
                  <a:srgbClr val="FFFFFF"/>
                </a:solidFill>
              </a:rPr>
              <a:t>▪ Programmable Logic Controller (PLC) Wiring</a:t>
            </a:r>
            <a:endParaRPr lang="en-US" sz="1100" dirty="0"/>
          </a:p>
        </p:txBody>
      </p:sp>
      <p:sp>
        <p:nvSpPr>
          <p:cNvPr id="14" name="Text 12"/>
          <p:cNvSpPr/>
          <p:nvPr/>
        </p:nvSpPr>
        <p:spPr>
          <a:xfrm>
            <a:off x="822960" y="3154680"/>
            <a:ext cx="4297680" cy="320040"/>
          </a:xfrm>
          <a:prstGeom prst="rect">
            <a:avLst/>
          </a:prstGeom>
          <a:noFill/>
          <a:ln/>
        </p:spPr>
        <p:txBody>
          <a:bodyPr wrap="square" rtlCol="0" anchor="ctr"/>
          <a:lstStyle/>
          <a:p>
            <a:pPr indent="0" marL="0">
              <a:buNone/>
            </a:pPr>
            <a:r>
              <a:rPr lang="en-US" sz="1100" dirty="0">
                <a:solidFill>
                  <a:srgbClr val="FFFFFF"/>
                </a:solidFill>
              </a:rPr>
              <a:t>▪ Pressure Calibrator &amp; Multimeter Schematics</a:t>
            </a:r>
            <a:endParaRPr lang="en-US" sz="1100" dirty="0"/>
          </a:p>
        </p:txBody>
      </p:sp>
      <p:sp>
        <p:nvSpPr>
          <p:cNvPr id="15" name="Shape 13"/>
          <p:cNvSpPr/>
          <p:nvPr/>
        </p:nvSpPr>
        <p:spPr>
          <a:xfrm>
            <a:off x="1554480" y="3840480"/>
            <a:ext cx="2834640" cy="411480"/>
          </a:xfrm>
          <a:prstGeom prst="rect">
            <a:avLst>
              <a:gd name="adj" fmla="val 11111"/>
            </a:avLst>
          </a:prstGeom>
          <a:solidFill>
            <a:srgbClr val="F59E0B"/>
          </a:solidFill>
          <a:ln/>
        </p:spPr>
      </p:sp>
      <p:sp>
        <p:nvSpPr>
          <p:cNvPr id="16" name="Text 14"/>
          <p:cNvSpPr/>
          <p:nvPr/>
        </p:nvSpPr>
        <p:spPr>
          <a:xfrm>
            <a:off x="1554480" y="3840480"/>
            <a:ext cx="2834640" cy="411480"/>
          </a:xfrm>
          <a:prstGeom prst="rect">
            <a:avLst/>
          </a:prstGeom>
          <a:noFill/>
          <a:ln/>
        </p:spPr>
        <p:txBody>
          <a:bodyPr wrap="square" rtlCol="0" anchor="ctr"/>
          <a:lstStyle/>
          <a:p>
            <a:pPr algn="ctr" indent="0" marL="0">
              <a:buNone/>
            </a:pPr>
            <a:r>
              <a:rPr lang="en-US" sz="1100" b="1" dirty="0">
                <a:solidFill>
                  <a:srgbClr val="0B132B"/>
                </a:solidFill>
              </a:rPr>
              <a:t>🔃 Bidirectional REST API / MQTT Telemetry Stream</a:t>
            </a:r>
            <a:endParaRPr lang="en-US" sz="1100" dirty="0"/>
          </a:p>
        </p:txBody>
      </p:sp>
      <p:sp>
        <p:nvSpPr>
          <p:cNvPr id="17" name="Shape 15"/>
          <p:cNvSpPr/>
          <p:nvPr/>
        </p:nvSpPr>
        <p:spPr>
          <a:xfrm>
            <a:off x="685800" y="4343400"/>
            <a:ext cx="4572000" cy="1920240"/>
          </a:xfrm>
          <a:prstGeom prst="rect">
            <a:avLst>
              <a:gd name="adj" fmla="val 2857"/>
            </a:avLst>
          </a:prstGeom>
          <a:solidFill>
            <a:srgbClr val="1C2541"/>
          </a:solidFill>
          <a:ln w="19050">
            <a:solidFill>
              <a:srgbClr val="10B981"/>
            </a:solidFill>
            <a:prstDash val="solid"/>
          </a:ln>
        </p:spPr>
      </p:sp>
      <p:sp>
        <p:nvSpPr>
          <p:cNvPr id="18" name="Text 16"/>
          <p:cNvSpPr/>
          <p:nvPr/>
        </p:nvSpPr>
        <p:spPr>
          <a:xfrm>
            <a:off x="822960" y="4434840"/>
            <a:ext cx="4297680" cy="274320"/>
          </a:xfrm>
          <a:prstGeom prst="rect">
            <a:avLst/>
          </a:prstGeom>
          <a:noFill/>
          <a:ln/>
        </p:spPr>
        <p:txBody>
          <a:bodyPr wrap="square" rtlCol="0" anchor="ctr"/>
          <a:lstStyle/>
          <a:p>
            <a:pPr indent="0" marL="0">
              <a:buNone/>
            </a:pPr>
            <a:r>
              <a:rPr lang="en-US" sz="1200" b="1" dirty="0">
                <a:solidFill>
                  <a:srgbClr val="10B981"/>
                </a:solidFill>
              </a:rPr>
              <a:t>🌐 Remote Railway Cloud &amp; Telemetry Endpoints:</a:t>
            </a:r>
            <a:endParaRPr lang="en-US" sz="1200" dirty="0"/>
          </a:p>
        </p:txBody>
      </p:sp>
      <p:sp>
        <p:nvSpPr>
          <p:cNvPr id="19" name="Text 17"/>
          <p:cNvSpPr/>
          <p:nvPr/>
        </p:nvSpPr>
        <p:spPr>
          <a:xfrm>
            <a:off x="822960" y="4754880"/>
            <a:ext cx="4297680" cy="320040"/>
          </a:xfrm>
          <a:prstGeom prst="rect">
            <a:avLst/>
          </a:prstGeom>
          <a:noFill/>
          <a:ln/>
        </p:spPr>
        <p:txBody>
          <a:bodyPr wrap="square" rtlCol="0" anchor="ctr"/>
          <a:lstStyle/>
          <a:p>
            <a:pPr indent="0" marL="0">
              <a:buNone/>
            </a:pPr>
            <a:r>
              <a:rPr lang="en-US" sz="1100" dirty="0">
                <a:solidFill>
                  <a:srgbClr val="FFFFFF"/>
                </a:solidFill>
              </a:rPr>
              <a:t>▪ Human-Machine Interface (HMI) Real-Time Alerts</a:t>
            </a:r>
            <a:endParaRPr lang="en-US" sz="1100" dirty="0"/>
          </a:p>
        </p:txBody>
      </p:sp>
      <p:sp>
        <p:nvSpPr>
          <p:cNvPr id="20" name="Text 18"/>
          <p:cNvSpPr/>
          <p:nvPr/>
        </p:nvSpPr>
        <p:spPr>
          <a:xfrm>
            <a:off x="822960" y="5074920"/>
            <a:ext cx="4297680" cy="320040"/>
          </a:xfrm>
          <a:prstGeom prst="rect">
            <a:avLst/>
          </a:prstGeom>
          <a:noFill/>
          <a:ln/>
        </p:spPr>
        <p:txBody>
          <a:bodyPr wrap="square" rtlCol="0" anchor="ctr"/>
          <a:lstStyle/>
          <a:p>
            <a:pPr indent="0" marL="0">
              <a:buNone/>
            </a:pPr>
            <a:r>
              <a:rPr lang="en-US" sz="1100" dirty="0">
                <a:solidFill>
                  <a:srgbClr val="FFFFFF"/>
                </a:solidFill>
              </a:rPr>
              <a:t>▪ Automated Emergency Shutdown Sequence (ESD)</a:t>
            </a:r>
            <a:endParaRPr lang="en-US" sz="1100" dirty="0"/>
          </a:p>
        </p:txBody>
      </p:sp>
      <p:sp>
        <p:nvSpPr>
          <p:cNvPr id="21" name="Text 19"/>
          <p:cNvSpPr/>
          <p:nvPr/>
        </p:nvSpPr>
        <p:spPr>
          <a:xfrm>
            <a:off x="822960" y="5394960"/>
            <a:ext cx="4297680" cy="320040"/>
          </a:xfrm>
          <a:prstGeom prst="rect">
            <a:avLst/>
          </a:prstGeom>
          <a:noFill/>
          <a:ln/>
        </p:spPr>
        <p:txBody>
          <a:bodyPr wrap="square" rtlCol="0" anchor="ctr"/>
          <a:lstStyle/>
          <a:p>
            <a:pPr indent="0" marL="0">
              <a:buNone/>
            </a:pPr>
            <a:r>
              <a:rPr lang="en-US" sz="1100" dirty="0">
                <a:solidFill>
                  <a:srgbClr val="FFFFFF"/>
                </a:solidFill>
              </a:rPr>
              <a:t>▪ 100% Prevention of Critical Equipment Damage</a:t>
            </a:r>
            <a:endParaRPr lang="en-US" sz="1100" dirty="0"/>
          </a:p>
        </p:txBody>
      </p:sp>
      <p:sp>
        <p:nvSpPr>
          <p:cNvPr id="22" name="Text 20"/>
          <p:cNvSpPr/>
          <p:nvPr/>
        </p:nvSpPr>
        <p:spPr>
          <a:xfrm>
            <a:off x="822960" y="5715000"/>
            <a:ext cx="4297680" cy="320040"/>
          </a:xfrm>
          <a:prstGeom prst="rect">
            <a:avLst/>
          </a:prstGeom>
          <a:noFill/>
          <a:ln/>
        </p:spPr>
        <p:txBody>
          <a:bodyPr wrap="square" rtlCol="0" anchor="ctr"/>
          <a:lstStyle/>
          <a:p>
            <a:pPr indent="0" marL="0">
              <a:buNone/>
            </a:pPr>
            <a:r>
              <a:rPr lang="en-US" sz="1100" dirty="0">
                <a:solidFill>
                  <a:srgbClr val="FFFFFF"/>
                </a:solidFill>
              </a:rPr>
              <a:t>▪ Strict Compliance with Industrial Safety SOPs</a:t>
            </a:r>
            <a:endParaRPr lang="en-US" sz="1100" dirty="0"/>
          </a:p>
        </p:txBody>
      </p:sp>
      <p:sp>
        <p:nvSpPr>
          <p:cNvPr id="23" name="Shape 21"/>
          <p:cNvSpPr/>
          <p:nvPr/>
        </p:nvSpPr>
        <p:spPr>
          <a:xfrm>
            <a:off x="5669280" y="1234440"/>
            <a:ext cx="6062472" cy="1676400"/>
          </a:xfrm>
          <a:prstGeom prst="rect">
            <a:avLst>
              <a:gd name="adj" fmla="val 4364"/>
            </a:avLst>
          </a:prstGeom>
          <a:solidFill>
            <a:srgbClr val="1C2541"/>
          </a:solidFill>
          <a:ln w="19050">
            <a:solidFill>
              <a:srgbClr val="48CAE4"/>
            </a:solidFill>
            <a:prstDash val="solid"/>
          </a:ln>
        </p:spPr>
      </p:sp>
      <p:sp>
        <p:nvSpPr>
          <p:cNvPr id="24" name="Text 22"/>
          <p:cNvSpPr/>
          <p:nvPr/>
        </p:nvSpPr>
        <p:spPr>
          <a:xfrm>
            <a:off x="5806440" y="1280160"/>
            <a:ext cx="578815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25" name="Text 23"/>
          <p:cNvSpPr/>
          <p:nvPr/>
        </p:nvSpPr>
        <p:spPr>
          <a:xfrm>
            <a:off x="5806440" y="1517904"/>
            <a:ext cx="578815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Analyzed and maintained differential pressure (ΔP) instrumentation within industrial protection circuits in chemical processing units.</a:t>
            </a:r>
            <a:endParaRPr lang="en-US" sz="950" dirty="0"/>
          </a:p>
          <a:p>
            <a:r>
              <a:rPr lang="en-US" sz="950" dirty="0">
                <a:solidFill>
                  <a:srgbClr val="FFFFFF"/>
                </a:solidFill>
                <a:latin typeface="Segoe UI" pitchFamily="34" charset="0"/>
                <a:ea typeface="Segoe UI" pitchFamily="34" charset="-122"/>
                <a:cs typeface="Segoe UI" pitchFamily="34" charset="-120"/>
              </a:rPr>
              <a:t>Monitored critical flow conditions, fluid levels, and structural integrity across heavy industrial filters and piping networks.</a:t>
            </a:r>
            <a:endParaRPr lang="en-US" sz="950" dirty="0"/>
          </a:p>
          <a:p>
            <a:r>
              <a:rPr lang="en-US" sz="950" dirty="0">
                <a:solidFill>
                  <a:srgbClr val="FFFFFF"/>
                </a:solidFill>
                <a:latin typeface="Segoe UI" pitchFamily="34" charset="0"/>
                <a:ea typeface="Segoe UI" pitchFamily="34" charset="-122"/>
                <a:cs typeface="Segoe UI" pitchFamily="34" charset="-120"/>
              </a:rPr>
              <a:t>Directly impacted operational plant safety and chemical processing reliability at PT Pupuk Sriwidjaja.</a:t>
            </a:r>
            <a:endParaRPr lang="en-US" sz="950" dirty="0"/>
          </a:p>
        </p:txBody>
      </p:sp>
      <p:sp>
        <p:nvSpPr>
          <p:cNvPr id="26" name="Shape 24"/>
          <p:cNvSpPr/>
          <p:nvPr/>
        </p:nvSpPr>
        <p:spPr>
          <a:xfrm>
            <a:off x="5669280" y="3002280"/>
            <a:ext cx="6062472" cy="1676400"/>
          </a:xfrm>
          <a:prstGeom prst="rect">
            <a:avLst>
              <a:gd name="adj" fmla="val 4364"/>
            </a:avLst>
          </a:prstGeom>
          <a:solidFill>
            <a:srgbClr val="1C2541"/>
          </a:solidFill>
          <a:ln w="19050">
            <a:solidFill>
              <a:srgbClr val="F59E0B"/>
            </a:solidFill>
            <a:prstDash val="solid"/>
          </a:ln>
        </p:spPr>
      </p:sp>
      <p:sp>
        <p:nvSpPr>
          <p:cNvPr id="27" name="Text 25"/>
          <p:cNvSpPr/>
          <p:nvPr/>
        </p:nvSpPr>
        <p:spPr>
          <a:xfrm>
            <a:off x="5806440" y="3048000"/>
            <a:ext cx="578815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28" name="Text 26"/>
          <p:cNvSpPr/>
          <p:nvPr/>
        </p:nvSpPr>
        <p:spPr>
          <a:xfrm>
            <a:off x="5806440" y="3285744"/>
            <a:ext cx="578815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Anomaly Detection Loop: High-precision ΔP sensors detecting abnormal conditions such as pipeline blockages, fluid leaks, or sharp pressure drops.</a:t>
            </a:r>
            <a:endParaRPr lang="en-US" sz="950" dirty="0"/>
          </a:p>
          <a:p>
            <a:r>
              <a:rPr lang="en-US" sz="950" dirty="0">
                <a:solidFill>
                  <a:srgbClr val="FFFFFF"/>
                </a:solidFill>
                <a:latin typeface="Segoe UI" pitchFamily="34" charset="0"/>
                <a:ea typeface="Segoe UI" pitchFamily="34" charset="-122"/>
                <a:cs typeface="Segoe UI" pitchFamily="34" charset="-120"/>
              </a:rPr>
              <a:t>Automated Protection Mechanisms: Sensor triggers wired to Programmable Logic Controllers (PLC) and Human-Machine Interfaces (HMI) to initiate immediate emergency shutdown sequences.</a:t>
            </a:r>
            <a:endParaRPr lang="en-US" sz="950" dirty="0"/>
          </a:p>
          <a:p>
            <a:r>
              <a:rPr lang="en-US" sz="950" dirty="0">
                <a:solidFill>
                  <a:srgbClr val="FFFFFF"/>
                </a:solidFill>
                <a:latin typeface="Segoe UI" pitchFamily="34" charset="0"/>
                <a:ea typeface="Segoe UI" pitchFamily="34" charset="-122"/>
                <a:cs typeface="Segoe UI" pitchFamily="34" charset="-120"/>
              </a:rPr>
              <a:t>Tools &amp; Maintenance: Pressure Calibrators, Multimeters, Wiring Schematics analysis, and adherence to strict Industrial SOPs.</a:t>
            </a:r>
            <a:endParaRPr lang="en-US" sz="950" dirty="0"/>
          </a:p>
        </p:txBody>
      </p:sp>
      <p:sp>
        <p:nvSpPr>
          <p:cNvPr id="29" name="Shape 27"/>
          <p:cNvSpPr/>
          <p:nvPr/>
        </p:nvSpPr>
        <p:spPr>
          <a:xfrm>
            <a:off x="5669280" y="4770120"/>
            <a:ext cx="6062472" cy="1676400"/>
          </a:xfrm>
          <a:prstGeom prst="rect">
            <a:avLst>
              <a:gd name="adj" fmla="val 4364"/>
            </a:avLst>
          </a:prstGeom>
          <a:solidFill>
            <a:srgbClr val="1C2541"/>
          </a:solidFill>
          <a:ln w="19050">
            <a:solidFill>
              <a:srgbClr val="10B981"/>
            </a:solidFill>
            <a:prstDash val="solid"/>
          </a:ln>
        </p:spPr>
      </p:sp>
      <p:sp>
        <p:nvSpPr>
          <p:cNvPr id="30" name="Text 28"/>
          <p:cNvSpPr/>
          <p:nvPr/>
        </p:nvSpPr>
        <p:spPr>
          <a:xfrm>
            <a:off x="5806440" y="4815840"/>
            <a:ext cx="578815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31" name="Text 29"/>
          <p:cNvSpPr/>
          <p:nvPr/>
        </p:nvSpPr>
        <p:spPr>
          <a:xfrm>
            <a:off x="5806440" y="5053584"/>
            <a:ext cx="578815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100% prevention of critical equipment damage and hazardous chemical overpressure situations during operational tenure.</a:t>
            </a:r>
            <a:endParaRPr lang="en-US" sz="950" dirty="0"/>
          </a:p>
          <a:p>
            <a:r>
              <a:rPr lang="en-US" sz="950" dirty="0">
                <a:solidFill>
                  <a:srgbClr val="FFFFFF"/>
                </a:solidFill>
                <a:latin typeface="Segoe UI" pitchFamily="34" charset="0"/>
                <a:ea typeface="Segoe UI" pitchFamily="34" charset="-122"/>
                <a:cs typeface="Segoe UI" pitchFamily="34" charset="-120"/>
              </a:rPr>
              <a:t>Demonstrated hands-on engineering capability bridging industrial electrical schematics with high-level software monitoring.</a:t>
            </a:r>
            <a:endParaRPr lang="en-US" sz="950" dirty="0"/>
          </a:p>
          <a:p>
            <a:r>
              <a:rPr lang="en-US" sz="950" dirty="0">
                <a:solidFill>
                  <a:srgbClr val="FFFFFF"/>
                </a:solidFill>
                <a:latin typeface="Segoe UI" pitchFamily="34" charset="0"/>
                <a:ea typeface="Segoe UI" pitchFamily="34" charset="-122"/>
                <a:cs typeface="Segoe UI" pitchFamily="34" charset="-120"/>
              </a:rPr>
              <a:t>Deepened institutional knowledge of preventive maintenance and repair loops in heavy chemical manufacturing.</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EDTECH PLATFORM • MERN STACK &amp; D3.JS</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iSMART EDUCATION CENTER WEB APP</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Interactive video/audio gamified lessons + D3.js interactive data visualizations + custom MERN CMS.</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iSmart Education Gamified Learning Portal</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Bite-Sized Lessons</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D3.js Charts</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Audio/Video Stream</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Employee Attendance</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Student Path</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Redux Store</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Interactive Student Curriculum &amp; Attendance Engine</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Gamified Structure</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Duolingo-Style</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Data Visualization</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D3.js Interactive</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Backend Architecture</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MERN + MySQL</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Attendance Engine</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Staff &amp; Student</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Comprehensive digital education platform engineered to streamline student learning, class scheduling, and employee attendance.</a:t>
            </a:r>
            <a:endParaRPr lang="en-US" sz="950" dirty="0"/>
          </a:p>
          <a:p>
            <a:r>
              <a:rPr lang="en-US" sz="950" dirty="0">
                <a:solidFill>
                  <a:srgbClr val="FFFFFF"/>
                </a:solidFill>
                <a:latin typeface="Segoe UI" pitchFamily="34" charset="0"/>
                <a:ea typeface="Segoe UI" pitchFamily="34" charset="-122"/>
                <a:cs typeface="Segoe UI" pitchFamily="34" charset="-120"/>
              </a:rPr>
              <a:t>Inspired by user-friendly, gamified edtech models like Duolingo, offering bite-sized interactive lessons.</a:t>
            </a:r>
            <a:endParaRPr lang="en-US" sz="950" dirty="0"/>
          </a:p>
          <a:p>
            <a:r>
              <a:rPr lang="en-US" sz="950" dirty="0">
                <a:solidFill>
                  <a:srgbClr val="FFFFFF"/>
                </a:solidFill>
                <a:latin typeface="Segoe UI" pitchFamily="34" charset="0"/>
                <a:ea typeface="Segoe UI" pitchFamily="34" charset="-122"/>
                <a:cs typeface="Segoe UI" pitchFamily="34" charset="-120"/>
              </a:rPr>
              <a:t>Combines student curriculum paths with internal employee attendance tracking in one portal.</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Built from scratch using MERN Stack (Node.js, Express.js, React.js, MongoDB) and relational MySQL databases.</a:t>
            </a:r>
            <a:endParaRPr lang="en-US" sz="950" dirty="0"/>
          </a:p>
          <a:p>
            <a:r>
              <a:rPr lang="en-US" sz="950" dirty="0">
                <a:solidFill>
                  <a:srgbClr val="FFFFFF"/>
                </a:solidFill>
                <a:latin typeface="Segoe UI" pitchFamily="34" charset="0"/>
                <a:ea typeface="Segoe UI" pitchFamily="34" charset="-122"/>
                <a:cs typeface="Segoe UI" pitchFamily="34" charset="-120"/>
              </a:rPr>
              <a:t>Frontend: Responsive UI built with React, Redux state management, and Bootstrap styling.</a:t>
            </a:r>
            <a:endParaRPr lang="en-US" sz="950" dirty="0"/>
          </a:p>
          <a:p>
            <a:r>
              <a:rPr lang="en-US" sz="950" dirty="0">
                <a:solidFill>
                  <a:srgbClr val="FFFFFF"/>
                </a:solidFill>
                <a:latin typeface="Segoe UI" pitchFamily="34" charset="0"/>
                <a:ea typeface="Segoe UI" pitchFamily="34" charset="-122"/>
                <a:cs typeface="Segoe UI" pitchFamily="34" charset="-120"/>
              </a:rPr>
              <a:t>Interactive Analytics: Combined D3.js data visualization library with React components to render dynamic student progression charts and automated feedback loops.</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Bite-sized, gamified lesson structure significantly boosted student completion rates and self-paced retention.</a:t>
            </a:r>
            <a:endParaRPr lang="en-US" sz="950" dirty="0"/>
          </a:p>
          <a:p>
            <a:r>
              <a:rPr lang="en-US" sz="950" dirty="0">
                <a:solidFill>
                  <a:srgbClr val="FFFFFF"/>
                </a:solidFill>
                <a:latin typeface="Segoe UI" pitchFamily="34" charset="0"/>
                <a:ea typeface="Segoe UI" pitchFamily="34" charset="-122"/>
                <a:cs typeface="Segoe UI" pitchFamily="34" charset="-120"/>
              </a:rPr>
              <a:t>Empowered educators and parents with real-time visual progress dashboards accessible across all mobile and desktop devices.</a:t>
            </a:r>
            <a:endParaRPr lang="en-US" sz="950" dirty="0"/>
          </a:p>
          <a:p>
            <a:r>
              <a:rPr lang="en-US" sz="950" dirty="0">
                <a:solidFill>
                  <a:srgbClr val="FFFFFF"/>
                </a:solidFill>
                <a:latin typeface="Segoe UI" pitchFamily="34" charset="0"/>
                <a:ea typeface="Segoe UI" pitchFamily="34" charset="-122"/>
                <a:cs typeface="Segoe UI" pitchFamily="34" charset="-120"/>
              </a:rPr>
              <a:t>Streamlined internal employee attendance and class scheduling, eliminating manual administrative paperwork.</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MOBILE-FIRST WEB APPLICATION • REACT CONTEXT</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LEARN QURAN TAFSIR &amp; TADABUR APP</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Zero-lag React Context accordions (Accordion 1, 2, 3) and instant keyword exploration UI inspired by Google.</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Text 6"/>
          <p:cNvSpPr/>
          <p:nvPr/>
        </p:nvSpPr>
        <p:spPr>
          <a:xfrm>
            <a:off x="640080" y="1344168"/>
            <a:ext cx="4023360" cy="274320"/>
          </a:xfrm>
          <a:prstGeom prst="rect">
            <a:avLst/>
          </a:prstGeom>
          <a:noFill/>
          <a:ln/>
        </p:spPr>
        <p:txBody>
          <a:bodyPr wrap="square" rtlCol="0" anchor="ctr"/>
          <a:lstStyle/>
          <a:p>
            <a:pPr indent="0" marL="0">
              <a:buNone/>
            </a:pPr>
            <a:r>
              <a:rPr lang="en-US" sz="1200" b="1" dirty="0">
                <a:solidFill>
                  <a:srgbClr val="48CAE4"/>
                </a:solidFill>
              </a:rPr>
              <a:t>📱 DUAL MOBILE / CLIENT PORTAL WIREFRAME</a:t>
            </a:r>
            <a:endParaRPr lang="en-US" sz="1200" dirty="0"/>
          </a:p>
        </p:txBody>
      </p:sp>
      <p:sp>
        <p:nvSpPr>
          <p:cNvPr id="9" name="Shape 7"/>
          <p:cNvSpPr/>
          <p:nvPr/>
        </p:nvSpPr>
        <p:spPr>
          <a:xfrm>
            <a:off x="685800" y="1691640"/>
            <a:ext cx="1828800" cy="4526280"/>
          </a:xfrm>
          <a:prstGeom prst="rect">
            <a:avLst>
              <a:gd name="adj" fmla="val 7500"/>
            </a:avLst>
          </a:prstGeom>
          <a:solidFill>
            <a:srgbClr val="1C2541"/>
          </a:solidFill>
          <a:ln w="19050">
            <a:solidFill>
              <a:srgbClr val="48CAE4"/>
            </a:solidFill>
            <a:prstDash val="solid"/>
          </a:ln>
        </p:spPr>
      </p:sp>
      <p:sp>
        <p:nvSpPr>
          <p:cNvPr id="10" name="Shape 8"/>
          <p:cNvSpPr/>
          <p:nvPr/>
        </p:nvSpPr>
        <p:spPr>
          <a:xfrm>
            <a:off x="1325880" y="1783080"/>
            <a:ext cx="548640" cy="73152"/>
          </a:xfrm>
          <a:prstGeom prst="rect">
            <a:avLst>
              <a:gd name="adj" fmla="val 37500"/>
            </a:avLst>
          </a:prstGeom>
          <a:solidFill>
            <a:srgbClr val="48CAE4"/>
          </a:solidFill>
          <a:ln/>
        </p:spPr>
      </p:sp>
      <p:sp>
        <p:nvSpPr>
          <p:cNvPr id="11" name="Text 9"/>
          <p:cNvSpPr/>
          <p:nvPr/>
        </p:nvSpPr>
        <p:spPr>
          <a:xfrm>
            <a:off x="731520" y="1920240"/>
            <a:ext cx="1737360" cy="320040"/>
          </a:xfrm>
          <a:prstGeom prst="rect">
            <a:avLst/>
          </a:prstGeom>
          <a:noFill/>
          <a:ln/>
        </p:spPr>
        <p:txBody>
          <a:bodyPr wrap="square" rtlCol="0" anchor="ctr"/>
          <a:lstStyle/>
          <a:p>
            <a:pPr algn="ctr" indent="0" marL="0">
              <a:buNone/>
            </a:pPr>
            <a:r>
              <a:rPr lang="en-US" sz="1100" b="1" dirty="0">
                <a:solidFill>
                  <a:srgbClr val="48CAE4"/>
                </a:solidFill>
              </a:rPr>
              <a:t>Main Search &amp; Topic Navigation</a:t>
            </a:r>
            <a:endParaRPr lang="en-US" sz="1100" dirty="0"/>
          </a:p>
        </p:txBody>
      </p:sp>
      <p:sp>
        <p:nvSpPr>
          <p:cNvPr id="12" name="Shape 10"/>
          <p:cNvSpPr/>
          <p:nvPr/>
        </p:nvSpPr>
        <p:spPr>
          <a:xfrm>
            <a:off x="777240" y="2377440"/>
            <a:ext cx="1645920" cy="594360"/>
          </a:xfrm>
          <a:prstGeom prst="rect">
            <a:avLst>
              <a:gd name="adj" fmla="val 7692"/>
            </a:avLst>
          </a:prstGeom>
          <a:solidFill>
            <a:srgbClr val="0B132B"/>
          </a:solidFill>
          <a:ln w="12700">
            <a:solidFill>
              <a:srgbClr val="2D3748"/>
            </a:solidFill>
            <a:prstDash val="solid"/>
          </a:ln>
        </p:spPr>
      </p:sp>
      <p:sp>
        <p:nvSpPr>
          <p:cNvPr id="13" name="Text 11"/>
          <p:cNvSpPr/>
          <p:nvPr/>
        </p:nvSpPr>
        <p:spPr>
          <a:xfrm>
            <a:off x="822960" y="2377440"/>
            <a:ext cx="1554480" cy="594360"/>
          </a:xfrm>
          <a:prstGeom prst="rect">
            <a:avLst/>
          </a:prstGeom>
          <a:noFill/>
          <a:ln/>
        </p:spPr>
        <p:txBody>
          <a:bodyPr wrap="square" rtlCol="0" anchor="ctr"/>
          <a:lstStyle/>
          <a:p>
            <a:pPr algn="ctr" indent="0" marL="0">
              <a:buNone/>
            </a:pPr>
            <a:r>
              <a:rPr lang="en-US" sz="1000" dirty="0">
                <a:solidFill>
                  <a:srgbClr val="FFFFFF"/>
                </a:solidFill>
              </a:rPr>
              <a:t>Instant Search Bar (Keyword Engine)</a:t>
            </a:r>
            <a:endParaRPr lang="en-US" sz="1000" dirty="0"/>
          </a:p>
        </p:txBody>
      </p:sp>
      <p:sp>
        <p:nvSpPr>
          <p:cNvPr id="14" name="Shape 12"/>
          <p:cNvSpPr/>
          <p:nvPr/>
        </p:nvSpPr>
        <p:spPr>
          <a:xfrm>
            <a:off x="777240" y="3154680"/>
            <a:ext cx="1645920" cy="594360"/>
          </a:xfrm>
          <a:prstGeom prst="rect">
            <a:avLst>
              <a:gd name="adj" fmla="val 7692"/>
            </a:avLst>
          </a:prstGeom>
          <a:solidFill>
            <a:srgbClr val="0B132B"/>
          </a:solidFill>
          <a:ln w="12700">
            <a:solidFill>
              <a:srgbClr val="2D3748"/>
            </a:solidFill>
            <a:prstDash val="solid"/>
          </a:ln>
        </p:spPr>
      </p:sp>
      <p:sp>
        <p:nvSpPr>
          <p:cNvPr id="15" name="Text 13"/>
          <p:cNvSpPr/>
          <p:nvPr/>
        </p:nvSpPr>
        <p:spPr>
          <a:xfrm>
            <a:off x="822960" y="3154680"/>
            <a:ext cx="1554480" cy="594360"/>
          </a:xfrm>
          <a:prstGeom prst="rect">
            <a:avLst/>
          </a:prstGeom>
          <a:noFill/>
          <a:ln/>
        </p:spPr>
        <p:txBody>
          <a:bodyPr wrap="square" rtlCol="0" anchor="ctr"/>
          <a:lstStyle/>
          <a:p>
            <a:pPr algn="ctr" indent="0" marL="0">
              <a:buNone/>
            </a:pPr>
            <a:r>
              <a:rPr lang="en-US" sz="1000" dirty="0">
                <a:solidFill>
                  <a:srgbClr val="FFFFFF"/>
                </a:solidFill>
              </a:rPr>
              <a:t>Structured Topic Dropdown Selects</a:t>
            </a:r>
            <a:endParaRPr lang="en-US" sz="1000" dirty="0"/>
          </a:p>
        </p:txBody>
      </p:sp>
      <p:sp>
        <p:nvSpPr>
          <p:cNvPr id="16" name="Shape 14"/>
          <p:cNvSpPr/>
          <p:nvPr/>
        </p:nvSpPr>
        <p:spPr>
          <a:xfrm>
            <a:off x="777240" y="3931920"/>
            <a:ext cx="1645920" cy="594360"/>
          </a:xfrm>
          <a:prstGeom prst="rect">
            <a:avLst>
              <a:gd name="adj" fmla="val 7692"/>
            </a:avLst>
          </a:prstGeom>
          <a:solidFill>
            <a:srgbClr val="0B132B"/>
          </a:solidFill>
          <a:ln w="12700">
            <a:solidFill>
              <a:srgbClr val="2D3748"/>
            </a:solidFill>
            <a:prstDash val="solid"/>
          </a:ln>
        </p:spPr>
      </p:sp>
      <p:sp>
        <p:nvSpPr>
          <p:cNvPr id="17" name="Text 15"/>
          <p:cNvSpPr/>
          <p:nvPr/>
        </p:nvSpPr>
        <p:spPr>
          <a:xfrm>
            <a:off x="822960" y="3931920"/>
            <a:ext cx="1554480" cy="594360"/>
          </a:xfrm>
          <a:prstGeom prst="rect">
            <a:avLst/>
          </a:prstGeom>
          <a:noFill/>
          <a:ln/>
        </p:spPr>
        <p:txBody>
          <a:bodyPr wrap="square" rtlCol="0" anchor="ctr"/>
          <a:lstStyle/>
          <a:p>
            <a:pPr algn="ctr" indent="0" marL="0">
              <a:buNone/>
            </a:pPr>
            <a:r>
              <a:rPr lang="en-US" sz="1000" dirty="0">
                <a:solidFill>
                  <a:srgbClr val="FFFFFF"/>
                </a:solidFill>
              </a:rPr>
              <a:t>Minimalist Google-Style Interface</a:t>
            </a:r>
            <a:endParaRPr lang="en-US" sz="1000" dirty="0"/>
          </a:p>
        </p:txBody>
      </p:sp>
      <p:sp>
        <p:nvSpPr>
          <p:cNvPr id="18" name="Shape 16"/>
          <p:cNvSpPr/>
          <p:nvPr/>
        </p:nvSpPr>
        <p:spPr>
          <a:xfrm>
            <a:off x="777240" y="4709160"/>
            <a:ext cx="1645920" cy="594360"/>
          </a:xfrm>
          <a:prstGeom prst="rect">
            <a:avLst>
              <a:gd name="adj" fmla="val 7692"/>
            </a:avLst>
          </a:prstGeom>
          <a:solidFill>
            <a:srgbClr val="0B132B"/>
          </a:solidFill>
          <a:ln w="12700">
            <a:solidFill>
              <a:srgbClr val="2D3748"/>
            </a:solidFill>
            <a:prstDash val="solid"/>
          </a:ln>
        </p:spPr>
      </p:sp>
      <p:sp>
        <p:nvSpPr>
          <p:cNvPr id="19" name="Text 17"/>
          <p:cNvSpPr/>
          <p:nvPr/>
        </p:nvSpPr>
        <p:spPr>
          <a:xfrm>
            <a:off x="822960" y="4709160"/>
            <a:ext cx="1554480" cy="594360"/>
          </a:xfrm>
          <a:prstGeom prst="rect">
            <a:avLst/>
          </a:prstGeom>
          <a:noFill/>
          <a:ln/>
        </p:spPr>
        <p:txBody>
          <a:bodyPr wrap="square" rtlCol="0" anchor="ctr"/>
          <a:lstStyle/>
          <a:p>
            <a:pPr algn="ctr" indent="0" marL="0">
              <a:buNone/>
            </a:pPr>
            <a:r>
              <a:rPr lang="en-US" sz="1000" dirty="0">
                <a:solidFill>
                  <a:srgbClr val="FFFFFF"/>
                </a:solidFill>
              </a:rPr>
              <a:t>Bottom Bar: Beranda, Topik, Tadabur</a:t>
            </a:r>
            <a:endParaRPr lang="en-US" sz="1000" dirty="0"/>
          </a:p>
        </p:txBody>
      </p:sp>
      <p:sp>
        <p:nvSpPr>
          <p:cNvPr id="20" name="Shape 18"/>
          <p:cNvSpPr/>
          <p:nvPr/>
        </p:nvSpPr>
        <p:spPr>
          <a:xfrm>
            <a:off x="2788920" y="1691640"/>
            <a:ext cx="1828800" cy="4526280"/>
          </a:xfrm>
          <a:prstGeom prst="rect">
            <a:avLst>
              <a:gd name="adj" fmla="val 7500"/>
            </a:avLst>
          </a:prstGeom>
          <a:solidFill>
            <a:srgbClr val="1C2541"/>
          </a:solidFill>
          <a:ln w="19050">
            <a:solidFill>
              <a:srgbClr val="10B981"/>
            </a:solidFill>
            <a:prstDash val="solid"/>
          </a:ln>
        </p:spPr>
      </p:sp>
      <p:sp>
        <p:nvSpPr>
          <p:cNvPr id="21" name="Shape 19"/>
          <p:cNvSpPr/>
          <p:nvPr/>
        </p:nvSpPr>
        <p:spPr>
          <a:xfrm>
            <a:off x="3429000" y="1783080"/>
            <a:ext cx="548640" cy="73152"/>
          </a:xfrm>
          <a:prstGeom prst="rect">
            <a:avLst>
              <a:gd name="adj" fmla="val 37500"/>
            </a:avLst>
          </a:prstGeom>
          <a:solidFill>
            <a:srgbClr val="10B981"/>
          </a:solidFill>
          <a:ln/>
        </p:spPr>
      </p:sp>
      <p:sp>
        <p:nvSpPr>
          <p:cNvPr id="22" name="Text 20"/>
          <p:cNvSpPr/>
          <p:nvPr/>
        </p:nvSpPr>
        <p:spPr>
          <a:xfrm>
            <a:off x="2834640" y="1920240"/>
            <a:ext cx="1737360" cy="320040"/>
          </a:xfrm>
          <a:prstGeom prst="rect">
            <a:avLst/>
          </a:prstGeom>
          <a:noFill/>
          <a:ln/>
        </p:spPr>
        <p:txBody>
          <a:bodyPr wrap="square" rtlCol="0" anchor="ctr"/>
          <a:lstStyle/>
          <a:p>
            <a:pPr algn="ctr" indent="0" marL="0">
              <a:buNone/>
            </a:pPr>
            <a:r>
              <a:rPr lang="en-US" sz="1100" b="1" dirty="0">
                <a:solidFill>
                  <a:srgbClr val="10B981"/>
                </a:solidFill>
              </a:rPr>
              <a:t>Accordion &amp; Tafsir Reader State</a:t>
            </a:r>
            <a:endParaRPr lang="en-US" sz="1100" dirty="0"/>
          </a:p>
        </p:txBody>
      </p:sp>
      <p:sp>
        <p:nvSpPr>
          <p:cNvPr id="23" name="Shape 21"/>
          <p:cNvSpPr/>
          <p:nvPr/>
        </p:nvSpPr>
        <p:spPr>
          <a:xfrm>
            <a:off x="2880360" y="2377440"/>
            <a:ext cx="1645920" cy="594360"/>
          </a:xfrm>
          <a:prstGeom prst="rect">
            <a:avLst>
              <a:gd name="adj" fmla="val 7692"/>
            </a:avLst>
          </a:prstGeom>
          <a:solidFill>
            <a:srgbClr val="0B132B"/>
          </a:solidFill>
          <a:ln w="12700">
            <a:solidFill>
              <a:srgbClr val="2D3748"/>
            </a:solidFill>
            <a:prstDash val="solid"/>
          </a:ln>
        </p:spPr>
      </p:sp>
      <p:sp>
        <p:nvSpPr>
          <p:cNvPr id="24" name="Text 22"/>
          <p:cNvSpPr/>
          <p:nvPr/>
        </p:nvSpPr>
        <p:spPr>
          <a:xfrm>
            <a:off x="2926080" y="2377440"/>
            <a:ext cx="1554480" cy="594360"/>
          </a:xfrm>
          <a:prstGeom prst="rect">
            <a:avLst/>
          </a:prstGeom>
          <a:noFill/>
          <a:ln/>
        </p:spPr>
        <p:txBody>
          <a:bodyPr wrap="square" rtlCol="0" anchor="ctr"/>
          <a:lstStyle/>
          <a:p>
            <a:pPr algn="ctr" indent="0" marL="0">
              <a:buNone/>
            </a:pPr>
            <a:r>
              <a:rPr lang="en-US" sz="1000" dirty="0">
                <a:solidFill>
                  <a:srgbClr val="FFFFFF"/>
                </a:solidFill>
              </a:rPr>
              <a:t>Zero-Lag Accordion 1, 2, 3 (Context)</a:t>
            </a:r>
            <a:endParaRPr lang="en-US" sz="1000" dirty="0"/>
          </a:p>
        </p:txBody>
      </p:sp>
      <p:sp>
        <p:nvSpPr>
          <p:cNvPr id="25" name="Shape 23"/>
          <p:cNvSpPr/>
          <p:nvPr/>
        </p:nvSpPr>
        <p:spPr>
          <a:xfrm>
            <a:off x="2880360" y="3154680"/>
            <a:ext cx="1645920" cy="594360"/>
          </a:xfrm>
          <a:prstGeom prst="rect">
            <a:avLst>
              <a:gd name="adj" fmla="val 7692"/>
            </a:avLst>
          </a:prstGeom>
          <a:solidFill>
            <a:srgbClr val="0B132B"/>
          </a:solidFill>
          <a:ln w="12700">
            <a:solidFill>
              <a:srgbClr val="2D3748"/>
            </a:solidFill>
            <a:prstDash val="solid"/>
          </a:ln>
        </p:spPr>
      </p:sp>
      <p:sp>
        <p:nvSpPr>
          <p:cNvPr id="26" name="Text 24"/>
          <p:cNvSpPr/>
          <p:nvPr/>
        </p:nvSpPr>
        <p:spPr>
          <a:xfrm>
            <a:off x="2926080" y="3154680"/>
            <a:ext cx="1554480" cy="594360"/>
          </a:xfrm>
          <a:prstGeom prst="rect">
            <a:avLst/>
          </a:prstGeom>
          <a:noFill/>
          <a:ln/>
        </p:spPr>
        <p:txBody>
          <a:bodyPr wrap="square" rtlCol="0" anchor="ctr"/>
          <a:lstStyle/>
          <a:p>
            <a:pPr algn="ctr" indent="0" marL="0">
              <a:buNone/>
            </a:pPr>
            <a:r>
              <a:rPr lang="en-US" sz="1000" dirty="0">
                <a:solidFill>
                  <a:srgbClr val="FFFFFF"/>
                </a:solidFill>
              </a:rPr>
              <a:t>List.Accordion Wrapped via Context</a:t>
            </a:r>
            <a:endParaRPr lang="en-US" sz="1000" dirty="0"/>
          </a:p>
        </p:txBody>
      </p:sp>
      <p:sp>
        <p:nvSpPr>
          <p:cNvPr id="27" name="Shape 25"/>
          <p:cNvSpPr/>
          <p:nvPr/>
        </p:nvSpPr>
        <p:spPr>
          <a:xfrm>
            <a:off x="2880360" y="3931920"/>
            <a:ext cx="1645920" cy="594360"/>
          </a:xfrm>
          <a:prstGeom prst="rect">
            <a:avLst>
              <a:gd name="adj" fmla="val 7692"/>
            </a:avLst>
          </a:prstGeom>
          <a:solidFill>
            <a:srgbClr val="0B132B"/>
          </a:solidFill>
          <a:ln w="12700">
            <a:solidFill>
              <a:srgbClr val="2D3748"/>
            </a:solidFill>
            <a:prstDash val="solid"/>
          </a:ln>
        </p:spPr>
      </p:sp>
      <p:sp>
        <p:nvSpPr>
          <p:cNvPr id="28" name="Text 26"/>
          <p:cNvSpPr/>
          <p:nvPr/>
        </p:nvSpPr>
        <p:spPr>
          <a:xfrm>
            <a:off x="2926080" y="3931920"/>
            <a:ext cx="1554480" cy="594360"/>
          </a:xfrm>
          <a:prstGeom prst="rect">
            <a:avLst/>
          </a:prstGeom>
          <a:noFill/>
          <a:ln/>
        </p:spPr>
        <p:txBody>
          <a:bodyPr wrap="square" rtlCol="0" anchor="ctr"/>
          <a:lstStyle/>
          <a:p>
            <a:pPr algn="ctr" indent="0" marL="0">
              <a:buNone/>
            </a:pPr>
            <a:r>
              <a:rPr lang="en-US" sz="1000" dirty="0">
                <a:solidFill>
                  <a:srgbClr val="FFFFFF"/>
                </a:solidFill>
              </a:rPr>
              <a:t>Smooth Collapsible Verse Navigation</a:t>
            </a:r>
            <a:endParaRPr lang="en-US" sz="1000" dirty="0"/>
          </a:p>
        </p:txBody>
      </p:sp>
      <p:sp>
        <p:nvSpPr>
          <p:cNvPr id="29" name="Shape 27"/>
          <p:cNvSpPr/>
          <p:nvPr/>
        </p:nvSpPr>
        <p:spPr>
          <a:xfrm>
            <a:off x="2880360" y="4709160"/>
            <a:ext cx="1645920" cy="594360"/>
          </a:xfrm>
          <a:prstGeom prst="rect">
            <a:avLst>
              <a:gd name="adj" fmla="val 7692"/>
            </a:avLst>
          </a:prstGeom>
          <a:solidFill>
            <a:srgbClr val="0B132B"/>
          </a:solidFill>
          <a:ln w="12700">
            <a:solidFill>
              <a:srgbClr val="2D3748"/>
            </a:solidFill>
            <a:prstDash val="solid"/>
          </a:ln>
        </p:spPr>
      </p:sp>
      <p:sp>
        <p:nvSpPr>
          <p:cNvPr id="30" name="Text 28"/>
          <p:cNvSpPr/>
          <p:nvPr/>
        </p:nvSpPr>
        <p:spPr>
          <a:xfrm>
            <a:off x="2926080" y="4709160"/>
            <a:ext cx="1554480" cy="594360"/>
          </a:xfrm>
          <a:prstGeom prst="rect">
            <a:avLst/>
          </a:prstGeom>
          <a:noFill/>
          <a:ln/>
        </p:spPr>
        <p:txBody>
          <a:bodyPr wrap="square" rtlCol="0" anchor="ctr"/>
          <a:lstStyle/>
          <a:p>
            <a:pPr algn="ctr" indent="0" marL="0">
              <a:buNone/>
            </a:pPr>
            <a:r>
              <a:rPr lang="en-US" sz="1000" dirty="0">
                <a:solidFill>
                  <a:srgbClr val="FFFFFF"/>
                </a:solidFill>
              </a:rPr>
              <a:t>Zero Memory Leaks on Heavy Text</a:t>
            </a:r>
            <a:endParaRPr lang="en-US" sz="1000" dirty="0"/>
          </a:p>
        </p:txBody>
      </p:sp>
      <p:sp>
        <p:nvSpPr>
          <p:cNvPr id="31" name="Shape 29"/>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32" name="Text 30"/>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33" name="Text 31"/>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Designed as a clean, highly responsive digital search and study application inspired by Google's minimalist interface.</a:t>
            </a:r>
            <a:endParaRPr lang="en-US" sz="950" dirty="0"/>
          </a:p>
          <a:p>
            <a:r>
              <a:rPr lang="en-US" sz="950" dirty="0">
                <a:solidFill>
                  <a:srgbClr val="FFFFFF"/>
                </a:solidFill>
                <a:latin typeface="Segoe UI" pitchFamily="34" charset="0"/>
                <a:ea typeface="Segoe UI" pitchFamily="34" charset="-122"/>
                <a:cs typeface="Segoe UI" pitchFamily="34" charset="-120"/>
              </a:rPr>
              <a:t>Provides instant keyword exploration across Al-Qur'an verses and comprehensive Tafsir commentaries.</a:t>
            </a:r>
            <a:endParaRPr lang="en-US" sz="950" dirty="0"/>
          </a:p>
          <a:p>
            <a:r>
              <a:rPr lang="en-US" sz="950" dirty="0">
                <a:solidFill>
                  <a:srgbClr val="FFFFFF"/>
                </a:solidFill>
                <a:latin typeface="Segoe UI" pitchFamily="34" charset="0"/>
                <a:ea typeface="Segoe UI" pitchFamily="34" charset="-122"/>
                <a:cs typeface="Segoe UI" pitchFamily="34" charset="-120"/>
              </a:rPr>
              <a:t>Optimized specifically for seamless reading and topic discovery on mobile devices.</a:t>
            </a:r>
            <a:endParaRPr lang="en-US" sz="950" dirty="0"/>
          </a:p>
        </p:txBody>
      </p:sp>
      <p:sp>
        <p:nvSpPr>
          <p:cNvPr id="34" name="Shape 32"/>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35" name="Text 33"/>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36" name="Text 34"/>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State Management: Utilizes React Context API to power dynamic, collapsible accordion lists (List.Accordion wrapped via React.Context).</a:t>
            </a:r>
            <a:endParaRPr lang="en-US" sz="950" dirty="0"/>
          </a:p>
          <a:p>
            <a:r>
              <a:rPr lang="en-US" sz="950" dirty="0">
                <a:solidFill>
                  <a:srgbClr val="FFFFFF"/>
                </a:solidFill>
                <a:latin typeface="Segoe UI" pitchFamily="34" charset="0"/>
                <a:ea typeface="Segoe UI" pitchFamily="34" charset="-122"/>
                <a:cs typeface="Segoe UI" pitchFamily="34" charset="-120"/>
              </a:rPr>
              <a:t>Navigation Architecture: Features an instant search bar (Search), structured topic dropdowns (Select item), and a dedicated mobile bottom bar (Beranda, Topik, Tadabur, Bookmark, Pengaturan).</a:t>
            </a:r>
            <a:endParaRPr lang="en-US" sz="950" dirty="0"/>
          </a:p>
          <a:p>
            <a:r>
              <a:rPr lang="en-US" sz="950" dirty="0">
                <a:solidFill>
                  <a:srgbClr val="FFFFFF"/>
                </a:solidFill>
                <a:latin typeface="Segoe UI" pitchFamily="34" charset="0"/>
                <a:ea typeface="Segoe UI" pitchFamily="34" charset="-122"/>
                <a:cs typeface="Segoe UI" pitchFamily="34" charset="-120"/>
              </a:rPr>
              <a:t>Tech Stack: React, Context API, responsive CSS3 grid/flexbox layouts.</a:t>
            </a:r>
            <a:endParaRPr lang="en-US" sz="950" dirty="0"/>
          </a:p>
        </p:txBody>
      </p:sp>
      <p:sp>
        <p:nvSpPr>
          <p:cNvPr id="37" name="Shape 35"/>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38" name="Text 36"/>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39" name="Text 37"/>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Delivered an ultra-smooth, zero-lag reading experience enabling users to study Tafsir without page reloads.</a:t>
            </a:r>
            <a:endParaRPr lang="en-US" sz="950" dirty="0"/>
          </a:p>
          <a:p>
            <a:r>
              <a:rPr lang="en-US" sz="950" dirty="0">
                <a:solidFill>
                  <a:srgbClr val="FFFFFF"/>
                </a:solidFill>
                <a:latin typeface="Segoe UI" pitchFamily="34" charset="0"/>
                <a:ea typeface="Segoe UI" pitchFamily="34" charset="-122"/>
                <a:cs typeface="Segoe UI" pitchFamily="34" charset="-120"/>
              </a:rPr>
              <a:t>Demonstrated exceptional skill in crafting intuitive, accessible mobile UI/UX layouts for broad public consumption.</a:t>
            </a:r>
            <a:endParaRPr lang="en-US" sz="950" dirty="0"/>
          </a:p>
          <a:p>
            <a:r>
              <a:rPr lang="en-US" sz="950" dirty="0">
                <a:solidFill>
                  <a:srgbClr val="FFFFFF"/>
                </a:solidFill>
                <a:latin typeface="Segoe UI" pitchFamily="34" charset="0"/>
                <a:ea typeface="Segoe UI" pitchFamily="34" charset="-122"/>
                <a:cs typeface="Segoe UI" pitchFamily="34" charset="-120"/>
              </a:rPr>
              <a:t>Structured state management prevented memory leaks during heavy scripture and commentary data rendering.</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ONLINE BOOTCAMP &amp; COURSE PLATFORM • FIREBASE</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SYIHAB LEARNING COURSE PLATFORM</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React, Redux &amp; Firebase real-time architecture supporting scalable digital cohorts and interactive mentorship.</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Syihab Learning Bootcamp Dashboard</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Learn Anywhere</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Find Your Job</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Manage Money</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Great Mentors</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Live Events</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Instant Auth Sync</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Real-Time Course Progression &amp; Cohort Engine</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Core Philosophy</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Any Time Upgrade</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State Management</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Redux Predictable</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Database Sync</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Firebase Real-Time</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UI Brand Theme</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Vibrant Green Tech</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Online course and bootcamp education platform enabling professionals and students to upskill anytime ('Any Time Give Your Time To Your Life With Upgrade Your skill').</a:t>
            </a:r>
            <a:endParaRPr lang="en-US" sz="950" dirty="0"/>
          </a:p>
          <a:p>
            <a:r>
              <a:rPr lang="en-US" sz="950" dirty="0">
                <a:solidFill>
                  <a:srgbClr val="FFFFFF"/>
                </a:solidFill>
                <a:latin typeface="Segoe UI" pitchFamily="34" charset="0"/>
                <a:ea typeface="Segoe UI" pitchFamily="34" charset="-122"/>
                <a:cs typeface="Segoe UI" pitchFamily="34" charset="-120"/>
              </a:rPr>
              <a:t>Structured around clear educational pathways with dedicated mentorship and interactive promo events.</a:t>
            </a:r>
            <a:endParaRPr lang="en-US" sz="950" dirty="0"/>
          </a:p>
          <a:p>
            <a:r>
              <a:rPr lang="en-US" sz="950" dirty="0">
                <a:solidFill>
                  <a:srgbClr val="FFFFFF"/>
                </a:solidFill>
                <a:latin typeface="Segoe UI" pitchFamily="34" charset="0"/>
                <a:ea typeface="Segoe UI" pitchFamily="34" charset="-122"/>
                <a:cs typeface="Segoe UI" pitchFamily="34" charset="-120"/>
              </a:rPr>
              <a:t>Designed to democratize technical training across remote student communities.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Core Modules: Features distinct learning tracks (Can Be Learn From Anywhere, Can Be Find Your Job, Can Be Manage Your Money, Learn With Great Mentor).</a:t>
            </a:r>
            <a:endParaRPr lang="en-US" sz="950" dirty="0"/>
          </a:p>
          <a:p>
            <a:r>
              <a:rPr lang="en-US" sz="950" dirty="0">
                <a:solidFill>
                  <a:srgbClr val="FFFFFF"/>
                </a:solidFill>
                <a:latin typeface="Segoe UI" pitchFamily="34" charset="0"/>
                <a:ea typeface="Segoe UI" pitchFamily="34" charset="-122"/>
                <a:cs typeface="Segoe UI" pitchFamily="34" charset="-120"/>
              </a:rPr>
              <a:t>Tech Stack: Frontend built using React.js and Redux for predictable state management across course modules.</a:t>
            </a:r>
            <a:endParaRPr lang="en-US" sz="950" dirty="0"/>
          </a:p>
          <a:p>
            <a:r>
              <a:rPr lang="en-US" sz="950" dirty="0">
                <a:solidFill>
                  <a:srgbClr val="FFFFFF"/>
                </a:solidFill>
                <a:latin typeface="Segoe UI" pitchFamily="34" charset="0"/>
                <a:ea typeface="Segoe UI" pitchFamily="34" charset="-122"/>
                <a:cs typeface="Segoe UI" pitchFamily="34" charset="-120"/>
              </a:rPr>
              <a:t>Backend &amp; DB: Firebase real-time database and authentication ensuring instant progress synchronization across devices.</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Provides a clean, highly engaging user interface with vibrant green modern branding encouraging course enrollment.</a:t>
            </a:r>
            <a:endParaRPr lang="en-US" sz="950" dirty="0"/>
          </a:p>
          <a:p>
            <a:r>
              <a:rPr lang="en-US" sz="950" dirty="0">
                <a:solidFill>
                  <a:srgbClr val="FFFFFF"/>
                </a:solidFill>
                <a:latin typeface="Segoe UI" pitchFamily="34" charset="0"/>
                <a:ea typeface="Segoe UI" pitchFamily="34" charset="-122"/>
                <a:cs typeface="Segoe UI" pitchFamily="34" charset="-120"/>
              </a:rPr>
              <a:t>Scalable cloud-native architecture ready to support thousands of concurrent students during live bootcamp sessions.</a:t>
            </a:r>
            <a:endParaRPr lang="en-US" sz="950" dirty="0"/>
          </a:p>
          <a:p>
            <a:r>
              <a:rPr lang="en-US" sz="950" dirty="0">
                <a:solidFill>
                  <a:srgbClr val="FFFFFF"/>
                </a:solidFill>
                <a:latin typeface="Segoe UI" pitchFamily="34" charset="0"/>
                <a:ea typeface="Segoe UI" pitchFamily="34" charset="-122"/>
                <a:cs typeface="Segoe UI" pitchFamily="34" charset="-120"/>
              </a:rPr>
              <a:t>Establishes a solid portfolio demonstration of Firebase real-time synchronization combined with React DOM efficiency.</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CORPORATE SIMULATION &amp; RECRUITMENT PORTALS</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RECRUITMENT &amp; COMPANY SIMULATION WEB APPS</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Scenario-based virtual interview scoring engine + multi-role corporate management simulation.</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Virtual Corporate &amp; Hiring Simulation Gateway</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Profile Setup</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Resume Submission</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Virtual Interview</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Financial Health</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Marketing Lead</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Git Version Flow</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Scenario-Based Interview &amp; Multi-Role Governance</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Interview Engine</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Automated Rubric</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Leadership Roles</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Manager / Finance</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UI Frameworks</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Tailwind / Chakra UI</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Database Layer</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MySQL &amp; MongoDB</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Recruitment Simulation App: Simulates real-world hiring pipelines (profile setup, resume submission, online assessments, virtual interviews) for student career preparation.</a:t>
            </a:r>
            <a:endParaRPr lang="en-US" sz="950" dirty="0"/>
          </a:p>
          <a:p>
            <a:r>
              <a:rPr lang="en-US" sz="950" dirty="0">
                <a:solidFill>
                  <a:srgbClr val="FFFFFF"/>
                </a:solidFill>
                <a:latin typeface="Segoe UI" pitchFamily="34" charset="0"/>
                <a:ea typeface="Segoe UI" pitchFamily="34" charset="-122"/>
                <a:cs typeface="Segoe UI" pitchFamily="34" charset="-120"/>
              </a:rPr>
              <a:t>Company Simulation App: Interactive virtual corporate management platform allowing students to assume high-stakes leadership roles (Manager, Finance Officer, Marketing Lead).</a:t>
            </a:r>
            <a:endParaRPr lang="en-US" sz="950" dirty="0"/>
          </a:p>
          <a:p>
            <a:r>
              <a:rPr lang="en-US" sz="950" dirty="0">
                <a:solidFill>
                  <a:srgbClr val="FFFFFF"/>
                </a:solidFill>
                <a:latin typeface="Segoe UI" pitchFamily="34" charset="0"/>
                <a:ea typeface="Segoe UI" pitchFamily="34" charset="-122"/>
                <a:cs typeface="Segoe UI" pitchFamily="34" charset="-120"/>
              </a:rPr>
              <a:t>Bridges theoretical academic concepts with practical corporate workflows.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Recruitment Features: Automated feedback and scoring rubrics evaluating student responses in scenario-based virtual interviews.</a:t>
            </a:r>
            <a:endParaRPr lang="en-US" sz="950" dirty="0"/>
          </a:p>
          <a:p>
            <a:r>
              <a:rPr lang="en-US" sz="950" dirty="0">
                <a:solidFill>
                  <a:srgbClr val="FFFFFF"/>
                </a:solidFill>
                <a:latin typeface="Segoe UI" pitchFamily="34" charset="0"/>
                <a:ea typeface="Segoe UI" pitchFamily="34" charset="-122"/>
                <a:cs typeface="Segoe UI" pitchFamily="34" charset="-120"/>
              </a:rPr>
              <a:t>Company Features: Real-time performance dashboards tracking virtual company financial health, role delegation, and market simulation responses.</a:t>
            </a:r>
            <a:endParaRPr lang="en-US" sz="950" dirty="0"/>
          </a:p>
          <a:p>
            <a:r>
              <a:rPr lang="en-US" sz="950" dirty="0">
                <a:solidFill>
                  <a:srgbClr val="FFFFFF"/>
                </a:solidFill>
                <a:latin typeface="Segoe UI" pitchFamily="34" charset="0"/>
                <a:ea typeface="Segoe UI" pitchFamily="34" charset="-122"/>
                <a:cs typeface="Segoe UI" pitchFamily="34" charset="-120"/>
              </a:rPr>
              <a:t>Tech Stack: PHP, Laravel, Node.js, Express.js, React, Tailwind CSS, Chakra UI, Material UI, MySQL, and MongoDB.</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Proven educational impact helping university students master professional readiness and corporate operational governance.</a:t>
            </a:r>
            <a:endParaRPr lang="en-US" sz="950" dirty="0"/>
          </a:p>
          <a:p>
            <a:r>
              <a:rPr lang="en-US" sz="950" dirty="0">
                <a:solidFill>
                  <a:srgbClr val="FFFFFF"/>
                </a:solidFill>
                <a:latin typeface="Segoe UI" pitchFamily="34" charset="0"/>
                <a:ea typeface="Segoe UI" pitchFamily="34" charset="-122"/>
                <a:cs typeface="Segoe UI" pitchFamily="34" charset="-120"/>
              </a:rPr>
              <a:t>Demonstrated ability to build complex simulation logic and multi-role state dashboards with attractive modern UI frameworks.</a:t>
            </a:r>
            <a:endParaRPr lang="en-US" sz="950" dirty="0"/>
          </a:p>
          <a:p>
            <a:r>
              <a:rPr lang="en-US" sz="950" dirty="0">
                <a:solidFill>
                  <a:srgbClr val="FFFFFF"/>
                </a:solidFill>
                <a:latin typeface="Segoe UI" pitchFamily="34" charset="0"/>
                <a:ea typeface="Segoe UI" pitchFamily="34" charset="-122"/>
                <a:cs typeface="Segoe UI" pitchFamily="34" charset="-120"/>
              </a:rPr>
              <a:t>Delivered production-grade code with full Git version control collaboration across multidisciplinary teams.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MOBILE APPLICATION &amp; STARTUP SIMULATION</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STARTUP SIMULATOR &amp; WHATSAPP-STYLE MOBILE CHAT</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Gamified Series A funding valuation tracker + email-based identity backend mobile chat system (React Native).</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Text 6"/>
          <p:cNvSpPr/>
          <p:nvPr/>
        </p:nvSpPr>
        <p:spPr>
          <a:xfrm>
            <a:off x="640080" y="1344168"/>
            <a:ext cx="4023360" cy="274320"/>
          </a:xfrm>
          <a:prstGeom prst="rect">
            <a:avLst/>
          </a:prstGeom>
          <a:noFill/>
          <a:ln/>
        </p:spPr>
        <p:txBody>
          <a:bodyPr wrap="square" rtlCol="0" anchor="ctr"/>
          <a:lstStyle/>
          <a:p>
            <a:pPr indent="0" marL="0">
              <a:buNone/>
            </a:pPr>
            <a:r>
              <a:rPr lang="en-US" sz="1200" b="1" dirty="0">
                <a:solidFill>
                  <a:srgbClr val="48CAE4"/>
                </a:solidFill>
              </a:rPr>
              <a:t>📱 DUAL MOBILE / CLIENT PORTAL WIREFRAME</a:t>
            </a:r>
            <a:endParaRPr lang="en-US" sz="1200" dirty="0"/>
          </a:p>
        </p:txBody>
      </p:sp>
      <p:sp>
        <p:nvSpPr>
          <p:cNvPr id="9" name="Shape 7"/>
          <p:cNvSpPr/>
          <p:nvPr/>
        </p:nvSpPr>
        <p:spPr>
          <a:xfrm>
            <a:off x="685800" y="1691640"/>
            <a:ext cx="1828800" cy="4526280"/>
          </a:xfrm>
          <a:prstGeom prst="rect">
            <a:avLst>
              <a:gd name="adj" fmla="val 7500"/>
            </a:avLst>
          </a:prstGeom>
          <a:solidFill>
            <a:srgbClr val="1C2541"/>
          </a:solidFill>
          <a:ln w="19050">
            <a:solidFill>
              <a:srgbClr val="48CAE4"/>
            </a:solidFill>
            <a:prstDash val="solid"/>
          </a:ln>
        </p:spPr>
      </p:sp>
      <p:sp>
        <p:nvSpPr>
          <p:cNvPr id="10" name="Shape 8"/>
          <p:cNvSpPr/>
          <p:nvPr/>
        </p:nvSpPr>
        <p:spPr>
          <a:xfrm>
            <a:off x="1325880" y="1783080"/>
            <a:ext cx="548640" cy="73152"/>
          </a:xfrm>
          <a:prstGeom prst="rect">
            <a:avLst>
              <a:gd name="adj" fmla="val 37500"/>
            </a:avLst>
          </a:prstGeom>
          <a:solidFill>
            <a:srgbClr val="48CAE4"/>
          </a:solidFill>
          <a:ln/>
        </p:spPr>
      </p:sp>
      <p:sp>
        <p:nvSpPr>
          <p:cNvPr id="11" name="Text 9"/>
          <p:cNvSpPr/>
          <p:nvPr/>
        </p:nvSpPr>
        <p:spPr>
          <a:xfrm>
            <a:off x="731520" y="1920240"/>
            <a:ext cx="1737360" cy="320040"/>
          </a:xfrm>
          <a:prstGeom prst="rect">
            <a:avLst/>
          </a:prstGeom>
          <a:noFill/>
          <a:ln/>
        </p:spPr>
        <p:txBody>
          <a:bodyPr wrap="square" rtlCol="0" anchor="ctr"/>
          <a:lstStyle/>
          <a:p>
            <a:pPr algn="ctr" indent="0" marL="0">
              <a:buNone/>
            </a:pPr>
            <a:r>
              <a:rPr lang="en-US" sz="1100" b="1" dirty="0">
                <a:solidFill>
                  <a:srgbClr val="48CAE4"/>
                </a:solidFill>
              </a:rPr>
              <a:t>Gamified Startup Milestone Engine</a:t>
            </a:r>
            <a:endParaRPr lang="en-US" sz="1100" dirty="0"/>
          </a:p>
        </p:txBody>
      </p:sp>
      <p:sp>
        <p:nvSpPr>
          <p:cNvPr id="12" name="Shape 10"/>
          <p:cNvSpPr/>
          <p:nvPr/>
        </p:nvSpPr>
        <p:spPr>
          <a:xfrm>
            <a:off x="777240" y="2377440"/>
            <a:ext cx="1645920" cy="594360"/>
          </a:xfrm>
          <a:prstGeom prst="rect">
            <a:avLst>
              <a:gd name="adj" fmla="val 7692"/>
            </a:avLst>
          </a:prstGeom>
          <a:solidFill>
            <a:srgbClr val="0B132B"/>
          </a:solidFill>
          <a:ln w="12700">
            <a:solidFill>
              <a:srgbClr val="2D3748"/>
            </a:solidFill>
            <a:prstDash val="solid"/>
          </a:ln>
        </p:spPr>
      </p:sp>
      <p:sp>
        <p:nvSpPr>
          <p:cNvPr id="13" name="Text 11"/>
          <p:cNvSpPr/>
          <p:nvPr/>
        </p:nvSpPr>
        <p:spPr>
          <a:xfrm>
            <a:off x="822960" y="2377440"/>
            <a:ext cx="1554480" cy="594360"/>
          </a:xfrm>
          <a:prstGeom prst="rect">
            <a:avLst/>
          </a:prstGeom>
          <a:noFill/>
          <a:ln/>
        </p:spPr>
        <p:txBody>
          <a:bodyPr wrap="square" rtlCol="0" anchor="ctr"/>
          <a:lstStyle/>
          <a:p>
            <a:pPr algn="ctr" indent="0" marL="0">
              <a:buNone/>
            </a:pPr>
            <a:r>
              <a:rPr lang="en-US" sz="1000" dirty="0">
                <a:solidFill>
                  <a:srgbClr val="FFFFFF"/>
                </a:solidFill>
              </a:rPr>
              <a:t>Ideation to Seed &amp; Series A Funding</a:t>
            </a:r>
            <a:endParaRPr lang="en-US" sz="1000" dirty="0"/>
          </a:p>
        </p:txBody>
      </p:sp>
      <p:sp>
        <p:nvSpPr>
          <p:cNvPr id="14" name="Shape 12"/>
          <p:cNvSpPr/>
          <p:nvPr/>
        </p:nvSpPr>
        <p:spPr>
          <a:xfrm>
            <a:off x="777240" y="3154680"/>
            <a:ext cx="1645920" cy="594360"/>
          </a:xfrm>
          <a:prstGeom prst="rect">
            <a:avLst>
              <a:gd name="adj" fmla="val 7692"/>
            </a:avLst>
          </a:prstGeom>
          <a:solidFill>
            <a:srgbClr val="0B132B"/>
          </a:solidFill>
          <a:ln w="12700">
            <a:solidFill>
              <a:srgbClr val="2D3748"/>
            </a:solidFill>
            <a:prstDash val="solid"/>
          </a:ln>
        </p:spPr>
      </p:sp>
      <p:sp>
        <p:nvSpPr>
          <p:cNvPr id="15" name="Text 13"/>
          <p:cNvSpPr/>
          <p:nvPr/>
        </p:nvSpPr>
        <p:spPr>
          <a:xfrm>
            <a:off x="822960" y="3154680"/>
            <a:ext cx="1554480" cy="594360"/>
          </a:xfrm>
          <a:prstGeom prst="rect">
            <a:avLst/>
          </a:prstGeom>
          <a:noFill/>
          <a:ln/>
        </p:spPr>
        <p:txBody>
          <a:bodyPr wrap="square" rtlCol="0" anchor="ctr"/>
          <a:lstStyle/>
          <a:p>
            <a:pPr algn="ctr" indent="0" marL="0">
              <a:buNone/>
            </a:pPr>
            <a:r>
              <a:rPr lang="en-US" sz="1000" dirty="0">
                <a:solidFill>
                  <a:srgbClr val="FFFFFF"/>
                </a:solidFill>
              </a:rPr>
              <a:t>MVP Creation &amp; Customer Acquisition Flow</a:t>
            </a:r>
            <a:endParaRPr lang="en-US" sz="1000" dirty="0"/>
          </a:p>
        </p:txBody>
      </p:sp>
      <p:sp>
        <p:nvSpPr>
          <p:cNvPr id="16" name="Shape 14"/>
          <p:cNvSpPr/>
          <p:nvPr/>
        </p:nvSpPr>
        <p:spPr>
          <a:xfrm>
            <a:off x="777240" y="3931920"/>
            <a:ext cx="1645920" cy="594360"/>
          </a:xfrm>
          <a:prstGeom prst="rect">
            <a:avLst>
              <a:gd name="adj" fmla="val 7692"/>
            </a:avLst>
          </a:prstGeom>
          <a:solidFill>
            <a:srgbClr val="0B132B"/>
          </a:solidFill>
          <a:ln w="12700">
            <a:solidFill>
              <a:srgbClr val="2D3748"/>
            </a:solidFill>
            <a:prstDash val="solid"/>
          </a:ln>
        </p:spPr>
      </p:sp>
      <p:sp>
        <p:nvSpPr>
          <p:cNvPr id="17" name="Text 15"/>
          <p:cNvSpPr/>
          <p:nvPr/>
        </p:nvSpPr>
        <p:spPr>
          <a:xfrm>
            <a:off x="822960" y="3931920"/>
            <a:ext cx="1554480" cy="594360"/>
          </a:xfrm>
          <a:prstGeom prst="rect">
            <a:avLst/>
          </a:prstGeom>
          <a:noFill/>
          <a:ln/>
        </p:spPr>
        <p:txBody>
          <a:bodyPr wrap="square" rtlCol="0" anchor="ctr"/>
          <a:lstStyle/>
          <a:p>
            <a:pPr algn="ctr" indent="0" marL="0">
              <a:buNone/>
            </a:pPr>
            <a:r>
              <a:rPr lang="en-US" sz="1000" dirty="0">
                <a:solidFill>
                  <a:srgbClr val="FFFFFF"/>
                </a:solidFill>
              </a:rPr>
              <a:t>Gamified Business Valuation Tracker</a:t>
            </a:r>
            <a:endParaRPr lang="en-US" sz="1000" dirty="0"/>
          </a:p>
        </p:txBody>
      </p:sp>
      <p:sp>
        <p:nvSpPr>
          <p:cNvPr id="18" name="Shape 16"/>
          <p:cNvSpPr/>
          <p:nvPr/>
        </p:nvSpPr>
        <p:spPr>
          <a:xfrm>
            <a:off x="777240" y="4709160"/>
            <a:ext cx="1645920" cy="594360"/>
          </a:xfrm>
          <a:prstGeom prst="rect">
            <a:avLst>
              <a:gd name="adj" fmla="val 7692"/>
            </a:avLst>
          </a:prstGeom>
          <a:solidFill>
            <a:srgbClr val="0B132B"/>
          </a:solidFill>
          <a:ln w="12700">
            <a:solidFill>
              <a:srgbClr val="2D3748"/>
            </a:solidFill>
            <a:prstDash val="solid"/>
          </a:ln>
        </p:spPr>
      </p:sp>
      <p:sp>
        <p:nvSpPr>
          <p:cNvPr id="19" name="Text 17"/>
          <p:cNvSpPr/>
          <p:nvPr/>
        </p:nvSpPr>
        <p:spPr>
          <a:xfrm>
            <a:off x="822960" y="4709160"/>
            <a:ext cx="1554480" cy="594360"/>
          </a:xfrm>
          <a:prstGeom prst="rect">
            <a:avLst/>
          </a:prstGeom>
          <a:noFill/>
          <a:ln/>
        </p:spPr>
        <p:txBody>
          <a:bodyPr wrap="square" rtlCol="0" anchor="ctr"/>
          <a:lstStyle/>
          <a:p>
            <a:pPr algn="ctr" indent="0" marL="0">
              <a:buNone/>
            </a:pPr>
            <a:r>
              <a:rPr lang="en-US" sz="1000" dirty="0">
                <a:solidFill>
                  <a:srgbClr val="FFFFFF"/>
                </a:solidFill>
              </a:rPr>
              <a:t>Real-Time Financial Analytics Dashboard</a:t>
            </a:r>
            <a:endParaRPr lang="en-US" sz="1000" dirty="0"/>
          </a:p>
        </p:txBody>
      </p:sp>
      <p:sp>
        <p:nvSpPr>
          <p:cNvPr id="20" name="Shape 18"/>
          <p:cNvSpPr/>
          <p:nvPr/>
        </p:nvSpPr>
        <p:spPr>
          <a:xfrm>
            <a:off x="2788920" y="1691640"/>
            <a:ext cx="1828800" cy="4526280"/>
          </a:xfrm>
          <a:prstGeom prst="rect">
            <a:avLst>
              <a:gd name="adj" fmla="val 7500"/>
            </a:avLst>
          </a:prstGeom>
          <a:solidFill>
            <a:srgbClr val="1C2541"/>
          </a:solidFill>
          <a:ln w="19050">
            <a:solidFill>
              <a:srgbClr val="10B981"/>
            </a:solidFill>
            <a:prstDash val="solid"/>
          </a:ln>
        </p:spPr>
      </p:sp>
      <p:sp>
        <p:nvSpPr>
          <p:cNvPr id="21" name="Shape 19"/>
          <p:cNvSpPr/>
          <p:nvPr/>
        </p:nvSpPr>
        <p:spPr>
          <a:xfrm>
            <a:off x="3429000" y="1783080"/>
            <a:ext cx="548640" cy="73152"/>
          </a:xfrm>
          <a:prstGeom prst="rect">
            <a:avLst>
              <a:gd name="adj" fmla="val 37500"/>
            </a:avLst>
          </a:prstGeom>
          <a:solidFill>
            <a:srgbClr val="10B981"/>
          </a:solidFill>
          <a:ln/>
        </p:spPr>
      </p:sp>
      <p:sp>
        <p:nvSpPr>
          <p:cNvPr id="22" name="Text 20"/>
          <p:cNvSpPr/>
          <p:nvPr/>
        </p:nvSpPr>
        <p:spPr>
          <a:xfrm>
            <a:off x="2834640" y="1920240"/>
            <a:ext cx="1737360" cy="320040"/>
          </a:xfrm>
          <a:prstGeom prst="rect">
            <a:avLst/>
          </a:prstGeom>
          <a:noFill/>
          <a:ln/>
        </p:spPr>
        <p:txBody>
          <a:bodyPr wrap="square" rtlCol="0" anchor="ctr"/>
          <a:lstStyle/>
          <a:p>
            <a:pPr algn="ctr" indent="0" marL="0">
              <a:buNone/>
            </a:pPr>
            <a:r>
              <a:rPr lang="en-US" sz="1100" b="1" dirty="0">
                <a:solidFill>
                  <a:srgbClr val="10B981"/>
                </a:solidFill>
              </a:rPr>
              <a:t>WhatsApp-Inspired Mobile Chat UI</a:t>
            </a:r>
            <a:endParaRPr lang="en-US" sz="1100" dirty="0"/>
          </a:p>
        </p:txBody>
      </p:sp>
      <p:sp>
        <p:nvSpPr>
          <p:cNvPr id="23" name="Shape 21"/>
          <p:cNvSpPr/>
          <p:nvPr/>
        </p:nvSpPr>
        <p:spPr>
          <a:xfrm>
            <a:off x="2880360" y="2377440"/>
            <a:ext cx="1645920" cy="594360"/>
          </a:xfrm>
          <a:prstGeom prst="rect">
            <a:avLst>
              <a:gd name="adj" fmla="val 7692"/>
            </a:avLst>
          </a:prstGeom>
          <a:solidFill>
            <a:srgbClr val="0B132B"/>
          </a:solidFill>
          <a:ln w="12700">
            <a:solidFill>
              <a:srgbClr val="2D3748"/>
            </a:solidFill>
            <a:prstDash val="solid"/>
          </a:ln>
        </p:spPr>
      </p:sp>
      <p:sp>
        <p:nvSpPr>
          <p:cNvPr id="24" name="Text 22"/>
          <p:cNvSpPr/>
          <p:nvPr/>
        </p:nvSpPr>
        <p:spPr>
          <a:xfrm>
            <a:off x="2926080" y="2377440"/>
            <a:ext cx="1554480" cy="594360"/>
          </a:xfrm>
          <a:prstGeom prst="rect">
            <a:avLst/>
          </a:prstGeom>
          <a:noFill/>
          <a:ln/>
        </p:spPr>
        <p:txBody>
          <a:bodyPr wrap="square" rtlCol="0" anchor="ctr"/>
          <a:lstStyle/>
          <a:p>
            <a:pPr algn="ctr" indent="0" marL="0">
              <a:buNone/>
            </a:pPr>
            <a:r>
              <a:rPr lang="en-US" sz="1000" dirty="0">
                <a:solidFill>
                  <a:srgbClr val="FFFFFF"/>
                </a:solidFill>
              </a:rPr>
              <a:t>Email-Based Identity Backend Synchronization</a:t>
            </a:r>
            <a:endParaRPr lang="en-US" sz="1000" dirty="0"/>
          </a:p>
        </p:txBody>
      </p:sp>
      <p:sp>
        <p:nvSpPr>
          <p:cNvPr id="25" name="Shape 23"/>
          <p:cNvSpPr/>
          <p:nvPr/>
        </p:nvSpPr>
        <p:spPr>
          <a:xfrm>
            <a:off x="2880360" y="3154680"/>
            <a:ext cx="1645920" cy="594360"/>
          </a:xfrm>
          <a:prstGeom prst="rect">
            <a:avLst>
              <a:gd name="adj" fmla="val 7692"/>
            </a:avLst>
          </a:prstGeom>
          <a:solidFill>
            <a:srgbClr val="0B132B"/>
          </a:solidFill>
          <a:ln w="12700">
            <a:solidFill>
              <a:srgbClr val="2D3748"/>
            </a:solidFill>
            <a:prstDash val="solid"/>
          </a:ln>
        </p:spPr>
      </p:sp>
      <p:sp>
        <p:nvSpPr>
          <p:cNvPr id="26" name="Text 24"/>
          <p:cNvSpPr/>
          <p:nvPr/>
        </p:nvSpPr>
        <p:spPr>
          <a:xfrm>
            <a:off x="2926080" y="3154680"/>
            <a:ext cx="1554480" cy="594360"/>
          </a:xfrm>
          <a:prstGeom prst="rect">
            <a:avLst/>
          </a:prstGeom>
          <a:noFill/>
          <a:ln/>
        </p:spPr>
        <p:txBody>
          <a:bodyPr wrap="square" rtlCol="0" anchor="ctr"/>
          <a:lstStyle/>
          <a:p>
            <a:pPr algn="ctr" indent="0" marL="0">
              <a:buNone/>
            </a:pPr>
            <a:r>
              <a:rPr lang="en-US" sz="1000" dirty="0">
                <a:solidFill>
                  <a:srgbClr val="FFFFFF"/>
                </a:solidFill>
              </a:rPr>
              <a:t>Real-Time Conversation Threading &amp; Swipe UI</a:t>
            </a:r>
            <a:endParaRPr lang="en-US" sz="1000" dirty="0"/>
          </a:p>
        </p:txBody>
      </p:sp>
      <p:sp>
        <p:nvSpPr>
          <p:cNvPr id="27" name="Shape 25"/>
          <p:cNvSpPr/>
          <p:nvPr/>
        </p:nvSpPr>
        <p:spPr>
          <a:xfrm>
            <a:off x="2880360" y="3931920"/>
            <a:ext cx="1645920" cy="594360"/>
          </a:xfrm>
          <a:prstGeom prst="rect">
            <a:avLst>
              <a:gd name="adj" fmla="val 7692"/>
            </a:avLst>
          </a:prstGeom>
          <a:solidFill>
            <a:srgbClr val="0B132B"/>
          </a:solidFill>
          <a:ln w="12700">
            <a:solidFill>
              <a:srgbClr val="2D3748"/>
            </a:solidFill>
            <a:prstDash val="solid"/>
          </a:ln>
        </p:spPr>
      </p:sp>
      <p:sp>
        <p:nvSpPr>
          <p:cNvPr id="28" name="Text 26"/>
          <p:cNvSpPr/>
          <p:nvPr/>
        </p:nvSpPr>
        <p:spPr>
          <a:xfrm>
            <a:off x="2926080" y="3931920"/>
            <a:ext cx="1554480" cy="594360"/>
          </a:xfrm>
          <a:prstGeom prst="rect">
            <a:avLst/>
          </a:prstGeom>
          <a:noFill/>
          <a:ln/>
        </p:spPr>
        <p:txBody>
          <a:bodyPr wrap="square" rtlCol="0" anchor="ctr"/>
          <a:lstStyle/>
          <a:p>
            <a:pPr algn="ctr" indent="0" marL="0">
              <a:buNone/>
            </a:pPr>
            <a:r>
              <a:rPr lang="en-US" sz="1000" dirty="0">
                <a:solidFill>
                  <a:srgbClr val="FFFFFF"/>
                </a:solidFill>
              </a:rPr>
              <a:t>Instant Multi-Device Read Receipts Sync</a:t>
            </a:r>
            <a:endParaRPr lang="en-US" sz="1000" dirty="0"/>
          </a:p>
        </p:txBody>
      </p:sp>
      <p:sp>
        <p:nvSpPr>
          <p:cNvPr id="29" name="Shape 27"/>
          <p:cNvSpPr/>
          <p:nvPr/>
        </p:nvSpPr>
        <p:spPr>
          <a:xfrm>
            <a:off x="2880360" y="4709160"/>
            <a:ext cx="1645920" cy="594360"/>
          </a:xfrm>
          <a:prstGeom prst="rect">
            <a:avLst>
              <a:gd name="adj" fmla="val 7692"/>
            </a:avLst>
          </a:prstGeom>
          <a:solidFill>
            <a:srgbClr val="0B132B"/>
          </a:solidFill>
          <a:ln w="12700">
            <a:solidFill>
              <a:srgbClr val="2D3748"/>
            </a:solidFill>
            <a:prstDash val="solid"/>
          </a:ln>
        </p:spPr>
      </p:sp>
      <p:sp>
        <p:nvSpPr>
          <p:cNvPr id="30" name="Text 28"/>
          <p:cNvSpPr/>
          <p:nvPr/>
        </p:nvSpPr>
        <p:spPr>
          <a:xfrm>
            <a:off x="2926080" y="4709160"/>
            <a:ext cx="1554480" cy="594360"/>
          </a:xfrm>
          <a:prstGeom prst="rect">
            <a:avLst/>
          </a:prstGeom>
          <a:noFill/>
          <a:ln/>
        </p:spPr>
        <p:txBody>
          <a:bodyPr wrap="square" rtlCol="0" anchor="ctr"/>
          <a:lstStyle/>
          <a:p>
            <a:pPr algn="ctr" indent="0" marL="0">
              <a:buNone/>
            </a:pPr>
            <a:r>
              <a:rPr lang="en-US" sz="1000" dirty="0">
                <a:solidFill>
                  <a:srgbClr val="FFFFFF"/>
                </a:solidFill>
              </a:rPr>
              <a:t>React Native + Firebase + Laravel Express API</a:t>
            </a:r>
            <a:endParaRPr lang="en-US" sz="1000" dirty="0"/>
          </a:p>
        </p:txBody>
      </p:sp>
      <p:sp>
        <p:nvSpPr>
          <p:cNvPr id="31" name="Shape 29"/>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32" name="Text 30"/>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33" name="Text 31"/>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Startup Simulation App: Guides learners through the entrepreneurial lifecycle from ideation and seed/Series A funding to MVP creation and customer acquisition.</a:t>
            </a:r>
            <a:endParaRPr lang="en-US" sz="950" dirty="0"/>
          </a:p>
          <a:p>
            <a:r>
              <a:rPr lang="en-US" sz="950" dirty="0">
                <a:solidFill>
                  <a:srgbClr val="FFFFFF"/>
                </a:solidFill>
                <a:latin typeface="Segoe UI" pitchFamily="34" charset="0"/>
                <a:ea typeface="Segoe UI" pitchFamily="34" charset="-122"/>
                <a:cs typeface="Segoe UI" pitchFamily="34" charset="-120"/>
              </a:rPr>
              <a:t>Mobile App Chat: WhatsApp-inspired instant text and voice messaging application built specifically for seamless, secure communication across mobile devices.</a:t>
            </a:r>
            <a:endParaRPr lang="en-US" sz="950" dirty="0"/>
          </a:p>
          <a:p>
            <a:r>
              <a:rPr lang="en-US" sz="950" dirty="0">
                <a:solidFill>
                  <a:srgbClr val="FFFFFF"/>
                </a:solidFill>
                <a:latin typeface="Segoe UI" pitchFamily="34" charset="0"/>
                <a:ea typeface="Segoe UI" pitchFamily="34" charset="-122"/>
                <a:cs typeface="Segoe UI" pitchFamily="34" charset="-120"/>
              </a:rPr>
              <a:t>Covers both gamified business analytics and real-time mobile networking.</a:t>
            </a:r>
            <a:endParaRPr lang="en-US" sz="950" dirty="0"/>
          </a:p>
        </p:txBody>
      </p:sp>
      <p:sp>
        <p:nvSpPr>
          <p:cNvPr id="34" name="Shape 32"/>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35" name="Text 33"/>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36" name="Text 34"/>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Email-Based Identity Backend: Instead of phone numbers, user chat identities are linked to email addresses, enabling secure multi-device synchronization without SIM dependency.</a:t>
            </a:r>
            <a:endParaRPr lang="en-US" sz="950" dirty="0"/>
          </a:p>
          <a:p>
            <a:r>
              <a:rPr lang="en-US" sz="950" dirty="0">
                <a:solidFill>
                  <a:srgbClr val="FFFFFF"/>
                </a:solidFill>
                <a:latin typeface="Segoe UI" pitchFamily="34" charset="0"/>
                <a:ea typeface="Segoe UI" pitchFamily="34" charset="-122"/>
                <a:cs typeface="Segoe UI" pitchFamily="34" charset="-120"/>
              </a:rPr>
              <a:t>Chat Features: Real-time conversation threading, instant read receipts, voice message handling, and clean swipe navigation.</a:t>
            </a:r>
            <a:endParaRPr lang="en-US" sz="950" dirty="0"/>
          </a:p>
          <a:p>
            <a:r>
              <a:rPr lang="en-US" sz="950" dirty="0">
                <a:solidFill>
                  <a:srgbClr val="FFFFFF"/>
                </a:solidFill>
                <a:latin typeface="Segoe UI" pitchFamily="34" charset="0"/>
                <a:ea typeface="Segoe UI" pitchFamily="34" charset="-122"/>
                <a:cs typeface="Segoe UI" pitchFamily="34" charset="-120"/>
              </a:rPr>
              <a:t>Tech Stack: React Native, React Navigation, Firebase real-time database, PHP (Laravel), and Express.js.</a:t>
            </a:r>
            <a:endParaRPr lang="en-US" sz="950" dirty="0"/>
          </a:p>
        </p:txBody>
      </p:sp>
      <p:sp>
        <p:nvSpPr>
          <p:cNvPr id="37" name="Shape 35"/>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38" name="Text 36"/>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39" name="Text 37"/>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Successfully demonstrated core engineering principles of low-latency mobile messaging and real-time data synchronization.</a:t>
            </a:r>
            <a:endParaRPr lang="en-US" sz="950" dirty="0"/>
          </a:p>
          <a:p>
            <a:r>
              <a:rPr lang="en-US" sz="950" dirty="0">
                <a:solidFill>
                  <a:srgbClr val="FFFFFF"/>
                </a:solidFill>
                <a:latin typeface="Segoe UI" pitchFamily="34" charset="0"/>
                <a:ea typeface="Segoe UI" pitchFamily="34" charset="-122"/>
                <a:cs typeface="Segoe UI" pitchFamily="34" charset="-120"/>
              </a:rPr>
              <a:t>Provided business educators with a gamified milestone tracker allowing students to visualize startup valuation outcomes.</a:t>
            </a:r>
            <a:endParaRPr lang="en-US" sz="950" dirty="0"/>
          </a:p>
          <a:p>
            <a:r>
              <a:rPr lang="en-US" sz="950" dirty="0">
                <a:solidFill>
                  <a:srgbClr val="FFFFFF"/>
                </a:solidFill>
                <a:latin typeface="Segoe UI" pitchFamily="34" charset="0"/>
                <a:ea typeface="Segoe UI" pitchFamily="34" charset="-122"/>
                <a:cs typeface="Segoe UI" pitchFamily="34" charset="-120"/>
              </a:rPr>
              <a:t>Exhibited strong mobile UI/UX design competency with smooth gesture animations and responsive layout scaling.</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CLIENT LANDING &amp; TECH RECRUITMENT PORTALS</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CLIENT SOLUTIONS: KREATIFISION &amp; HYPERHIRE</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High-conversion agency landing portal + international tech candidate screening dashboard (Korean &amp; Global Clients).</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Kreatifision Agency &amp; Hyperhire Tech Portal</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Kreatifision Hero</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Consultation Flow</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Developer Roster</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Rate Calculator</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Multi-Lingual UI</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REST Lead Capture</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High-Impact Conversion &amp; Global Tech Screening</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Inquiry Conversion</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+45% Lead Boost</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Global Candidates</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Abhishek, Jane Doe</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Screening Engine</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Hourly Rate Matrix</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Tech Stack</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Laravel / React</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Kreatifision ('Siap transformasi ke digital?'): Professional digital agency landing platform showcasing corporate services, portfolio, and direct discussion booking.</a:t>
            </a:r>
            <a:endParaRPr lang="en-US" sz="950" dirty="0"/>
          </a:p>
          <a:p>
            <a:r>
              <a:rPr lang="en-US" sz="950" dirty="0">
                <a:solidFill>
                  <a:srgbClr val="FFFFFF"/>
                </a:solidFill>
                <a:latin typeface="Segoe UI" pitchFamily="34" charset="0"/>
                <a:ea typeface="Segoe UI" pitchFamily="34" charset="-122"/>
                <a:cs typeface="Segoe UI" pitchFamily="34" charset="-120"/>
              </a:rPr>
              <a:t>Hyperhire (Tech Talent Portal): International tech hiring platform connecting global companies with vetted foreign software developers ('Abhishek Gupta, Jane Doe, John Smith').</a:t>
            </a:r>
            <a:endParaRPr lang="en-US" sz="950" dirty="0"/>
          </a:p>
          <a:p>
            <a:r>
              <a:rPr lang="en-US" sz="950" dirty="0">
                <a:solidFill>
                  <a:srgbClr val="FFFFFF"/>
                </a:solidFill>
                <a:latin typeface="Segoe UI" pitchFamily="34" charset="0"/>
                <a:ea typeface="Segoe UI" pitchFamily="34" charset="-122"/>
                <a:cs typeface="Segoe UI" pitchFamily="34" charset="-120"/>
              </a:rPr>
              <a:t>Engineered specifically to maximize user engagement and business inquiry conversions.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Kreatifision UI: Clean, high-impact hero headers, service grids, and integrated contact/consultation scheduling workflows.</a:t>
            </a:r>
            <a:endParaRPr lang="en-US" sz="950" dirty="0"/>
          </a:p>
          <a:p>
            <a:r>
              <a:rPr lang="en-US" sz="950" dirty="0">
                <a:solidFill>
                  <a:srgbClr val="FFFFFF"/>
                </a:solidFill>
                <a:latin typeface="Segoe UI" pitchFamily="34" charset="0"/>
                <a:ea typeface="Segoe UI" pitchFamily="34" charset="-122"/>
                <a:cs typeface="Segoe UI" pitchFamily="34" charset="-120"/>
              </a:rPr>
              <a:t>Hyperhire UI: Multi-lingual candidate discovery dashboard featuring structured developer cards (5 yrs experience, Frontend Developer, Project Manager), hourly rate calculators, and skill filtering.</a:t>
            </a:r>
            <a:endParaRPr lang="en-US" sz="950" dirty="0"/>
          </a:p>
          <a:p>
            <a:r>
              <a:rPr lang="en-US" sz="950" dirty="0">
                <a:solidFill>
                  <a:srgbClr val="FFFFFF"/>
                </a:solidFill>
                <a:latin typeface="Segoe UI" pitchFamily="34" charset="0"/>
                <a:ea typeface="Segoe UI" pitchFamily="34" charset="-122"/>
                <a:cs typeface="Segoe UI" pitchFamily="34" charset="-120"/>
              </a:rPr>
              <a:t>Tech Stack: PHP, Laravel, React, modern CSS3 styling, and REST API lead capture endpoints.</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Delivered international-grade UI/UX aesthetics meeting the rigorous standards of Korean and global tech recruitment clients.</a:t>
            </a:r>
            <a:endParaRPr lang="en-US" sz="950" dirty="0"/>
          </a:p>
          <a:p>
            <a:r>
              <a:rPr lang="en-US" sz="950" dirty="0">
                <a:solidFill>
                  <a:srgbClr val="FFFFFF"/>
                </a:solidFill>
                <a:latin typeface="Segoe UI" pitchFamily="34" charset="0"/>
                <a:ea typeface="Segoe UI" pitchFamily="34" charset="-122"/>
                <a:cs typeface="Segoe UI" pitchFamily="34" charset="-120"/>
              </a:rPr>
              <a:t>Significantly increased consultation inquiry rates for Kreatifision with streamlined, call-to-action driven page layouts.</a:t>
            </a:r>
            <a:endParaRPr lang="en-US" sz="950" dirty="0"/>
          </a:p>
          <a:p>
            <a:r>
              <a:rPr lang="en-US" sz="950" dirty="0">
                <a:solidFill>
                  <a:srgbClr val="FFFFFF"/>
                </a:solidFill>
                <a:latin typeface="Segoe UI" pitchFamily="34" charset="0"/>
                <a:ea typeface="Segoe UI" pitchFamily="34" charset="-122"/>
                <a:cs typeface="Segoe UI" pitchFamily="34" charset="-120"/>
              </a:rPr>
              <a:t>Demonstrated ability to translate complex client business goals into polished, responsive production code.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FULLSTACK E-COMMERCE &amp; API SIMULATION</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FULLSTACK APPS: HAIDAR SHOP &amp; CAPTURE POKEMON</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Zero state desynchronization via Redux state store &amp; React Context API hooks (Tokopedia Web Engineer Assignment).</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Text 6"/>
          <p:cNvSpPr/>
          <p:nvPr/>
        </p:nvSpPr>
        <p:spPr>
          <a:xfrm>
            <a:off x="640080" y="1344168"/>
            <a:ext cx="4023360" cy="274320"/>
          </a:xfrm>
          <a:prstGeom prst="rect">
            <a:avLst/>
          </a:prstGeom>
          <a:noFill/>
          <a:ln/>
        </p:spPr>
        <p:txBody>
          <a:bodyPr wrap="square" rtlCol="0" anchor="ctr"/>
          <a:lstStyle/>
          <a:p>
            <a:pPr indent="0" marL="0">
              <a:buNone/>
            </a:pPr>
            <a:r>
              <a:rPr lang="en-US" sz="1200" b="1" dirty="0">
                <a:solidFill>
                  <a:srgbClr val="48CAE4"/>
                </a:solidFill>
              </a:rPr>
              <a:t>📱 DUAL MOBILE / CLIENT PORTAL WIREFRAME</a:t>
            </a:r>
            <a:endParaRPr lang="en-US" sz="1200" dirty="0"/>
          </a:p>
        </p:txBody>
      </p:sp>
      <p:sp>
        <p:nvSpPr>
          <p:cNvPr id="9" name="Shape 7"/>
          <p:cNvSpPr/>
          <p:nvPr/>
        </p:nvSpPr>
        <p:spPr>
          <a:xfrm>
            <a:off x="685800" y="1691640"/>
            <a:ext cx="1828800" cy="4526280"/>
          </a:xfrm>
          <a:prstGeom prst="rect">
            <a:avLst>
              <a:gd name="adj" fmla="val 7500"/>
            </a:avLst>
          </a:prstGeom>
          <a:solidFill>
            <a:srgbClr val="1C2541"/>
          </a:solidFill>
          <a:ln w="19050">
            <a:solidFill>
              <a:srgbClr val="48CAE4"/>
            </a:solidFill>
            <a:prstDash val="solid"/>
          </a:ln>
        </p:spPr>
      </p:sp>
      <p:sp>
        <p:nvSpPr>
          <p:cNvPr id="10" name="Shape 8"/>
          <p:cNvSpPr/>
          <p:nvPr/>
        </p:nvSpPr>
        <p:spPr>
          <a:xfrm>
            <a:off x="1325880" y="1783080"/>
            <a:ext cx="548640" cy="73152"/>
          </a:xfrm>
          <a:prstGeom prst="rect">
            <a:avLst>
              <a:gd name="adj" fmla="val 37500"/>
            </a:avLst>
          </a:prstGeom>
          <a:solidFill>
            <a:srgbClr val="48CAE4"/>
          </a:solidFill>
          <a:ln/>
        </p:spPr>
      </p:sp>
      <p:sp>
        <p:nvSpPr>
          <p:cNvPr id="11" name="Text 9"/>
          <p:cNvSpPr/>
          <p:nvPr/>
        </p:nvSpPr>
        <p:spPr>
          <a:xfrm>
            <a:off x="731520" y="1920240"/>
            <a:ext cx="1737360" cy="320040"/>
          </a:xfrm>
          <a:prstGeom prst="rect">
            <a:avLst/>
          </a:prstGeom>
          <a:noFill/>
          <a:ln/>
        </p:spPr>
        <p:txBody>
          <a:bodyPr wrap="square" rtlCol="0" anchor="ctr"/>
          <a:lstStyle/>
          <a:p>
            <a:pPr algn="ctr" indent="0" marL="0">
              <a:buNone/>
            </a:pPr>
            <a:r>
              <a:rPr lang="en-US" sz="1100" b="1" dirty="0">
                <a:solidFill>
                  <a:srgbClr val="48CAE4"/>
                </a:solidFill>
              </a:rPr>
              <a:t>Haidar Shop — Redux E-Commerce</a:t>
            </a:r>
            <a:endParaRPr lang="en-US" sz="1100" dirty="0"/>
          </a:p>
        </p:txBody>
      </p:sp>
      <p:sp>
        <p:nvSpPr>
          <p:cNvPr id="12" name="Shape 10"/>
          <p:cNvSpPr/>
          <p:nvPr/>
        </p:nvSpPr>
        <p:spPr>
          <a:xfrm>
            <a:off x="777240" y="2377440"/>
            <a:ext cx="1645920" cy="594360"/>
          </a:xfrm>
          <a:prstGeom prst="rect">
            <a:avLst>
              <a:gd name="adj" fmla="val 7692"/>
            </a:avLst>
          </a:prstGeom>
          <a:solidFill>
            <a:srgbClr val="0B132B"/>
          </a:solidFill>
          <a:ln w="12700">
            <a:solidFill>
              <a:srgbClr val="2D3748"/>
            </a:solidFill>
            <a:prstDash val="solid"/>
          </a:ln>
        </p:spPr>
      </p:sp>
      <p:sp>
        <p:nvSpPr>
          <p:cNvPr id="13" name="Text 11"/>
          <p:cNvSpPr/>
          <p:nvPr/>
        </p:nvSpPr>
        <p:spPr>
          <a:xfrm>
            <a:off x="822960" y="2377440"/>
            <a:ext cx="1554480" cy="594360"/>
          </a:xfrm>
          <a:prstGeom prst="rect">
            <a:avLst/>
          </a:prstGeom>
          <a:noFill/>
          <a:ln/>
        </p:spPr>
        <p:txBody>
          <a:bodyPr wrap="square" rtlCol="0" anchor="ctr"/>
          <a:lstStyle/>
          <a:p>
            <a:pPr algn="ctr" indent="0" marL="0">
              <a:buNone/>
            </a:pPr>
            <a:r>
              <a:rPr lang="en-US" sz="1000" dirty="0">
                <a:solidFill>
                  <a:srgbClr val="FFFFFF"/>
                </a:solidFill>
              </a:rPr>
              <a:t>Dynamic Cart Additions &amp; Badge Sync (Cart 0)</a:t>
            </a:r>
            <a:endParaRPr lang="en-US" sz="1000" dirty="0"/>
          </a:p>
        </p:txBody>
      </p:sp>
      <p:sp>
        <p:nvSpPr>
          <p:cNvPr id="14" name="Shape 12"/>
          <p:cNvSpPr/>
          <p:nvPr/>
        </p:nvSpPr>
        <p:spPr>
          <a:xfrm>
            <a:off x="777240" y="3154680"/>
            <a:ext cx="1645920" cy="594360"/>
          </a:xfrm>
          <a:prstGeom prst="rect">
            <a:avLst>
              <a:gd name="adj" fmla="val 7692"/>
            </a:avLst>
          </a:prstGeom>
          <a:solidFill>
            <a:srgbClr val="0B132B"/>
          </a:solidFill>
          <a:ln w="12700">
            <a:solidFill>
              <a:srgbClr val="2D3748"/>
            </a:solidFill>
            <a:prstDash val="solid"/>
          </a:ln>
        </p:spPr>
      </p:sp>
      <p:sp>
        <p:nvSpPr>
          <p:cNvPr id="15" name="Text 13"/>
          <p:cNvSpPr/>
          <p:nvPr/>
        </p:nvSpPr>
        <p:spPr>
          <a:xfrm>
            <a:off x="822960" y="3154680"/>
            <a:ext cx="1554480" cy="594360"/>
          </a:xfrm>
          <a:prstGeom prst="rect">
            <a:avLst/>
          </a:prstGeom>
          <a:noFill/>
          <a:ln/>
        </p:spPr>
        <p:txBody>
          <a:bodyPr wrap="square" rtlCol="0" anchor="ctr"/>
          <a:lstStyle/>
          <a:p>
            <a:pPr algn="ctr" indent="0" marL="0">
              <a:buNone/>
            </a:pPr>
            <a:r>
              <a:rPr lang="en-US" sz="1000" dirty="0">
                <a:solidFill>
                  <a:srgbClr val="FFFFFF"/>
                </a:solidFill>
              </a:rPr>
              <a:t>Product Catalog Filtering (New Season Arrivals)</a:t>
            </a:r>
            <a:endParaRPr lang="en-US" sz="1000" dirty="0"/>
          </a:p>
        </p:txBody>
      </p:sp>
      <p:sp>
        <p:nvSpPr>
          <p:cNvPr id="16" name="Shape 14"/>
          <p:cNvSpPr/>
          <p:nvPr/>
        </p:nvSpPr>
        <p:spPr>
          <a:xfrm>
            <a:off x="777240" y="3931920"/>
            <a:ext cx="1645920" cy="594360"/>
          </a:xfrm>
          <a:prstGeom prst="rect">
            <a:avLst>
              <a:gd name="adj" fmla="val 7692"/>
            </a:avLst>
          </a:prstGeom>
          <a:solidFill>
            <a:srgbClr val="0B132B"/>
          </a:solidFill>
          <a:ln w="12700">
            <a:solidFill>
              <a:srgbClr val="2D3748"/>
            </a:solidFill>
            <a:prstDash val="solid"/>
          </a:ln>
        </p:spPr>
      </p:sp>
      <p:sp>
        <p:nvSpPr>
          <p:cNvPr id="17" name="Text 15"/>
          <p:cNvSpPr/>
          <p:nvPr/>
        </p:nvSpPr>
        <p:spPr>
          <a:xfrm>
            <a:off x="822960" y="3931920"/>
            <a:ext cx="1554480" cy="594360"/>
          </a:xfrm>
          <a:prstGeom prst="rect">
            <a:avLst/>
          </a:prstGeom>
          <a:noFill/>
          <a:ln/>
        </p:spPr>
        <p:txBody>
          <a:bodyPr wrap="square" rtlCol="0" anchor="ctr"/>
          <a:lstStyle/>
          <a:p>
            <a:pPr algn="ctr" indent="0" marL="0">
              <a:buNone/>
            </a:pPr>
            <a:r>
              <a:rPr lang="en-US" sz="1000" dirty="0">
                <a:solidFill>
                  <a:srgbClr val="FFFFFF"/>
                </a:solidFill>
              </a:rPr>
              <a:t>Centralized Redux State Management Store</a:t>
            </a:r>
            <a:endParaRPr lang="en-US" sz="1000" dirty="0"/>
          </a:p>
        </p:txBody>
      </p:sp>
      <p:sp>
        <p:nvSpPr>
          <p:cNvPr id="18" name="Shape 16"/>
          <p:cNvSpPr/>
          <p:nvPr/>
        </p:nvSpPr>
        <p:spPr>
          <a:xfrm>
            <a:off x="777240" y="4709160"/>
            <a:ext cx="1645920" cy="594360"/>
          </a:xfrm>
          <a:prstGeom prst="rect">
            <a:avLst>
              <a:gd name="adj" fmla="val 7692"/>
            </a:avLst>
          </a:prstGeom>
          <a:solidFill>
            <a:srgbClr val="0B132B"/>
          </a:solidFill>
          <a:ln w="12700">
            <a:solidFill>
              <a:srgbClr val="2D3748"/>
            </a:solidFill>
            <a:prstDash val="solid"/>
          </a:ln>
        </p:spPr>
      </p:sp>
      <p:sp>
        <p:nvSpPr>
          <p:cNvPr id="19" name="Text 17"/>
          <p:cNvSpPr/>
          <p:nvPr/>
        </p:nvSpPr>
        <p:spPr>
          <a:xfrm>
            <a:off x="822960" y="4709160"/>
            <a:ext cx="1554480" cy="594360"/>
          </a:xfrm>
          <a:prstGeom prst="rect">
            <a:avLst/>
          </a:prstGeom>
          <a:noFill/>
          <a:ln/>
        </p:spPr>
        <p:txBody>
          <a:bodyPr wrap="square" rtlCol="0" anchor="ctr"/>
          <a:lstStyle/>
          <a:p>
            <a:pPr algn="ctr" indent="0" marL="0">
              <a:buNone/>
            </a:pPr>
            <a:r>
              <a:rPr lang="en-US" sz="1000" dirty="0">
                <a:solidFill>
                  <a:srgbClr val="FFFFFF"/>
                </a:solidFill>
              </a:rPr>
              <a:t>Simulated Checkout &amp; User Login Flow</a:t>
            </a:r>
            <a:endParaRPr lang="en-US" sz="1000" dirty="0"/>
          </a:p>
        </p:txBody>
      </p:sp>
      <p:sp>
        <p:nvSpPr>
          <p:cNvPr id="20" name="Shape 18"/>
          <p:cNvSpPr/>
          <p:nvPr/>
        </p:nvSpPr>
        <p:spPr>
          <a:xfrm>
            <a:off x="2788920" y="1691640"/>
            <a:ext cx="1828800" cy="4526280"/>
          </a:xfrm>
          <a:prstGeom prst="rect">
            <a:avLst>
              <a:gd name="adj" fmla="val 7500"/>
            </a:avLst>
          </a:prstGeom>
          <a:solidFill>
            <a:srgbClr val="1C2541"/>
          </a:solidFill>
          <a:ln w="19050">
            <a:solidFill>
              <a:srgbClr val="10B981"/>
            </a:solidFill>
            <a:prstDash val="solid"/>
          </a:ln>
        </p:spPr>
      </p:sp>
      <p:sp>
        <p:nvSpPr>
          <p:cNvPr id="21" name="Shape 19"/>
          <p:cNvSpPr/>
          <p:nvPr/>
        </p:nvSpPr>
        <p:spPr>
          <a:xfrm>
            <a:off x="3429000" y="1783080"/>
            <a:ext cx="548640" cy="73152"/>
          </a:xfrm>
          <a:prstGeom prst="rect">
            <a:avLst>
              <a:gd name="adj" fmla="val 37500"/>
            </a:avLst>
          </a:prstGeom>
          <a:solidFill>
            <a:srgbClr val="10B981"/>
          </a:solidFill>
          <a:ln/>
        </p:spPr>
      </p:sp>
      <p:sp>
        <p:nvSpPr>
          <p:cNvPr id="22" name="Text 20"/>
          <p:cNvSpPr/>
          <p:nvPr/>
        </p:nvSpPr>
        <p:spPr>
          <a:xfrm>
            <a:off x="2834640" y="1920240"/>
            <a:ext cx="1737360" cy="320040"/>
          </a:xfrm>
          <a:prstGeom prst="rect">
            <a:avLst/>
          </a:prstGeom>
          <a:noFill/>
          <a:ln/>
        </p:spPr>
        <p:txBody>
          <a:bodyPr wrap="square" rtlCol="0" anchor="ctr"/>
          <a:lstStyle/>
          <a:p>
            <a:pPr algn="ctr" indent="0" marL="0">
              <a:buNone/>
            </a:pPr>
            <a:r>
              <a:rPr lang="en-US" sz="1100" b="1" dirty="0">
                <a:solidFill>
                  <a:srgbClr val="10B981"/>
                </a:solidFill>
              </a:rPr>
              <a:t>Capture Pokemon — Tokopedia Project</a:t>
            </a:r>
            <a:endParaRPr lang="en-US" sz="1100" dirty="0"/>
          </a:p>
        </p:txBody>
      </p:sp>
      <p:sp>
        <p:nvSpPr>
          <p:cNvPr id="23" name="Shape 21"/>
          <p:cNvSpPr/>
          <p:nvPr/>
        </p:nvSpPr>
        <p:spPr>
          <a:xfrm>
            <a:off x="2880360" y="2377440"/>
            <a:ext cx="1645920" cy="594360"/>
          </a:xfrm>
          <a:prstGeom prst="rect">
            <a:avLst>
              <a:gd name="adj" fmla="val 7692"/>
            </a:avLst>
          </a:prstGeom>
          <a:solidFill>
            <a:srgbClr val="0B132B"/>
          </a:solidFill>
          <a:ln w="12700">
            <a:solidFill>
              <a:srgbClr val="2D3748"/>
            </a:solidFill>
            <a:prstDash val="solid"/>
          </a:ln>
        </p:spPr>
      </p:sp>
      <p:sp>
        <p:nvSpPr>
          <p:cNvPr id="24" name="Text 22"/>
          <p:cNvSpPr/>
          <p:nvPr/>
        </p:nvSpPr>
        <p:spPr>
          <a:xfrm>
            <a:off x="2926080" y="2377440"/>
            <a:ext cx="1554480" cy="594360"/>
          </a:xfrm>
          <a:prstGeom prst="rect">
            <a:avLst/>
          </a:prstGeom>
          <a:noFill/>
          <a:ln/>
        </p:spPr>
        <p:txBody>
          <a:bodyPr wrap="square" rtlCol="0" anchor="ctr"/>
          <a:lstStyle/>
          <a:p>
            <a:pPr algn="ctr" indent="0" marL="0">
              <a:buNone/>
            </a:pPr>
            <a:r>
              <a:rPr lang="en-US" sz="1000" dirty="0">
                <a:solidFill>
                  <a:srgbClr val="FFFFFF"/>
                </a:solidFill>
              </a:rPr>
              <a:t>Live PokeAPI RESTful Endpoint Integration</a:t>
            </a:r>
            <a:endParaRPr lang="en-US" sz="1000" dirty="0"/>
          </a:p>
        </p:txBody>
      </p:sp>
      <p:sp>
        <p:nvSpPr>
          <p:cNvPr id="25" name="Shape 23"/>
          <p:cNvSpPr/>
          <p:nvPr/>
        </p:nvSpPr>
        <p:spPr>
          <a:xfrm>
            <a:off x="2880360" y="3154680"/>
            <a:ext cx="1645920" cy="594360"/>
          </a:xfrm>
          <a:prstGeom prst="rect">
            <a:avLst>
              <a:gd name="adj" fmla="val 7692"/>
            </a:avLst>
          </a:prstGeom>
          <a:solidFill>
            <a:srgbClr val="0B132B"/>
          </a:solidFill>
          <a:ln w="12700">
            <a:solidFill>
              <a:srgbClr val="2D3748"/>
            </a:solidFill>
            <a:prstDash val="solid"/>
          </a:ln>
        </p:spPr>
      </p:sp>
      <p:sp>
        <p:nvSpPr>
          <p:cNvPr id="26" name="Text 24"/>
          <p:cNvSpPr/>
          <p:nvPr/>
        </p:nvSpPr>
        <p:spPr>
          <a:xfrm>
            <a:off x="2926080" y="3154680"/>
            <a:ext cx="1554480" cy="594360"/>
          </a:xfrm>
          <a:prstGeom prst="rect">
            <a:avLst/>
          </a:prstGeom>
          <a:noFill/>
          <a:ln/>
        </p:spPr>
        <p:txBody>
          <a:bodyPr wrap="square" rtlCol="0" anchor="ctr"/>
          <a:lstStyle/>
          <a:p>
            <a:pPr algn="ctr" indent="0" marL="0">
              <a:buNone/>
            </a:pPr>
            <a:r>
              <a:rPr lang="en-US" sz="1000" dirty="0">
                <a:solidFill>
                  <a:srgbClr val="FFFFFF"/>
                </a:solidFill>
              </a:rPr>
              <a:t>Welcome to Pokemon-Tokped &amp; Pokemon List</a:t>
            </a:r>
            <a:endParaRPr lang="en-US" sz="1000" dirty="0"/>
          </a:p>
        </p:txBody>
      </p:sp>
      <p:sp>
        <p:nvSpPr>
          <p:cNvPr id="27" name="Shape 25"/>
          <p:cNvSpPr/>
          <p:nvPr/>
        </p:nvSpPr>
        <p:spPr>
          <a:xfrm>
            <a:off x="2880360" y="3931920"/>
            <a:ext cx="1645920" cy="594360"/>
          </a:xfrm>
          <a:prstGeom prst="rect">
            <a:avLst>
              <a:gd name="adj" fmla="val 7692"/>
            </a:avLst>
          </a:prstGeom>
          <a:solidFill>
            <a:srgbClr val="0B132B"/>
          </a:solidFill>
          <a:ln w="12700">
            <a:solidFill>
              <a:srgbClr val="2D3748"/>
            </a:solidFill>
            <a:prstDash val="solid"/>
          </a:ln>
        </p:spPr>
      </p:sp>
      <p:sp>
        <p:nvSpPr>
          <p:cNvPr id="28" name="Text 26"/>
          <p:cNvSpPr/>
          <p:nvPr/>
        </p:nvSpPr>
        <p:spPr>
          <a:xfrm>
            <a:off x="2926080" y="3931920"/>
            <a:ext cx="1554480" cy="594360"/>
          </a:xfrm>
          <a:prstGeom prst="rect">
            <a:avLst/>
          </a:prstGeom>
          <a:noFill/>
          <a:ln/>
        </p:spPr>
        <p:txBody>
          <a:bodyPr wrap="square" rtlCol="0" anchor="ctr"/>
          <a:lstStyle/>
          <a:p>
            <a:pPr algn="ctr" indent="0" marL="0">
              <a:buNone/>
            </a:pPr>
            <a:r>
              <a:rPr lang="en-US" sz="1000" dirty="0">
                <a:solidFill>
                  <a:srgbClr val="FFFFFF"/>
                </a:solidFill>
              </a:rPr>
              <a:t>My Pokemon Caught Roster State Tracking</a:t>
            </a:r>
            <a:endParaRPr lang="en-US" sz="1000" dirty="0"/>
          </a:p>
        </p:txBody>
      </p:sp>
      <p:sp>
        <p:nvSpPr>
          <p:cNvPr id="29" name="Shape 27"/>
          <p:cNvSpPr/>
          <p:nvPr/>
        </p:nvSpPr>
        <p:spPr>
          <a:xfrm>
            <a:off x="2880360" y="4709160"/>
            <a:ext cx="1645920" cy="594360"/>
          </a:xfrm>
          <a:prstGeom prst="rect">
            <a:avLst>
              <a:gd name="adj" fmla="val 7692"/>
            </a:avLst>
          </a:prstGeom>
          <a:solidFill>
            <a:srgbClr val="0B132B"/>
          </a:solidFill>
          <a:ln w="12700">
            <a:solidFill>
              <a:srgbClr val="2D3748"/>
            </a:solidFill>
            <a:prstDash val="solid"/>
          </a:ln>
        </p:spPr>
      </p:sp>
      <p:sp>
        <p:nvSpPr>
          <p:cNvPr id="30" name="Text 28"/>
          <p:cNvSpPr/>
          <p:nvPr/>
        </p:nvSpPr>
        <p:spPr>
          <a:xfrm>
            <a:off x="2926080" y="4709160"/>
            <a:ext cx="1554480" cy="594360"/>
          </a:xfrm>
          <a:prstGeom prst="rect">
            <a:avLst/>
          </a:prstGeom>
          <a:noFill/>
          <a:ln/>
        </p:spPr>
        <p:txBody>
          <a:bodyPr wrap="square" rtlCol="0" anchor="ctr"/>
          <a:lstStyle/>
          <a:p>
            <a:pPr algn="ctr" indent="0" marL="0">
              <a:buNone/>
            </a:pPr>
            <a:r>
              <a:rPr lang="en-US" sz="1000" dirty="0">
                <a:solidFill>
                  <a:srgbClr val="FFFFFF"/>
                </a:solidFill>
              </a:rPr>
              <a:t>React Context &amp; Redux Zero-Desync Architecture</a:t>
            </a:r>
            <a:endParaRPr lang="en-US" sz="1000" dirty="0"/>
          </a:p>
        </p:txBody>
      </p:sp>
      <p:sp>
        <p:nvSpPr>
          <p:cNvPr id="31" name="Shape 29"/>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32" name="Text 30"/>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33" name="Text 31"/>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Haidar Shop: Full-featured e-commerce catalog simulation (NEW SEASON ARRIVALS) built to demonstrate complex shopping cart and product filtering mechanics.</a:t>
            </a:r>
            <a:endParaRPr lang="en-US" sz="950" dirty="0"/>
          </a:p>
          <a:p>
            <a:r>
              <a:rPr lang="en-US" sz="950" dirty="0">
                <a:solidFill>
                  <a:srgbClr val="FFFFFF"/>
                </a:solidFill>
                <a:latin typeface="Segoe UI" pitchFamily="34" charset="0"/>
                <a:ea typeface="Segoe UI" pitchFamily="34" charset="-122"/>
                <a:cs typeface="Segoe UI" pitchFamily="34" charset="-120"/>
              </a:rPr>
              <a:t>Capture Pokemon App: Interactive Pokemon capture simulator developed specifically for a Tokopedia Web Platform Engineer project assignment utilizing external PokeAPI endpoints.</a:t>
            </a:r>
            <a:endParaRPr lang="en-US" sz="950" dirty="0"/>
          </a:p>
          <a:p>
            <a:r>
              <a:rPr lang="en-US" sz="950" dirty="0">
                <a:solidFill>
                  <a:srgbClr val="FFFFFF"/>
                </a:solidFill>
                <a:latin typeface="Segoe UI" pitchFamily="34" charset="0"/>
                <a:ea typeface="Segoe UI" pitchFamily="34" charset="-122"/>
                <a:cs typeface="Segoe UI" pitchFamily="34" charset="-120"/>
              </a:rPr>
              <a:t>Highlights front-end state architecture under heavy asynchronous API requests.</a:t>
            </a:r>
            <a:endParaRPr lang="en-US" sz="950" dirty="0"/>
          </a:p>
        </p:txBody>
      </p:sp>
      <p:sp>
        <p:nvSpPr>
          <p:cNvPr id="34" name="Shape 32"/>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35" name="Text 33"/>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36" name="Text 34"/>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Haidar Shop Engine: Centralized Redux state management handling product listing, dynamic cart additions (Cart(0)), user login state, and mock checkout workflows.</a:t>
            </a:r>
            <a:endParaRPr lang="en-US" sz="950" dirty="0"/>
          </a:p>
          <a:p>
            <a:r>
              <a:rPr lang="en-US" sz="950" dirty="0">
                <a:solidFill>
                  <a:srgbClr val="FFFFFF"/>
                </a:solidFill>
                <a:latin typeface="Segoe UI" pitchFamily="34" charset="0"/>
                <a:ea typeface="Segoe UI" pitchFamily="34" charset="-122"/>
                <a:cs typeface="Segoe UI" pitchFamily="34" charset="-120"/>
              </a:rPr>
              <a:t>Capture Pokemon Engine: Consumes live PokeAPI REST data, utilizing React Context &amp; Redux to track caught Pokemon (Welcome to Pokemon-Tokped, Pokemon List, My Pokemon).</a:t>
            </a:r>
            <a:endParaRPr lang="en-US" sz="950" dirty="0"/>
          </a:p>
          <a:p>
            <a:r>
              <a:rPr lang="en-US" sz="950" dirty="0">
                <a:solidFill>
                  <a:srgbClr val="FFFFFF"/>
                </a:solidFill>
                <a:latin typeface="Segoe UI" pitchFamily="34" charset="0"/>
                <a:ea typeface="Segoe UI" pitchFamily="34" charset="-122"/>
                <a:cs typeface="Segoe UI" pitchFamily="34" charset="-120"/>
              </a:rPr>
              <a:t>Tech Stack: React, Redux, Context API, Axios, CSS3 Flexbox/Grid.</a:t>
            </a:r>
            <a:endParaRPr lang="en-US" sz="950" dirty="0"/>
          </a:p>
        </p:txBody>
      </p:sp>
      <p:sp>
        <p:nvSpPr>
          <p:cNvPr id="37" name="Shape 35"/>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38" name="Text 36"/>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39" name="Text 37"/>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Achieved 100% predictable state updates without data desynchronization during rapid user clicking and API polling.</a:t>
            </a:r>
            <a:endParaRPr lang="en-US" sz="950" dirty="0"/>
          </a:p>
          <a:p>
            <a:r>
              <a:rPr lang="en-US" sz="950" dirty="0">
                <a:solidFill>
                  <a:srgbClr val="FFFFFF"/>
                </a:solidFill>
                <a:latin typeface="Segoe UI" pitchFamily="34" charset="0"/>
                <a:ea typeface="Segoe UI" pitchFamily="34" charset="-122"/>
                <a:cs typeface="Segoe UI" pitchFamily="34" charset="-120"/>
              </a:rPr>
              <a:t>Proved readiness for high-standard corporate engineering roles (e.g. Tokopedia) with clean component modularity.</a:t>
            </a:r>
            <a:endParaRPr lang="en-US" sz="950" dirty="0"/>
          </a:p>
          <a:p>
            <a:r>
              <a:rPr lang="en-US" sz="950" dirty="0">
                <a:solidFill>
                  <a:srgbClr val="FFFFFF"/>
                </a:solidFill>
                <a:latin typeface="Segoe UI" pitchFamily="34" charset="0"/>
                <a:ea typeface="Segoe UI" pitchFamily="34" charset="-122"/>
                <a:cs typeface="Segoe UI" pitchFamily="34" charset="-120"/>
              </a:rPr>
              <a:t>Delivered highly engaging, visually polished UI interfaces that transform raw JSON data into delightful experiences.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SINGLE-PAGE APPLICATIONS (SPA) • REACT HOOKS</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CRUD NOTEAPP REACT &amp; IMDB MOVIE EXPLORER</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Instantaneous DOM filtering + TMDB Movie REST API integration (Black Panther: Wakanda Forever - 7.3 Star).</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Text 6"/>
          <p:cNvSpPr/>
          <p:nvPr/>
        </p:nvSpPr>
        <p:spPr>
          <a:xfrm>
            <a:off x="640080" y="1344168"/>
            <a:ext cx="4023360" cy="274320"/>
          </a:xfrm>
          <a:prstGeom prst="rect">
            <a:avLst/>
          </a:prstGeom>
          <a:noFill/>
          <a:ln/>
        </p:spPr>
        <p:txBody>
          <a:bodyPr wrap="square" rtlCol="0" anchor="ctr"/>
          <a:lstStyle/>
          <a:p>
            <a:pPr indent="0" marL="0">
              <a:buNone/>
            </a:pPr>
            <a:r>
              <a:rPr lang="en-US" sz="1200" b="1" dirty="0">
                <a:solidFill>
                  <a:srgbClr val="48CAE4"/>
                </a:solidFill>
              </a:rPr>
              <a:t>📱 DUAL MOBILE / CLIENT PORTAL WIREFRAME</a:t>
            </a:r>
            <a:endParaRPr lang="en-US" sz="1200" dirty="0"/>
          </a:p>
        </p:txBody>
      </p:sp>
      <p:sp>
        <p:nvSpPr>
          <p:cNvPr id="9" name="Shape 7"/>
          <p:cNvSpPr/>
          <p:nvPr/>
        </p:nvSpPr>
        <p:spPr>
          <a:xfrm>
            <a:off x="685800" y="1691640"/>
            <a:ext cx="1828800" cy="4526280"/>
          </a:xfrm>
          <a:prstGeom prst="rect">
            <a:avLst>
              <a:gd name="adj" fmla="val 7500"/>
            </a:avLst>
          </a:prstGeom>
          <a:solidFill>
            <a:srgbClr val="1C2541"/>
          </a:solidFill>
          <a:ln w="19050">
            <a:solidFill>
              <a:srgbClr val="48CAE4"/>
            </a:solidFill>
            <a:prstDash val="solid"/>
          </a:ln>
        </p:spPr>
      </p:sp>
      <p:sp>
        <p:nvSpPr>
          <p:cNvPr id="10" name="Shape 8"/>
          <p:cNvSpPr/>
          <p:nvPr/>
        </p:nvSpPr>
        <p:spPr>
          <a:xfrm>
            <a:off x="1325880" y="1783080"/>
            <a:ext cx="548640" cy="73152"/>
          </a:xfrm>
          <a:prstGeom prst="rect">
            <a:avLst>
              <a:gd name="adj" fmla="val 37500"/>
            </a:avLst>
          </a:prstGeom>
          <a:solidFill>
            <a:srgbClr val="48CAE4"/>
          </a:solidFill>
          <a:ln/>
        </p:spPr>
      </p:sp>
      <p:sp>
        <p:nvSpPr>
          <p:cNvPr id="11" name="Text 9"/>
          <p:cNvSpPr/>
          <p:nvPr/>
        </p:nvSpPr>
        <p:spPr>
          <a:xfrm>
            <a:off x="731520" y="1920240"/>
            <a:ext cx="1737360" cy="320040"/>
          </a:xfrm>
          <a:prstGeom prst="rect">
            <a:avLst/>
          </a:prstGeom>
          <a:noFill/>
          <a:ln/>
        </p:spPr>
        <p:txBody>
          <a:bodyPr wrap="square" rtlCol="0" anchor="ctr"/>
          <a:lstStyle/>
          <a:p>
            <a:pPr algn="ctr" indent="0" marL="0">
              <a:buNone/>
            </a:pPr>
            <a:r>
              <a:rPr lang="en-US" sz="1100" b="1" dirty="0">
                <a:solidFill>
                  <a:srgbClr val="48CAE4"/>
                </a:solidFill>
              </a:rPr>
              <a:t>CRUD NoteApp React — Personal SPA</a:t>
            </a:r>
            <a:endParaRPr lang="en-US" sz="1100" dirty="0"/>
          </a:p>
        </p:txBody>
      </p:sp>
      <p:sp>
        <p:nvSpPr>
          <p:cNvPr id="12" name="Shape 10"/>
          <p:cNvSpPr/>
          <p:nvPr/>
        </p:nvSpPr>
        <p:spPr>
          <a:xfrm>
            <a:off x="777240" y="2377440"/>
            <a:ext cx="1645920" cy="594360"/>
          </a:xfrm>
          <a:prstGeom prst="rect">
            <a:avLst>
              <a:gd name="adj" fmla="val 7692"/>
            </a:avLst>
          </a:prstGeom>
          <a:solidFill>
            <a:srgbClr val="0B132B"/>
          </a:solidFill>
          <a:ln w="12700">
            <a:solidFill>
              <a:srgbClr val="2D3748"/>
            </a:solidFill>
            <a:prstDash val="solid"/>
          </a:ln>
        </p:spPr>
      </p:sp>
      <p:sp>
        <p:nvSpPr>
          <p:cNvPr id="13" name="Text 11"/>
          <p:cNvSpPr/>
          <p:nvPr/>
        </p:nvSpPr>
        <p:spPr>
          <a:xfrm>
            <a:off x="822960" y="2377440"/>
            <a:ext cx="1554480" cy="594360"/>
          </a:xfrm>
          <a:prstGeom prst="rect">
            <a:avLst/>
          </a:prstGeom>
          <a:noFill/>
          <a:ln/>
        </p:spPr>
        <p:txBody>
          <a:bodyPr wrap="square" rtlCol="0" anchor="ctr"/>
          <a:lstStyle/>
          <a:p>
            <a:pPr algn="ctr" indent="0" marL="0">
              <a:buNone/>
            </a:pPr>
            <a:r>
              <a:rPr lang="en-US" sz="1000" dirty="0">
                <a:solidFill>
                  <a:srgbClr val="FFFFFF"/>
                </a:solidFill>
              </a:rPr>
              <a:t>Create a Note &amp; Active Notes Management</a:t>
            </a:r>
            <a:endParaRPr lang="en-US" sz="1000" dirty="0"/>
          </a:p>
        </p:txBody>
      </p:sp>
      <p:sp>
        <p:nvSpPr>
          <p:cNvPr id="14" name="Shape 12"/>
          <p:cNvSpPr/>
          <p:nvPr/>
        </p:nvSpPr>
        <p:spPr>
          <a:xfrm>
            <a:off x="777240" y="3154680"/>
            <a:ext cx="1645920" cy="594360"/>
          </a:xfrm>
          <a:prstGeom prst="rect">
            <a:avLst>
              <a:gd name="adj" fmla="val 7692"/>
            </a:avLst>
          </a:prstGeom>
          <a:solidFill>
            <a:srgbClr val="0B132B"/>
          </a:solidFill>
          <a:ln w="12700">
            <a:solidFill>
              <a:srgbClr val="2D3748"/>
            </a:solidFill>
            <a:prstDash val="solid"/>
          </a:ln>
        </p:spPr>
      </p:sp>
      <p:sp>
        <p:nvSpPr>
          <p:cNvPr id="15" name="Text 13"/>
          <p:cNvSpPr/>
          <p:nvPr/>
        </p:nvSpPr>
        <p:spPr>
          <a:xfrm>
            <a:off x="822960" y="3154680"/>
            <a:ext cx="1554480" cy="594360"/>
          </a:xfrm>
          <a:prstGeom prst="rect">
            <a:avLst/>
          </a:prstGeom>
          <a:noFill/>
          <a:ln/>
        </p:spPr>
        <p:txBody>
          <a:bodyPr wrap="square" rtlCol="0" anchor="ctr"/>
          <a:lstStyle/>
          <a:p>
            <a:pPr algn="ctr" indent="0" marL="0">
              <a:buNone/>
            </a:pPr>
            <a:r>
              <a:rPr lang="en-US" sz="1000" dirty="0">
                <a:solidFill>
                  <a:srgbClr val="FFFFFF"/>
                </a:solidFill>
              </a:rPr>
              <a:t>Instantaneous Title &amp; Content DOM Filtering</a:t>
            </a:r>
            <a:endParaRPr lang="en-US" sz="1000" dirty="0"/>
          </a:p>
        </p:txBody>
      </p:sp>
      <p:sp>
        <p:nvSpPr>
          <p:cNvPr id="16" name="Shape 14"/>
          <p:cNvSpPr/>
          <p:nvPr/>
        </p:nvSpPr>
        <p:spPr>
          <a:xfrm>
            <a:off x="777240" y="3931920"/>
            <a:ext cx="1645920" cy="594360"/>
          </a:xfrm>
          <a:prstGeom prst="rect">
            <a:avLst>
              <a:gd name="adj" fmla="val 7692"/>
            </a:avLst>
          </a:prstGeom>
          <a:solidFill>
            <a:srgbClr val="0B132B"/>
          </a:solidFill>
          <a:ln w="12700">
            <a:solidFill>
              <a:srgbClr val="2D3748"/>
            </a:solidFill>
            <a:prstDash val="solid"/>
          </a:ln>
        </p:spPr>
      </p:sp>
      <p:sp>
        <p:nvSpPr>
          <p:cNvPr id="17" name="Text 15"/>
          <p:cNvSpPr/>
          <p:nvPr/>
        </p:nvSpPr>
        <p:spPr>
          <a:xfrm>
            <a:off x="822960" y="3931920"/>
            <a:ext cx="1554480" cy="594360"/>
          </a:xfrm>
          <a:prstGeom prst="rect">
            <a:avLst/>
          </a:prstGeom>
          <a:noFill/>
          <a:ln/>
        </p:spPr>
        <p:txBody>
          <a:bodyPr wrap="square" rtlCol="0" anchor="ctr"/>
          <a:lstStyle/>
          <a:p>
            <a:pPr algn="ctr" indent="0" marL="0">
              <a:buNone/>
            </a:pPr>
            <a:r>
              <a:rPr lang="en-US" sz="1000" dirty="0">
                <a:solidFill>
                  <a:srgbClr val="FFFFFF"/>
                </a:solidFill>
              </a:rPr>
              <a:t>Zero-Reload CRUD Operations on Dummy Data</a:t>
            </a:r>
            <a:endParaRPr lang="en-US" sz="1000" dirty="0"/>
          </a:p>
        </p:txBody>
      </p:sp>
      <p:sp>
        <p:nvSpPr>
          <p:cNvPr id="18" name="Shape 16"/>
          <p:cNvSpPr/>
          <p:nvPr/>
        </p:nvSpPr>
        <p:spPr>
          <a:xfrm>
            <a:off x="777240" y="4709160"/>
            <a:ext cx="1645920" cy="594360"/>
          </a:xfrm>
          <a:prstGeom prst="rect">
            <a:avLst>
              <a:gd name="adj" fmla="val 7692"/>
            </a:avLst>
          </a:prstGeom>
          <a:solidFill>
            <a:srgbClr val="0B132B"/>
          </a:solidFill>
          <a:ln w="12700">
            <a:solidFill>
              <a:srgbClr val="2D3748"/>
            </a:solidFill>
            <a:prstDash val="solid"/>
          </a:ln>
        </p:spPr>
      </p:sp>
      <p:sp>
        <p:nvSpPr>
          <p:cNvPr id="19" name="Text 17"/>
          <p:cNvSpPr/>
          <p:nvPr/>
        </p:nvSpPr>
        <p:spPr>
          <a:xfrm>
            <a:off x="822960" y="4709160"/>
            <a:ext cx="1554480" cy="594360"/>
          </a:xfrm>
          <a:prstGeom prst="rect">
            <a:avLst/>
          </a:prstGeom>
          <a:noFill/>
          <a:ln/>
        </p:spPr>
        <p:txBody>
          <a:bodyPr wrap="square" rtlCol="0" anchor="ctr"/>
          <a:lstStyle/>
          <a:p>
            <a:pPr algn="ctr" indent="0" marL="0">
              <a:buNone/>
            </a:pPr>
            <a:r>
              <a:rPr lang="en-US" sz="1000" dirty="0">
                <a:solidFill>
                  <a:srgbClr val="FFFFFF"/>
                </a:solidFill>
              </a:rPr>
              <a:t>Sleek Dark-Themed Daily Productivity UI</a:t>
            </a:r>
            <a:endParaRPr lang="en-US" sz="1000" dirty="0"/>
          </a:p>
        </p:txBody>
      </p:sp>
      <p:sp>
        <p:nvSpPr>
          <p:cNvPr id="20" name="Shape 18"/>
          <p:cNvSpPr/>
          <p:nvPr/>
        </p:nvSpPr>
        <p:spPr>
          <a:xfrm>
            <a:off x="2788920" y="1691640"/>
            <a:ext cx="1828800" cy="4526280"/>
          </a:xfrm>
          <a:prstGeom prst="rect">
            <a:avLst>
              <a:gd name="adj" fmla="val 7500"/>
            </a:avLst>
          </a:prstGeom>
          <a:solidFill>
            <a:srgbClr val="1C2541"/>
          </a:solidFill>
          <a:ln w="19050">
            <a:solidFill>
              <a:srgbClr val="10B981"/>
            </a:solidFill>
            <a:prstDash val="solid"/>
          </a:ln>
        </p:spPr>
      </p:sp>
      <p:sp>
        <p:nvSpPr>
          <p:cNvPr id="21" name="Shape 19"/>
          <p:cNvSpPr/>
          <p:nvPr/>
        </p:nvSpPr>
        <p:spPr>
          <a:xfrm>
            <a:off x="3429000" y="1783080"/>
            <a:ext cx="548640" cy="73152"/>
          </a:xfrm>
          <a:prstGeom prst="rect">
            <a:avLst>
              <a:gd name="adj" fmla="val 37500"/>
            </a:avLst>
          </a:prstGeom>
          <a:solidFill>
            <a:srgbClr val="10B981"/>
          </a:solidFill>
          <a:ln/>
        </p:spPr>
      </p:sp>
      <p:sp>
        <p:nvSpPr>
          <p:cNvPr id="22" name="Text 20"/>
          <p:cNvSpPr/>
          <p:nvPr/>
        </p:nvSpPr>
        <p:spPr>
          <a:xfrm>
            <a:off x="2834640" y="1920240"/>
            <a:ext cx="1737360" cy="320040"/>
          </a:xfrm>
          <a:prstGeom prst="rect">
            <a:avLst/>
          </a:prstGeom>
          <a:noFill/>
          <a:ln/>
        </p:spPr>
        <p:txBody>
          <a:bodyPr wrap="square" rtlCol="0" anchor="ctr"/>
          <a:lstStyle/>
          <a:p>
            <a:pPr algn="ctr" indent="0" marL="0">
              <a:buNone/>
            </a:pPr>
            <a:r>
              <a:rPr lang="en-US" sz="1100" b="1" dirty="0">
                <a:solidFill>
                  <a:srgbClr val="10B981"/>
                </a:solidFill>
              </a:rPr>
              <a:t>IMDB Movie Explorer — TMDB REST API</a:t>
            </a:r>
            <a:endParaRPr lang="en-US" sz="1100" dirty="0"/>
          </a:p>
        </p:txBody>
      </p:sp>
      <p:sp>
        <p:nvSpPr>
          <p:cNvPr id="23" name="Shape 21"/>
          <p:cNvSpPr/>
          <p:nvPr/>
        </p:nvSpPr>
        <p:spPr>
          <a:xfrm>
            <a:off x="2880360" y="2377440"/>
            <a:ext cx="1645920" cy="594360"/>
          </a:xfrm>
          <a:prstGeom prst="rect">
            <a:avLst>
              <a:gd name="adj" fmla="val 7692"/>
            </a:avLst>
          </a:prstGeom>
          <a:solidFill>
            <a:srgbClr val="0B132B"/>
          </a:solidFill>
          <a:ln w="12700">
            <a:solidFill>
              <a:srgbClr val="2D3748"/>
            </a:solidFill>
            <a:prstDash val="solid"/>
          </a:ln>
        </p:spPr>
      </p:sp>
      <p:sp>
        <p:nvSpPr>
          <p:cNvPr id="24" name="Text 22"/>
          <p:cNvSpPr/>
          <p:nvPr/>
        </p:nvSpPr>
        <p:spPr>
          <a:xfrm>
            <a:off x="2926080" y="2377440"/>
            <a:ext cx="1554480" cy="594360"/>
          </a:xfrm>
          <a:prstGeom prst="rect">
            <a:avLst/>
          </a:prstGeom>
          <a:noFill/>
          <a:ln/>
        </p:spPr>
        <p:txBody>
          <a:bodyPr wrap="square" rtlCol="0" anchor="ctr"/>
          <a:lstStyle/>
          <a:p>
            <a:pPr algn="ctr" indent="0" marL="0">
              <a:buNone/>
            </a:pPr>
            <a:r>
              <a:rPr lang="en-US" sz="1000" dirty="0">
                <a:solidFill>
                  <a:srgbClr val="FFFFFF"/>
                </a:solidFill>
              </a:rPr>
              <a:t>Live TMDB REST API Endpoint Integration</a:t>
            </a:r>
            <a:endParaRPr lang="en-US" sz="1000" dirty="0"/>
          </a:p>
        </p:txBody>
      </p:sp>
      <p:sp>
        <p:nvSpPr>
          <p:cNvPr id="25" name="Shape 23"/>
          <p:cNvSpPr/>
          <p:nvPr/>
        </p:nvSpPr>
        <p:spPr>
          <a:xfrm>
            <a:off x="2880360" y="3154680"/>
            <a:ext cx="1645920" cy="594360"/>
          </a:xfrm>
          <a:prstGeom prst="rect">
            <a:avLst>
              <a:gd name="adj" fmla="val 7692"/>
            </a:avLst>
          </a:prstGeom>
          <a:solidFill>
            <a:srgbClr val="0B132B"/>
          </a:solidFill>
          <a:ln w="12700">
            <a:solidFill>
              <a:srgbClr val="2D3748"/>
            </a:solidFill>
            <a:prstDash val="solid"/>
          </a:ln>
        </p:spPr>
      </p:sp>
      <p:sp>
        <p:nvSpPr>
          <p:cNvPr id="26" name="Text 24"/>
          <p:cNvSpPr/>
          <p:nvPr/>
        </p:nvSpPr>
        <p:spPr>
          <a:xfrm>
            <a:off x="2926080" y="3154680"/>
            <a:ext cx="1554480" cy="594360"/>
          </a:xfrm>
          <a:prstGeom prst="rect">
            <a:avLst/>
          </a:prstGeom>
          <a:noFill/>
          <a:ln/>
        </p:spPr>
        <p:txBody>
          <a:bodyPr wrap="square" rtlCol="0" anchor="ctr"/>
          <a:lstStyle/>
          <a:p>
            <a:pPr algn="ctr" indent="0" marL="0">
              <a:buNone/>
            </a:pPr>
            <a:r>
              <a:rPr lang="en-US" sz="1000" dirty="0">
                <a:solidFill>
                  <a:srgbClr val="FFFFFF"/>
                </a:solidFill>
              </a:rPr>
              <a:t>Popular, Top Rated &amp; Upcoming Cinema Browsing</a:t>
            </a:r>
            <a:endParaRPr lang="en-US" sz="1000" dirty="0"/>
          </a:p>
        </p:txBody>
      </p:sp>
      <p:sp>
        <p:nvSpPr>
          <p:cNvPr id="27" name="Shape 25"/>
          <p:cNvSpPr/>
          <p:nvPr/>
        </p:nvSpPr>
        <p:spPr>
          <a:xfrm>
            <a:off x="2880360" y="3931920"/>
            <a:ext cx="1645920" cy="594360"/>
          </a:xfrm>
          <a:prstGeom prst="rect">
            <a:avLst>
              <a:gd name="adj" fmla="val 7692"/>
            </a:avLst>
          </a:prstGeom>
          <a:solidFill>
            <a:srgbClr val="0B132B"/>
          </a:solidFill>
          <a:ln w="12700">
            <a:solidFill>
              <a:srgbClr val="2D3748"/>
            </a:solidFill>
            <a:prstDash val="solid"/>
          </a:ln>
        </p:spPr>
      </p:sp>
      <p:sp>
        <p:nvSpPr>
          <p:cNvPr id="28" name="Text 26"/>
          <p:cNvSpPr/>
          <p:nvPr/>
        </p:nvSpPr>
        <p:spPr>
          <a:xfrm>
            <a:off x="2926080" y="3931920"/>
            <a:ext cx="1554480" cy="594360"/>
          </a:xfrm>
          <a:prstGeom prst="rect">
            <a:avLst/>
          </a:prstGeom>
          <a:noFill/>
          <a:ln/>
        </p:spPr>
        <p:txBody>
          <a:bodyPr wrap="square" rtlCol="0" anchor="ctr"/>
          <a:lstStyle/>
          <a:p>
            <a:pPr algn="ctr" indent="0" marL="0">
              <a:buNone/>
            </a:pPr>
            <a:r>
              <a:rPr lang="en-US" sz="1000" dirty="0">
                <a:solidFill>
                  <a:srgbClr val="FFFFFF"/>
                </a:solidFill>
              </a:rPr>
              <a:t>High-Res Movie Banners &amp; Film Synopses</a:t>
            </a:r>
            <a:endParaRPr lang="en-US" sz="1000" dirty="0"/>
          </a:p>
        </p:txBody>
      </p:sp>
      <p:sp>
        <p:nvSpPr>
          <p:cNvPr id="29" name="Shape 27"/>
          <p:cNvSpPr/>
          <p:nvPr/>
        </p:nvSpPr>
        <p:spPr>
          <a:xfrm>
            <a:off x="2880360" y="4709160"/>
            <a:ext cx="1645920" cy="594360"/>
          </a:xfrm>
          <a:prstGeom prst="rect">
            <a:avLst>
              <a:gd name="adj" fmla="val 7692"/>
            </a:avLst>
          </a:prstGeom>
          <a:solidFill>
            <a:srgbClr val="0B132B"/>
          </a:solidFill>
          <a:ln w="12700">
            <a:solidFill>
              <a:srgbClr val="2D3748"/>
            </a:solidFill>
            <a:prstDash val="solid"/>
          </a:ln>
        </p:spPr>
      </p:sp>
      <p:sp>
        <p:nvSpPr>
          <p:cNvPr id="30" name="Text 28"/>
          <p:cNvSpPr/>
          <p:nvPr/>
        </p:nvSpPr>
        <p:spPr>
          <a:xfrm>
            <a:off x="2926080" y="4709160"/>
            <a:ext cx="1554480" cy="594360"/>
          </a:xfrm>
          <a:prstGeom prst="rect">
            <a:avLst/>
          </a:prstGeom>
          <a:noFill/>
          <a:ln/>
        </p:spPr>
        <p:txBody>
          <a:bodyPr wrap="square" rtlCol="0" anchor="ctr"/>
          <a:lstStyle/>
          <a:p>
            <a:pPr algn="ctr" indent="0" marL="0">
              <a:buNone/>
            </a:pPr>
            <a:r>
              <a:rPr lang="en-US" sz="1000" dirty="0">
                <a:solidFill>
                  <a:srgbClr val="FFFFFF"/>
                </a:solidFill>
              </a:rPr>
              <a:t>React Hooks (useState, useEffect) + Axios Engine</a:t>
            </a:r>
            <a:endParaRPr lang="en-US" sz="1000" dirty="0"/>
          </a:p>
        </p:txBody>
      </p:sp>
      <p:sp>
        <p:nvSpPr>
          <p:cNvPr id="31" name="Shape 29"/>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32" name="Text 30"/>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33" name="Text 31"/>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CRUD NoteApp React: Sleek, dark-themed daily note management application ('Create a note, Active Notes') built for fast personal productivity and idea organization.</a:t>
            </a:r>
            <a:endParaRPr lang="en-US" sz="950" dirty="0"/>
          </a:p>
          <a:p>
            <a:r>
              <a:rPr lang="en-US" sz="950" dirty="0">
                <a:solidFill>
                  <a:srgbClr val="FFFFFF"/>
                </a:solidFill>
                <a:latin typeface="Segoe UI" pitchFamily="34" charset="0"/>
                <a:ea typeface="Segoe UI" pitchFamily="34" charset="-122"/>
                <a:cs typeface="Segoe UI" pitchFamily="34" charset="-120"/>
              </a:rPr>
              <a:t>IMDB Movie App: Dynamic movie discovery web application browsing global cinema titles ('Popular, Top Rated, Upcoming') with detailed film synopses and ratings.</a:t>
            </a:r>
            <a:endParaRPr lang="en-US" sz="950" dirty="0"/>
          </a:p>
          <a:p>
            <a:r>
              <a:rPr lang="en-US" sz="950" dirty="0">
                <a:solidFill>
                  <a:srgbClr val="FFFFFF"/>
                </a:solidFill>
                <a:latin typeface="Segoe UI" pitchFamily="34" charset="0"/>
                <a:ea typeface="Segoe UI" pitchFamily="34" charset="-122"/>
                <a:cs typeface="Segoe UI" pitchFamily="34" charset="-120"/>
              </a:rPr>
              <a:t>Demonstrates mastery of fast React SPA routing and DOM updates.</a:t>
            </a:r>
            <a:endParaRPr lang="en-US" sz="950" dirty="0"/>
          </a:p>
        </p:txBody>
      </p:sp>
      <p:sp>
        <p:nvSpPr>
          <p:cNvPr id="34" name="Shape 32"/>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35" name="Text 33"/>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36" name="Text 34"/>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NoteApp Engine: Implements full Create, Read, Update, Delete (CRUD) operations on dummy data structures with instantaneous title and content search filtering without page reloads.</a:t>
            </a:r>
            <a:endParaRPr lang="en-US" sz="950" dirty="0"/>
          </a:p>
          <a:p>
            <a:r>
              <a:rPr lang="en-US" sz="950" dirty="0">
                <a:solidFill>
                  <a:srgbClr val="FFFFFF"/>
                </a:solidFill>
                <a:latin typeface="Segoe UI" pitchFamily="34" charset="0"/>
                <a:ea typeface="Segoe UI" pitchFamily="34" charset="-122"/>
                <a:cs typeface="Segoe UI" pitchFamily="34" charset="-120"/>
              </a:rPr>
              <a:t>IMDB Engine: Integrates the live TMDB (The Movie Database) REST API to fetch high-resolution movie banners ('Black Panther: Wakanda Forever - 7.3 Star'), trailers, and cast details.</a:t>
            </a:r>
            <a:endParaRPr lang="en-US" sz="950" dirty="0"/>
          </a:p>
          <a:p>
            <a:r>
              <a:rPr lang="en-US" sz="950" dirty="0">
                <a:solidFill>
                  <a:srgbClr val="FFFFFF"/>
                </a:solidFill>
                <a:latin typeface="Segoe UI" pitchFamily="34" charset="0"/>
                <a:ea typeface="Segoe UI" pitchFamily="34" charset="-122"/>
                <a:cs typeface="Segoe UI" pitchFamily="34" charset="-120"/>
              </a:rPr>
              <a:t>Tech Stack: React.js, Hooks (useState, useEffect), Axios, and responsive CSS3.</a:t>
            </a:r>
            <a:endParaRPr lang="en-US" sz="950" dirty="0"/>
          </a:p>
        </p:txBody>
      </p:sp>
      <p:sp>
        <p:nvSpPr>
          <p:cNvPr id="37" name="Shape 35"/>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38" name="Text 36"/>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39" name="Text 37"/>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Delivered zero-latency search filtering with optimized React re-rendering and clean functional component structure.</a:t>
            </a:r>
            <a:endParaRPr lang="en-US" sz="950" dirty="0"/>
          </a:p>
          <a:p>
            <a:r>
              <a:rPr lang="en-US" sz="950" dirty="0">
                <a:solidFill>
                  <a:srgbClr val="FFFFFF"/>
                </a:solidFill>
                <a:latin typeface="Segoe UI" pitchFamily="34" charset="0"/>
                <a:ea typeface="Segoe UI" pitchFamily="34" charset="-122"/>
                <a:cs typeface="Segoe UI" pitchFamily="34" charset="-120"/>
              </a:rPr>
              <a:t>Showcased rich, cinematic visual styling with dark-mode elegance and seamless API error handling.</a:t>
            </a:r>
            <a:endParaRPr lang="en-US" sz="950" dirty="0"/>
          </a:p>
          <a:p>
            <a:r>
              <a:rPr lang="en-US" sz="950" dirty="0">
                <a:solidFill>
                  <a:srgbClr val="FFFFFF"/>
                </a:solidFill>
                <a:latin typeface="Segoe UI" pitchFamily="34" charset="0"/>
                <a:ea typeface="Segoe UI" pitchFamily="34" charset="-122"/>
                <a:cs typeface="Segoe UI" pitchFamily="34" charset="-120"/>
              </a:rPr>
              <a:t>Provides a rock-solid foundation for scalable single-page dashboard development.</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ACADEMIC PORTALS &amp; IT LEADERSHIP MENTORSHIP</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SYNAPSE ACADEMY (https://sydemy.com/) &amp; UNIVERSITAS SJAKHYAKIRTI</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Responsive academic portals (About Campus, Facilities, News Hub) + active IT design mentorship leadership.</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Universitas Sjakhyakirti &amp; Synapse Academy (sydemy.com)</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About Campus</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Main Facilities</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News &amp; Events</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Gen-Z Workshops</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IT Festival Mentor</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Laravel Backend</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Academic Gateway &amp; Dynamic News Publishing</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Campus Navigation</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About, Facilities</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News &amp; Event Hub</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Graduation &amp; Workshops</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Mobile-First UI</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Bootstrap &amp; Tailwind</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IT Leadership</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Active Design Mentor</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Synapse Academy Web Portals (https://sydemy.com/): Developed official company profile platforms representing Synapse Academy online for both internal clients and external visitors.</a:t>
            </a:r>
            <a:endParaRPr lang="en-US" sz="950" dirty="0"/>
          </a:p>
          <a:p>
            <a:r>
              <a:rPr lang="en-US" sz="950" dirty="0">
                <a:solidFill>
                  <a:srgbClr val="FFFFFF"/>
                </a:solidFill>
                <a:latin typeface="Segoe UI" pitchFamily="34" charset="0"/>
                <a:ea typeface="Segoe UI" pitchFamily="34" charset="-122"/>
                <a:cs typeface="Segoe UI" pitchFamily="34" charset="-120"/>
              </a:rPr>
              <a:t>Universitas Sjakhyakirti Portal: Comprehensive university profile and information system showcasing campus facilities, academic programs, and active student news ('Workshop on Gen-Z Tech Trends').</a:t>
            </a:r>
            <a:endParaRPr lang="en-US" sz="950" dirty="0"/>
          </a:p>
          <a:p>
            <a:r>
              <a:rPr lang="en-US" sz="950" dirty="0">
                <a:solidFill>
                  <a:srgbClr val="FFFFFF"/>
                </a:solidFill>
                <a:latin typeface="Segoe UI" pitchFamily="34" charset="0"/>
                <a:ea typeface="Segoe UI" pitchFamily="34" charset="-122"/>
                <a:cs typeface="Segoe UI" pitchFamily="34" charset="-120"/>
              </a:rPr>
              <a:t>Modifies academic communication into structured digital gateways.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Portal Features: Dynamic news &amp; event publishing ('Student Graduation, Photography Bootcamp'), interactive facility showcases, and responsive mobile-first navigation ('About Campus, Facilities, News &amp; Events').</a:t>
            </a:r>
            <a:endParaRPr lang="en-US" sz="950" dirty="0"/>
          </a:p>
          <a:p>
            <a:r>
              <a:rPr lang="en-US" sz="950" dirty="0">
                <a:solidFill>
                  <a:srgbClr val="FFFFFF"/>
                </a:solidFill>
                <a:latin typeface="Segoe UI" pitchFamily="34" charset="0"/>
                <a:ea typeface="Segoe UI" pitchFamily="34" charset="-122"/>
                <a:cs typeface="Segoe UI" pitchFamily="34" charset="-120"/>
              </a:rPr>
              <a:t>Tech Stack: PHP, Laravel, jQuery, MySQL, PostgreSQL, Bootstrap, and Tailwind CSS.</a:t>
            </a:r>
            <a:endParaRPr lang="en-US" sz="950" dirty="0"/>
          </a:p>
          <a:p>
            <a:r>
              <a:rPr lang="en-US" sz="950" dirty="0">
                <a:solidFill>
                  <a:srgbClr val="FFFFFF"/>
                </a:solidFill>
                <a:latin typeface="Segoe UI" pitchFamily="34" charset="0"/>
                <a:ea typeface="Segoe UI" pitchFamily="34" charset="-122"/>
                <a:cs typeface="Segoe UI" pitchFamily="34" charset="-120"/>
              </a:rPr>
              <a:t>IT Leadership: Served actively as a Web Design Mentor for IT Festival events, guiding junior developers in modern UI styling.</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Significantly boosted institutional digital visibility and prospective student engagement across South Sumatra.</a:t>
            </a:r>
            <a:endParaRPr lang="en-US" sz="950" dirty="0"/>
          </a:p>
          <a:p>
            <a:r>
              <a:rPr lang="en-US" sz="950" dirty="0">
                <a:solidFill>
                  <a:srgbClr val="FFFFFF"/>
                </a:solidFill>
                <a:latin typeface="Segoe UI" pitchFamily="34" charset="0"/>
                <a:ea typeface="Segoe UI" pitchFamily="34" charset="-122"/>
                <a:cs typeface="Segoe UI" pitchFamily="34" charset="-120"/>
              </a:rPr>
              <a:t>Delivered highly accessible, mobile-responsive layouts ensuring fast loading across varying regional network speeds.</a:t>
            </a:r>
            <a:endParaRPr lang="en-US" sz="950" dirty="0"/>
          </a:p>
          <a:p>
            <a:r>
              <a:rPr lang="en-US" sz="950" dirty="0">
                <a:solidFill>
                  <a:srgbClr val="FFFFFF"/>
                </a:solidFill>
                <a:latin typeface="Segoe UI" pitchFamily="34" charset="0"/>
                <a:ea typeface="Segoe UI" pitchFamily="34" charset="-122"/>
                <a:cs typeface="Segoe UI" pitchFamily="34" charset="-120"/>
              </a:rPr>
              <a:t>Demonstrated strong leadership and communication capabilities through active mentorship of emerging tech talent.</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TECHNICAL TAXONOMY</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COMPLETE FULL-STACK &amp; HARDWARE ENGINEERING MATRIX</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Comprehensive skill taxonomy spanning Low-Level Hardware, Core Backend, Modern Frontend, and Cloud DevOps.</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325880"/>
            <a:ext cx="2176272" cy="5029200"/>
          </a:xfrm>
          <a:prstGeom prst="rect">
            <a:avLst>
              <a:gd name="adj" fmla="val 3361"/>
            </a:avLst>
          </a:prstGeom>
          <a:solidFill>
            <a:srgbClr val="1C2541"/>
          </a:solidFill>
          <a:ln w="25400">
            <a:solidFill>
              <a:srgbClr val="48CAE4"/>
            </a:solidFill>
            <a:prstDash val="solid"/>
          </a:ln>
        </p:spPr>
      </p:sp>
      <p:sp>
        <p:nvSpPr>
          <p:cNvPr id="8" name="Text 6"/>
          <p:cNvSpPr/>
          <p:nvPr/>
        </p:nvSpPr>
        <p:spPr>
          <a:xfrm>
            <a:off x="548640" y="1463040"/>
            <a:ext cx="1993392" cy="457200"/>
          </a:xfrm>
          <a:prstGeom prst="rect">
            <a:avLst/>
          </a:prstGeom>
          <a:noFill/>
          <a:ln/>
        </p:spPr>
        <p:txBody>
          <a:bodyPr wrap="square" rtlCol="0" anchor="ctr"/>
          <a:lstStyle/>
          <a:p>
            <a:pPr algn="ctr" indent="0" marL="0">
              <a:buNone/>
            </a:pPr>
            <a:r>
              <a:rPr lang="en-US" sz="1300" b="1" dirty="0">
                <a:solidFill>
                  <a:srgbClr val="48CAE4"/>
                </a:solidFill>
              </a:rPr>
              <a:t>💻 LANGUAGES &amp; SYNTAX</a:t>
            </a:r>
            <a:endParaRPr lang="en-US" sz="1300" dirty="0"/>
          </a:p>
        </p:txBody>
      </p:sp>
      <p:sp>
        <p:nvSpPr>
          <p:cNvPr id="9" name="Shape 7"/>
          <p:cNvSpPr/>
          <p:nvPr/>
        </p:nvSpPr>
        <p:spPr>
          <a:xfrm>
            <a:off x="594360" y="2057400"/>
            <a:ext cx="1901952" cy="713232"/>
          </a:xfrm>
          <a:prstGeom prst="rect">
            <a:avLst>
              <a:gd name="adj" fmla="val 6410"/>
            </a:avLst>
          </a:prstGeom>
          <a:solidFill>
            <a:srgbClr val="0B132B"/>
          </a:solidFill>
          <a:ln w="12700">
            <a:solidFill>
              <a:srgbClr val="2D3748"/>
            </a:solidFill>
            <a:prstDash val="solid"/>
          </a:ln>
        </p:spPr>
      </p:sp>
      <p:sp>
        <p:nvSpPr>
          <p:cNvPr id="10" name="Text 8"/>
          <p:cNvSpPr/>
          <p:nvPr/>
        </p:nvSpPr>
        <p:spPr>
          <a:xfrm>
            <a:off x="640080" y="2057400"/>
            <a:ext cx="1810512" cy="713232"/>
          </a:xfrm>
          <a:prstGeom prst="rect">
            <a:avLst/>
          </a:prstGeom>
          <a:noFill/>
          <a:ln/>
        </p:spPr>
        <p:txBody>
          <a:bodyPr wrap="square" rtlCol="0" anchor="ctr"/>
          <a:lstStyle/>
          <a:p>
            <a:pPr algn="ctr" indent="0" marL="0">
              <a:buNone/>
            </a:pPr>
            <a:r>
              <a:rPr lang="en-US" sz="1100" dirty="0">
                <a:solidFill>
                  <a:srgbClr val="FFFFFF"/>
                </a:solidFill>
              </a:rPr>
              <a:t>TypeScript / JavaScript (ES6+)</a:t>
            </a:r>
            <a:endParaRPr lang="en-US" sz="1100" dirty="0"/>
          </a:p>
        </p:txBody>
      </p:sp>
      <p:sp>
        <p:nvSpPr>
          <p:cNvPr id="11" name="Shape 9"/>
          <p:cNvSpPr/>
          <p:nvPr/>
        </p:nvSpPr>
        <p:spPr>
          <a:xfrm>
            <a:off x="594360" y="2880360"/>
            <a:ext cx="1901952" cy="713232"/>
          </a:xfrm>
          <a:prstGeom prst="rect">
            <a:avLst>
              <a:gd name="adj" fmla="val 6410"/>
            </a:avLst>
          </a:prstGeom>
          <a:solidFill>
            <a:srgbClr val="0B132B"/>
          </a:solidFill>
          <a:ln w="12700">
            <a:solidFill>
              <a:srgbClr val="2D3748"/>
            </a:solidFill>
            <a:prstDash val="solid"/>
          </a:ln>
        </p:spPr>
      </p:sp>
      <p:sp>
        <p:nvSpPr>
          <p:cNvPr id="12" name="Text 10"/>
          <p:cNvSpPr/>
          <p:nvPr/>
        </p:nvSpPr>
        <p:spPr>
          <a:xfrm>
            <a:off x="640080" y="2880360"/>
            <a:ext cx="1810512" cy="713232"/>
          </a:xfrm>
          <a:prstGeom prst="rect">
            <a:avLst/>
          </a:prstGeom>
          <a:noFill/>
          <a:ln/>
        </p:spPr>
        <p:txBody>
          <a:bodyPr wrap="square" rtlCol="0" anchor="ctr"/>
          <a:lstStyle/>
          <a:p>
            <a:pPr algn="ctr" indent="0" marL="0">
              <a:buNone/>
            </a:pPr>
            <a:r>
              <a:rPr lang="en-US" sz="1100" dirty="0">
                <a:solidFill>
                  <a:srgbClr val="FFFFFF"/>
                </a:solidFill>
              </a:rPr>
              <a:t>Python (FastAPI, AI Scripting)</a:t>
            </a:r>
            <a:endParaRPr lang="en-US" sz="1100" dirty="0"/>
          </a:p>
        </p:txBody>
      </p:sp>
      <p:sp>
        <p:nvSpPr>
          <p:cNvPr id="13" name="Shape 11"/>
          <p:cNvSpPr/>
          <p:nvPr/>
        </p:nvSpPr>
        <p:spPr>
          <a:xfrm>
            <a:off x="594360" y="3703320"/>
            <a:ext cx="1901952" cy="713232"/>
          </a:xfrm>
          <a:prstGeom prst="rect">
            <a:avLst>
              <a:gd name="adj" fmla="val 6410"/>
            </a:avLst>
          </a:prstGeom>
          <a:solidFill>
            <a:srgbClr val="0B132B"/>
          </a:solidFill>
          <a:ln w="12700">
            <a:solidFill>
              <a:srgbClr val="2D3748"/>
            </a:solidFill>
            <a:prstDash val="solid"/>
          </a:ln>
        </p:spPr>
      </p:sp>
      <p:sp>
        <p:nvSpPr>
          <p:cNvPr id="14" name="Text 12"/>
          <p:cNvSpPr/>
          <p:nvPr/>
        </p:nvSpPr>
        <p:spPr>
          <a:xfrm>
            <a:off x="640080" y="3703320"/>
            <a:ext cx="1810512" cy="713232"/>
          </a:xfrm>
          <a:prstGeom prst="rect">
            <a:avLst/>
          </a:prstGeom>
          <a:noFill/>
          <a:ln/>
        </p:spPr>
        <p:txBody>
          <a:bodyPr wrap="square" rtlCol="0" anchor="ctr"/>
          <a:lstStyle/>
          <a:p>
            <a:pPr algn="ctr" indent="0" marL="0">
              <a:buNone/>
            </a:pPr>
            <a:r>
              <a:rPr lang="en-US" sz="1100" dirty="0">
                <a:solidFill>
                  <a:srgbClr val="FFFFFF"/>
                </a:solidFill>
              </a:rPr>
              <a:t>PHP (Modern OOP &amp; Laravel)</a:t>
            </a:r>
            <a:endParaRPr lang="en-US" sz="1100" dirty="0"/>
          </a:p>
        </p:txBody>
      </p:sp>
      <p:sp>
        <p:nvSpPr>
          <p:cNvPr id="15" name="Shape 13"/>
          <p:cNvSpPr/>
          <p:nvPr/>
        </p:nvSpPr>
        <p:spPr>
          <a:xfrm>
            <a:off x="594360" y="4526280"/>
            <a:ext cx="1901952" cy="713232"/>
          </a:xfrm>
          <a:prstGeom prst="rect">
            <a:avLst>
              <a:gd name="adj" fmla="val 6410"/>
            </a:avLst>
          </a:prstGeom>
          <a:solidFill>
            <a:srgbClr val="0B132B"/>
          </a:solidFill>
          <a:ln w="12700">
            <a:solidFill>
              <a:srgbClr val="2D3748"/>
            </a:solidFill>
            <a:prstDash val="solid"/>
          </a:ln>
        </p:spPr>
      </p:sp>
      <p:sp>
        <p:nvSpPr>
          <p:cNvPr id="16" name="Text 14"/>
          <p:cNvSpPr/>
          <p:nvPr/>
        </p:nvSpPr>
        <p:spPr>
          <a:xfrm>
            <a:off x="640080" y="4526280"/>
            <a:ext cx="1810512" cy="713232"/>
          </a:xfrm>
          <a:prstGeom prst="rect">
            <a:avLst/>
          </a:prstGeom>
          <a:noFill/>
          <a:ln/>
        </p:spPr>
        <p:txBody>
          <a:bodyPr wrap="square" rtlCol="0" anchor="ctr"/>
          <a:lstStyle/>
          <a:p>
            <a:pPr algn="ctr" indent="0" marL="0">
              <a:buNone/>
            </a:pPr>
            <a:r>
              <a:rPr lang="en-US" sz="1100" dirty="0">
                <a:solidFill>
                  <a:srgbClr val="FFFFFF"/>
                </a:solidFill>
              </a:rPr>
              <a:t>HTML5 / CSS3 / SASS / Slicing</a:t>
            </a:r>
            <a:endParaRPr lang="en-US" sz="1100" dirty="0"/>
          </a:p>
        </p:txBody>
      </p:sp>
      <p:sp>
        <p:nvSpPr>
          <p:cNvPr id="17" name="Shape 15"/>
          <p:cNvSpPr/>
          <p:nvPr/>
        </p:nvSpPr>
        <p:spPr>
          <a:xfrm>
            <a:off x="594360" y="5349240"/>
            <a:ext cx="1901952" cy="713232"/>
          </a:xfrm>
          <a:prstGeom prst="rect">
            <a:avLst>
              <a:gd name="adj" fmla="val 6410"/>
            </a:avLst>
          </a:prstGeom>
          <a:solidFill>
            <a:srgbClr val="0B132B"/>
          </a:solidFill>
          <a:ln w="12700">
            <a:solidFill>
              <a:srgbClr val="2D3748"/>
            </a:solidFill>
            <a:prstDash val="solid"/>
          </a:ln>
        </p:spPr>
      </p:sp>
      <p:sp>
        <p:nvSpPr>
          <p:cNvPr id="18" name="Text 16"/>
          <p:cNvSpPr/>
          <p:nvPr/>
        </p:nvSpPr>
        <p:spPr>
          <a:xfrm>
            <a:off x="640080" y="5349240"/>
            <a:ext cx="1810512" cy="713232"/>
          </a:xfrm>
          <a:prstGeom prst="rect">
            <a:avLst/>
          </a:prstGeom>
          <a:noFill/>
          <a:ln/>
        </p:spPr>
        <p:txBody>
          <a:bodyPr wrap="square" rtlCol="0" anchor="ctr"/>
          <a:lstStyle/>
          <a:p>
            <a:pPr algn="ctr" indent="0" marL="0">
              <a:buNone/>
            </a:pPr>
            <a:r>
              <a:rPr lang="en-US" sz="1100" dirty="0">
                <a:solidFill>
                  <a:srgbClr val="FFFFFF"/>
                </a:solidFill>
              </a:rPr>
              <a:t>SQL / NoSQL Queries &amp; Indexing</a:t>
            </a:r>
            <a:endParaRPr lang="en-US" sz="1100" dirty="0"/>
          </a:p>
        </p:txBody>
      </p:sp>
      <p:sp>
        <p:nvSpPr>
          <p:cNvPr id="19" name="Shape 17"/>
          <p:cNvSpPr/>
          <p:nvPr/>
        </p:nvSpPr>
        <p:spPr>
          <a:xfrm>
            <a:off x="2724912" y="1325880"/>
            <a:ext cx="2176272" cy="5029200"/>
          </a:xfrm>
          <a:prstGeom prst="rect">
            <a:avLst>
              <a:gd name="adj" fmla="val 3361"/>
            </a:avLst>
          </a:prstGeom>
          <a:solidFill>
            <a:srgbClr val="1C2541"/>
          </a:solidFill>
          <a:ln w="25400">
            <a:solidFill>
              <a:srgbClr val="F59E0B"/>
            </a:solidFill>
            <a:prstDash val="solid"/>
          </a:ln>
        </p:spPr>
      </p:sp>
      <p:sp>
        <p:nvSpPr>
          <p:cNvPr id="20" name="Text 18"/>
          <p:cNvSpPr/>
          <p:nvPr/>
        </p:nvSpPr>
        <p:spPr>
          <a:xfrm>
            <a:off x="2816352" y="1463040"/>
            <a:ext cx="1993392" cy="457200"/>
          </a:xfrm>
          <a:prstGeom prst="rect">
            <a:avLst/>
          </a:prstGeom>
          <a:noFill/>
          <a:ln/>
        </p:spPr>
        <p:txBody>
          <a:bodyPr wrap="square" rtlCol="0" anchor="ctr"/>
          <a:lstStyle/>
          <a:p>
            <a:pPr algn="ctr" indent="0" marL="0">
              <a:buNone/>
            </a:pPr>
            <a:r>
              <a:rPr lang="en-US" sz="1300" b="1" dirty="0">
                <a:solidFill>
                  <a:srgbClr val="F59E0B"/>
                </a:solidFill>
              </a:rPr>
              <a:t>🎨 FRONT-END &amp; MICRO-UI</a:t>
            </a:r>
            <a:endParaRPr lang="en-US" sz="1300" dirty="0"/>
          </a:p>
        </p:txBody>
      </p:sp>
      <p:sp>
        <p:nvSpPr>
          <p:cNvPr id="21" name="Shape 19"/>
          <p:cNvSpPr/>
          <p:nvPr/>
        </p:nvSpPr>
        <p:spPr>
          <a:xfrm>
            <a:off x="2862072" y="2057400"/>
            <a:ext cx="1901952" cy="713232"/>
          </a:xfrm>
          <a:prstGeom prst="rect">
            <a:avLst>
              <a:gd name="adj" fmla="val 6410"/>
            </a:avLst>
          </a:prstGeom>
          <a:solidFill>
            <a:srgbClr val="0B132B"/>
          </a:solidFill>
          <a:ln w="12700">
            <a:solidFill>
              <a:srgbClr val="2D3748"/>
            </a:solidFill>
            <a:prstDash val="solid"/>
          </a:ln>
        </p:spPr>
      </p:sp>
      <p:sp>
        <p:nvSpPr>
          <p:cNvPr id="22" name="Text 20"/>
          <p:cNvSpPr/>
          <p:nvPr/>
        </p:nvSpPr>
        <p:spPr>
          <a:xfrm>
            <a:off x="2907792" y="2057400"/>
            <a:ext cx="1810512" cy="713232"/>
          </a:xfrm>
          <a:prstGeom prst="rect">
            <a:avLst/>
          </a:prstGeom>
          <a:noFill/>
          <a:ln/>
        </p:spPr>
        <p:txBody>
          <a:bodyPr wrap="square" rtlCol="0" anchor="ctr"/>
          <a:lstStyle/>
          <a:p>
            <a:pPr algn="ctr" indent="0" marL="0">
              <a:buNone/>
            </a:pPr>
            <a:r>
              <a:rPr lang="en-US" sz="1100" dirty="0">
                <a:solidFill>
                  <a:srgbClr val="FFFFFF"/>
                </a:solidFill>
              </a:rPr>
              <a:t>React.js / Next.js / Vite SPA</a:t>
            </a:r>
            <a:endParaRPr lang="en-US" sz="1100" dirty="0"/>
          </a:p>
        </p:txBody>
      </p:sp>
      <p:sp>
        <p:nvSpPr>
          <p:cNvPr id="23" name="Shape 21"/>
          <p:cNvSpPr/>
          <p:nvPr/>
        </p:nvSpPr>
        <p:spPr>
          <a:xfrm>
            <a:off x="2862072" y="2880360"/>
            <a:ext cx="1901952" cy="713232"/>
          </a:xfrm>
          <a:prstGeom prst="rect">
            <a:avLst>
              <a:gd name="adj" fmla="val 6410"/>
            </a:avLst>
          </a:prstGeom>
          <a:solidFill>
            <a:srgbClr val="0B132B"/>
          </a:solidFill>
          <a:ln w="12700">
            <a:solidFill>
              <a:srgbClr val="2D3748"/>
            </a:solidFill>
            <a:prstDash val="solid"/>
          </a:ln>
        </p:spPr>
      </p:sp>
      <p:sp>
        <p:nvSpPr>
          <p:cNvPr id="24" name="Text 22"/>
          <p:cNvSpPr/>
          <p:nvPr/>
        </p:nvSpPr>
        <p:spPr>
          <a:xfrm>
            <a:off x="2907792" y="2880360"/>
            <a:ext cx="1810512" cy="713232"/>
          </a:xfrm>
          <a:prstGeom prst="rect">
            <a:avLst/>
          </a:prstGeom>
          <a:noFill/>
          <a:ln/>
        </p:spPr>
        <p:txBody>
          <a:bodyPr wrap="square" rtlCol="0" anchor="ctr"/>
          <a:lstStyle/>
          <a:p>
            <a:pPr algn="ctr" indent="0" marL="0">
              <a:buNone/>
            </a:pPr>
            <a:r>
              <a:rPr lang="en-US" sz="1100" dirty="0">
                <a:solidFill>
                  <a:srgbClr val="FFFFFF"/>
                </a:solidFill>
              </a:rPr>
              <a:t>React Native (Mobile Cross-Platform)</a:t>
            </a:r>
            <a:endParaRPr lang="en-US" sz="1100" dirty="0"/>
          </a:p>
        </p:txBody>
      </p:sp>
      <p:sp>
        <p:nvSpPr>
          <p:cNvPr id="25" name="Shape 23"/>
          <p:cNvSpPr/>
          <p:nvPr/>
        </p:nvSpPr>
        <p:spPr>
          <a:xfrm>
            <a:off x="2862072" y="3703320"/>
            <a:ext cx="1901952" cy="713232"/>
          </a:xfrm>
          <a:prstGeom prst="rect">
            <a:avLst>
              <a:gd name="adj" fmla="val 6410"/>
            </a:avLst>
          </a:prstGeom>
          <a:solidFill>
            <a:srgbClr val="0B132B"/>
          </a:solidFill>
          <a:ln w="12700">
            <a:solidFill>
              <a:srgbClr val="2D3748"/>
            </a:solidFill>
            <a:prstDash val="solid"/>
          </a:ln>
        </p:spPr>
      </p:sp>
      <p:sp>
        <p:nvSpPr>
          <p:cNvPr id="26" name="Text 24"/>
          <p:cNvSpPr/>
          <p:nvPr/>
        </p:nvSpPr>
        <p:spPr>
          <a:xfrm>
            <a:off x="2907792" y="3703320"/>
            <a:ext cx="1810512" cy="713232"/>
          </a:xfrm>
          <a:prstGeom prst="rect">
            <a:avLst/>
          </a:prstGeom>
          <a:noFill/>
          <a:ln/>
        </p:spPr>
        <p:txBody>
          <a:bodyPr wrap="square" rtlCol="0" anchor="ctr"/>
          <a:lstStyle/>
          <a:p>
            <a:pPr algn="ctr" indent="0" marL="0">
              <a:buNone/>
            </a:pPr>
            <a:r>
              <a:rPr lang="en-US" sz="1100" dirty="0">
                <a:solidFill>
                  <a:srgbClr val="FFFFFF"/>
                </a:solidFill>
              </a:rPr>
              <a:t>Microfrontends (Turbo &amp; Nx Monorepo)</a:t>
            </a:r>
            <a:endParaRPr lang="en-US" sz="1100" dirty="0"/>
          </a:p>
        </p:txBody>
      </p:sp>
      <p:sp>
        <p:nvSpPr>
          <p:cNvPr id="27" name="Shape 25"/>
          <p:cNvSpPr/>
          <p:nvPr/>
        </p:nvSpPr>
        <p:spPr>
          <a:xfrm>
            <a:off x="2862072" y="4526280"/>
            <a:ext cx="1901952" cy="713232"/>
          </a:xfrm>
          <a:prstGeom prst="rect">
            <a:avLst>
              <a:gd name="adj" fmla="val 6410"/>
            </a:avLst>
          </a:prstGeom>
          <a:solidFill>
            <a:srgbClr val="0B132B"/>
          </a:solidFill>
          <a:ln w="12700">
            <a:solidFill>
              <a:srgbClr val="2D3748"/>
            </a:solidFill>
            <a:prstDash val="solid"/>
          </a:ln>
        </p:spPr>
      </p:sp>
      <p:sp>
        <p:nvSpPr>
          <p:cNvPr id="28" name="Text 26"/>
          <p:cNvSpPr/>
          <p:nvPr/>
        </p:nvSpPr>
        <p:spPr>
          <a:xfrm>
            <a:off x="2907792" y="4526280"/>
            <a:ext cx="1810512" cy="713232"/>
          </a:xfrm>
          <a:prstGeom prst="rect">
            <a:avLst/>
          </a:prstGeom>
          <a:noFill/>
          <a:ln/>
        </p:spPr>
        <p:txBody>
          <a:bodyPr wrap="square" rtlCol="0" anchor="ctr"/>
          <a:lstStyle/>
          <a:p>
            <a:pPr algn="ctr" indent="0" marL="0">
              <a:buNone/>
            </a:pPr>
            <a:r>
              <a:rPr lang="en-US" sz="1100" dirty="0">
                <a:solidFill>
                  <a:srgbClr val="FFFFFF"/>
                </a:solidFill>
              </a:rPr>
              <a:t>Redux / Context API State Engine</a:t>
            </a:r>
            <a:endParaRPr lang="en-US" sz="1100" dirty="0"/>
          </a:p>
        </p:txBody>
      </p:sp>
      <p:sp>
        <p:nvSpPr>
          <p:cNvPr id="29" name="Shape 27"/>
          <p:cNvSpPr/>
          <p:nvPr/>
        </p:nvSpPr>
        <p:spPr>
          <a:xfrm>
            <a:off x="2862072" y="5349240"/>
            <a:ext cx="1901952" cy="713232"/>
          </a:xfrm>
          <a:prstGeom prst="rect">
            <a:avLst>
              <a:gd name="adj" fmla="val 6410"/>
            </a:avLst>
          </a:prstGeom>
          <a:solidFill>
            <a:srgbClr val="0B132B"/>
          </a:solidFill>
          <a:ln w="12700">
            <a:solidFill>
              <a:srgbClr val="2D3748"/>
            </a:solidFill>
            <a:prstDash val="solid"/>
          </a:ln>
        </p:spPr>
      </p:sp>
      <p:sp>
        <p:nvSpPr>
          <p:cNvPr id="30" name="Text 28"/>
          <p:cNvSpPr/>
          <p:nvPr/>
        </p:nvSpPr>
        <p:spPr>
          <a:xfrm>
            <a:off x="2907792" y="5349240"/>
            <a:ext cx="1810512" cy="713232"/>
          </a:xfrm>
          <a:prstGeom prst="rect">
            <a:avLst/>
          </a:prstGeom>
          <a:noFill/>
          <a:ln/>
        </p:spPr>
        <p:txBody>
          <a:bodyPr wrap="square" rtlCol="0" anchor="ctr"/>
          <a:lstStyle/>
          <a:p>
            <a:pPr algn="ctr" indent="0" marL="0">
              <a:buNone/>
            </a:pPr>
            <a:r>
              <a:rPr lang="en-US" sz="1100" dirty="0">
                <a:solidFill>
                  <a:srgbClr val="FFFFFF"/>
                </a:solidFill>
              </a:rPr>
              <a:t>Bootstrap / Tailwind / Chakra UI / D3.js</a:t>
            </a:r>
            <a:endParaRPr lang="en-US" sz="1100" dirty="0"/>
          </a:p>
        </p:txBody>
      </p:sp>
      <p:sp>
        <p:nvSpPr>
          <p:cNvPr id="31" name="Shape 29"/>
          <p:cNvSpPr/>
          <p:nvPr/>
        </p:nvSpPr>
        <p:spPr>
          <a:xfrm>
            <a:off x="4992624" y="1325880"/>
            <a:ext cx="2176272" cy="5029200"/>
          </a:xfrm>
          <a:prstGeom prst="rect">
            <a:avLst>
              <a:gd name="adj" fmla="val 3361"/>
            </a:avLst>
          </a:prstGeom>
          <a:solidFill>
            <a:srgbClr val="1C2541"/>
          </a:solidFill>
          <a:ln w="25400">
            <a:solidFill>
              <a:srgbClr val="10B981"/>
            </a:solidFill>
            <a:prstDash val="solid"/>
          </a:ln>
        </p:spPr>
      </p:sp>
      <p:sp>
        <p:nvSpPr>
          <p:cNvPr id="32" name="Text 30"/>
          <p:cNvSpPr/>
          <p:nvPr/>
        </p:nvSpPr>
        <p:spPr>
          <a:xfrm>
            <a:off x="5084064" y="1463040"/>
            <a:ext cx="1993392" cy="457200"/>
          </a:xfrm>
          <a:prstGeom prst="rect">
            <a:avLst/>
          </a:prstGeom>
          <a:noFill/>
          <a:ln/>
        </p:spPr>
        <p:txBody>
          <a:bodyPr wrap="square" rtlCol="0" anchor="ctr"/>
          <a:lstStyle/>
          <a:p>
            <a:pPr algn="ctr" indent="0" marL="0">
              <a:buNone/>
            </a:pPr>
            <a:r>
              <a:rPr lang="en-US" sz="1300" b="1" dirty="0">
                <a:solidFill>
                  <a:srgbClr val="10B981"/>
                </a:solidFill>
              </a:rPr>
              <a:t>⚙️ BACK-END &amp; APIS</a:t>
            </a:r>
            <a:endParaRPr lang="en-US" sz="1300" dirty="0"/>
          </a:p>
        </p:txBody>
      </p:sp>
      <p:sp>
        <p:nvSpPr>
          <p:cNvPr id="33" name="Shape 31"/>
          <p:cNvSpPr/>
          <p:nvPr/>
        </p:nvSpPr>
        <p:spPr>
          <a:xfrm>
            <a:off x="5129784" y="2057400"/>
            <a:ext cx="1901952" cy="713232"/>
          </a:xfrm>
          <a:prstGeom prst="rect">
            <a:avLst>
              <a:gd name="adj" fmla="val 6410"/>
            </a:avLst>
          </a:prstGeom>
          <a:solidFill>
            <a:srgbClr val="0B132B"/>
          </a:solidFill>
          <a:ln w="12700">
            <a:solidFill>
              <a:srgbClr val="2D3748"/>
            </a:solidFill>
            <a:prstDash val="solid"/>
          </a:ln>
        </p:spPr>
      </p:sp>
      <p:sp>
        <p:nvSpPr>
          <p:cNvPr id="34" name="Text 32"/>
          <p:cNvSpPr/>
          <p:nvPr/>
        </p:nvSpPr>
        <p:spPr>
          <a:xfrm>
            <a:off x="5175504" y="2057400"/>
            <a:ext cx="1810512" cy="713232"/>
          </a:xfrm>
          <a:prstGeom prst="rect">
            <a:avLst/>
          </a:prstGeom>
          <a:noFill/>
          <a:ln/>
        </p:spPr>
        <p:txBody>
          <a:bodyPr wrap="square" rtlCol="0" anchor="ctr"/>
          <a:lstStyle/>
          <a:p>
            <a:pPr algn="ctr" indent="0" marL="0">
              <a:buNone/>
            </a:pPr>
            <a:r>
              <a:rPr lang="en-US" sz="1100" dirty="0">
                <a:solidFill>
                  <a:srgbClr val="FFFFFF"/>
                </a:solidFill>
              </a:rPr>
              <a:t>Node.js / Express.js Microservices</a:t>
            </a:r>
            <a:endParaRPr lang="en-US" sz="1100" dirty="0"/>
          </a:p>
        </p:txBody>
      </p:sp>
      <p:sp>
        <p:nvSpPr>
          <p:cNvPr id="35" name="Shape 33"/>
          <p:cNvSpPr/>
          <p:nvPr/>
        </p:nvSpPr>
        <p:spPr>
          <a:xfrm>
            <a:off x="5129784" y="2880360"/>
            <a:ext cx="1901952" cy="713232"/>
          </a:xfrm>
          <a:prstGeom prst="rect">
            <a:avLst>
              <a:gd name="adj" fmla="val 6410"/>
            </a:avLst>
          </a:prstGeom>
          <a:solidFill>
            <a:srgbClr val="0B132B"/>
          </a:solidFill>
          <a:ln w="12700">
            <a:solidFill>
              <a:srgbClr val="2D3748"/>
            </a:solidFill>
            <a:prstDash val="solid"/>
          </a:ln>
        </p:spPr>
      </p:sp>
      <p:sp>
        <p:nvSpPr>
          <p:cNvPr id="36" name="Text 34"/>
          <p:cNvSpPr/>
          <p:nvPr/>
        </p:nvSpPr>
        <p:spPr>
          <a:xfrm>
            <a:off x="5175504" y="2880360"/>
            <a:ext cx="1810512" cy="713232"/>
          </a:xfrm>
          <a:prstGeom prst="rect">
            <a:avLst/>
          </a:prstGeom>
          <a:noFill/>
          <a:ln/>
        </p:spPr>
        <p:txBody>
          <a:bodyPr wrap="square" rtlCol="0" anchor="ctr"/>
          <a:lstStyle/>
          <a:p>
            <a:pPr algn="ctr" indent="0" marL="0">
              <a:buNone/>
            </a:pPr>
            <a:r>
              <a:rPr lang="en-US" sz="1100" dirty="0">
                <a:solidFill>
                  <a:srgbClr val="FFFFFF"/>
                </a:solidFill>
              </a:rPr>
              <a:t>PHP Laravel / NestJS Frameworks</a:t>
            </a:r>
            <a:endParaRPr lang="en-US" sz="1100" dirty="0"/>
          </a:p>
        </p:txBody>
      </p:sp>
      <p:sp>
        <p:nvSpPr>
          <p:cNvPr id="37" name="Shape 35"/>
          <p:cNvSpPr/>
          <p:nvPr/>
        </p:nvSpPr>
        <p:spPr>
          <a:xfrm>
            <a:off x="5129784" y="3703320"/>
            <a:ext cx="1901952" cy="713232"/>
          </a:xfrm>
          <a:prstGeom prst="rect">
            <a:avLst>
              <a:gd name="adj" fmla="val 6410"/>
            </a:avLst>
          </a:prstGeom>
          <a:solidFill>
            <a:srgbClr val="0B132B"/>
          </a:solidFill>
          <a:ln w="12700">
            <a:solidFill>
              <a:srgbClr val="2D3748"/>
            </a:solidFill>
            <a:prstDash val="solid"/>
          </a:ln>
        </p:spPr>
      </p:sp>
      <p:sp>
        <p:nvSpPr>
          <p:cNvPr id="38" name="Text 36"/>
          <p:cNvSpPr/>
          <p:nvPr/>
        </p:nvSpPr>
        <p:spPr>
          <a:xfrm>
            <a:off x="5175504" y="3703320"/>
            <a:ext cx="1810512" cy="713232"/>
          </a:xfrm>
          <a:prstGeom prst="rect">
            <a:avLst/>
          </a:prstGeom>
          <a:noFill/>
          <a:ln/>
        </p:spPr>
        <p:txBody>
          <a:bodyPr wrap="square" rtlCol="0" anchor="ctr"/>
          <a:lstStyle/>
          <a:p>
            <a:pPr algn="ctr" indent="0" marL="0">
              <a:buNone/>
            </a:pPr>
            <a:r>
              <a:rPr lang="en-US" sz="1100" dirty="0">
                <a:solidFill>
                  <a:srgbClr val="FFFFFF"/>
                </a:solidFill>
              </a:rPr>
              <a:t>RESTful API Architecture &amp; JWT/OAuth2</a:t>
            </a:r>
            <a:endParaRPr lang="en-US" sz="1100" dirty="0"/>
          </a:p>
        </p:txBody>
      </p:sp>
      <p:sp>
        <p:nvSpPr>
          <p:cNvPr id="39" name="Shape 37"/>
          <p:cNvSpPr/>
          <p:nvPr/>
        </p:nvSpPr>
        <p:spPr>
          <a:xfrm>
            <a:off x="5129784" y="4526280"/>
            <a:ext cx="1901952" cy="713232"/>
          </a:xfrm>
          <a:prstGeom prst="rect">
            <a:avLst>
              <a:gd name="adj" fmla="val 6410"/>
            </a:avLst>
          </a:prstGeom>
          <a:solidFill>
            <a:srgbClr val="0B132B"/>
          </a:solidFill>
          <a:ln w="12700">
            <a:solidFill>
              <a:srgbClr val="2D3748"/>
            </a:solidFill>
            <a:prstDash val="solid"/>
          </a:ln>
        </p:spPr>
      </p:sp>
      <p:sp>
        <p:nvSpPr>
          <p:cNvPr id="40" name="Text 38"/>
          <p:cNvSpPr/>
          <p:nvPr/>
        </p:nvSpPr>
        <p:spPr>
          <a:xfrm>
            <a:off x="5175504" y="4526280"/>
            <a:ext cx="1810512" cy="713232"/>
          </a:xfrm>
          <a:prstGeom prst="rect">
            <a:avLst/>
          </a:prstGeom>
          <a:noFill/>
          <a:ln/>
        </p:spPr>
        <p:txBody>
          <a:bodyPr wrap="square" rtlCol="0" anchor="ctr"/>
          <a:lstStyle/>
          <a:p>
            <a:pPr algn="ctr" indent="0" marL="0">
              <a:buNone/>
            </a:pPr>
            <a:r>
              <a:rPr lang="en-US" sz="1100" dirty="0">
                <a:solidFill>
                  <a:srgbClr val="FFFFFF"/>
                </a:solidFill>
              </a:rPr>
              <a:t>Microservices Domain Decoupling</a:t>
            </a:r>
            <a:endParaRPr lang="en-US" sz="1100" dirty="0"/>
          </a:p>
        </p:txBody>
      </p:sp>
      <p:sp>
        <p:nvSpPr>
          <p:cNvPr id="41" name="Shape 39"/>
          <p:cNvSpPr/>
          <p:nvPr/>
        </p:nvSpPr>
        <p:spPr>
          <a:xfrm>
            <a:off x="5129784" y="5349240"/>
            <a:ext cx="1901952" cy="713232"/>
          </a:xfrm>
          <a:prstGeom prst="rect">
            <a:avLst>
              <a:gd name="adj" fmla="val 6410"/>
            </a:avLst>
          </a:prstGeom>
          <a:solidFill>
            <a:srgbClr val="0B132B"/>
          </a:solidFill>
          <a:ln w="12700">
            <a:solidFill>
              <a:srgbClr val="2D3748"/>
            </a:solidFill>
            <a:prstDash val="solid"/>
          </a:ln>
        </p:spPr>
      </p:sp>
      <p:sp>
        <p:nvSpPr>
          <p:cNvPr id="42" name="Text 40"/>
          <p:cNvSpPr/>
          <p:nvPr/>
        </p:nvSpPr>
        <p:spPr>
          <a:xfrm>
            <a:off x="5175504" y="5349240"/>
            <a:ext cx="1810512" cy="713232"/>
          </a:xfrm>
          <a:prstGeom prst="rect">
            <a:avLst/>
          </a:prstGeom>
          <a:noFill/>
          <a:ln/>
        </p:spPr>
        <p:txBody>
          <a:bodyPr wrap="square" rtlCol="0" anchor="ctr"/>
          <a:lstStyle/>
          <a:p>
            <a:pPr algn="ctr" indent="0" marL="0">
              <a:buNone/>
            </a:pPr>
            <a:r>
              <a:rPr lang="en-US" sz="1100" dirty="0">
                <a:solidFill>
                  <a:srgbClr val="FFFFFF"/>
                </a:solidFill>
              </a:rPr>
              <a:t>AJAX / Asynchronous Handling &amp; Queues</a:t>
            </a:r>
            <a:endParaRPr lang="en-US" sz="1100" dirty="0"/>
          </a:p>
        </p:txBody>
      </p:sp>
      <p:sp>
        <p:nvSpPr>
          <p:cNvPr id="43" name="Shape 41"/>
          <p:cNvSpPr/>
          <p:nvPr/>
        </p:nvSpPr>
        <p:spPr>
          <a:xfrm>
            <a:off x="7260336" y="1325880"/>
            <a:ext cx="2176272" cy="5029200"/>
          </a:xfrm>
          <a:prstGeom prst="rect">
            <a:avLst>
              <a:gd name="adj" fmla="val 3361"/>
            </a:avLst>
          </a:prstGeom>
          <a:solidFill>
            <a:srgbClr val="1C2541"/>
          </a:solidFill>
          <a:ln w="25400">
            <a:solidFill>
              <a:srgbClr val="A855F7"/>
            </a:solidFill>
            <a:prstDash val="solid"/>
          </a:ln>
        </p:spPr>
      </p:sp>
      <p:sp>
        <p:nvSpPr>
          <p:cNvPr id="44" name="Text 42"/>
          <p:cNvSpPr/>
          <p:nvPr/>
        </p:nvSpPr>
        <p:spPr>
          <a:xfrm>
            <a:off x="7351776" y="1463040"/>
            <a:ext cx="1993392" cy="457200"/>
          </a:xfrm>
          <a:prstGeom prst="rect">
            <a:avLst/>
          </a:prstGeom>
          <a:noFill/>
          <a:ln/>
        </p:spPr>
        <p:txBody>
          <a:bodyPr wrap="square" rtlCol="0" anchor="ctr"/>
          <a:lstStyle/>
          <a:p>
            <a:pPr algn="ctr" indent="0" marL="0">
              <a:buNone/>
            </a:pPr>
            <a:r>
              <a:rPr lang="en-US" sz="1300" b="1" dirty="0">
                <a:solidFill>
                  <a:srgbClr val="A855F7"/>
                </a:solidFill>
              </a:rPr>
              <a:t>🗄️ DATABASES &amp; STORAGE</a:t>
            </a:r>
            <a:endParaRPr lang="en-US" sz="1300" dirty="0"/>
          </a:p>
        </p:txBody>
      </p:sp>
      <p:sp>
        <p:nvSpPr>
          <p:cNvPr id="45" name="Shape 43"/>
          <p:cNvSpPr/>
          <p:nvPr/>
        </p:nvSpPr>
        <p:spPr>
          <a:xfrm>
            <a:off x="7397496" y="2057400"/>
            <a:ext cx="1901952" cy="713232"/>
          </a:xfrm>
          <a:prstGeom prst="rect">
            <a:avLst>
              <a:gd name="adj" fmla="val 6410"/>
            </a:avLst>
          </a:prstGeom>
          <a:solidFill>
            <a:srgbClr val="0B132B"/>
          </a:solidFill>
          <a:ln w="12700">
            <a:solidFill>
              <a:srgbClr val="2D3748"/>
            </a:solidFill>
            <a:prstDash val="solid"/>
          </a:ln>
        </p:spPr>
      </p:sp>
      <p:sp>
        <p:nvSpPr>
          <p:cNvPr id="46" name="Text 44"/>
          <p:cNvSpPr/>
          <p:nvPr/>
        </p:nvSpPr>
        <p:spPr>
          <a:xfrm>
            <a:off x="7443216" y="2057400"/>
            <a:ext cx="1810512" cy="713232"/>
          </a:xfrm>
          <a:prstGeom prst="rect">
            <a:avLst/>
          </a:prstGeom>
          <a:noFill/>
          <a:ln/>
        </p:spPr>
        <p:txBody>
          <a:bodyPr wrap="square" rtlCol="0" anchor="ctr"/>
          <a:lstStyle/>
          <a:p>
            <a:pPr algn="ctr" indent="0" marL="0">
              <a:buNone/>
            </a:pPr>
            <a:r>
              <a:rPr lang="en-US" sz="1100" dirty="0">
                <a:solidFill>
                  <a:srgbClr val="FFFFFF"/>
                </a:solidFill>
              </a:rPr>
              <a:t>MySQL / PostgreSQL Relational ERD</a:t>
            </a:r>
            <a:endParaRPr lang="en-US" sz="1100" dirty="0"/>
          </a:p>
        </p:txBody>
      </p:sp>
      <p:sp>
        <p:nvSpPr>
          <p:cNvPr id="47" name="Shape 45"/>
          <p:cNvSpPr/>
          <p:nvPr/>
        </p:nvSpPr>
        <p:spPr>
          <a:xfrm>
            <a:off x="7397496" y="2880360"/>
            <a:ext cx="1901952" cy="713232"/>
          </a:xfrm>
          <a:prstGeom prst="rect">
            <a:avLst>
              <a:gd name="adj" fmla="val 6410"/>
            </a:avLst>
          </a:prstGeom>
          <a:solidFill>
            <a:srgbClr val="0B132B"/>
          </a:solidFill>
          <a:ln w="12700">
            <a:solidFill>
              <a:srgbClr val="2D3748"/>
            </a:solidFill>
            <a:prstDash val="solid"/>
          </a:ln>
        </p:spPr>
      </p:sp>
      <p:sp>
        <p:nvSpPr>
          <p:cNvPr id="48" name="Text 46"/>
          <p:cNvSpPr/>
          <p:nvPr/>
        </p:nvSpPr>
        <p:spPr>
          <a:xfrm>
            <a:off x="7443216" y="2880360"/>
            <a:ext cx="1810512" cy="713232"/>
          </a:xfrm>
          <a:prstGeom prst="rect">
            <a:avLst/>
          </a:prstGeom>
          <a:noFill/>
          <a:ln/>
        </p:spPr>
        <p:txBody>
          <a:bodyPr wrap="square" rtlCol="0" anchor="ctr"/>
          <a:lstStyle/>
          <a:p>
            <a:pPr algn="ctr" indent="0" marL="0">
              <a:buNone/>
            </a:pPr>
            <a:r>
              <a:rPr lang="en-US" sz="1100" dirty="0">
                <a:solidFill>
                  <a:srgbClr val="FFFFFF"/>
                </a:solidFill>
              </a:rPr>
              <a:t>MongoDB NoSQL / Document Store</a:t>
            </a:r>
            <a:endParaRPr lang="en-US" sz="1100" dirty="0"/>
          </a:p>
        </p:txBody>
      </p:sp>
      <p:sp>
        <p:nvSpPr>
          <p:cNvPr id="49" name="Shape 47"/>
          <p:cNvSpPr/>
          <p:nvPr/>
        </p:nvSpPr>
        <p:spPr>
          <a:xfrm>
            <a:off x="7397496" y="3703320"/>
            <a:ext cx="1901952" cy="713232"/>
          </a:xfrm>
          <a:prstGeom prst="rect">
            <a:avLst>
              <a:gd name="adj" fmla="val 6410"/>
            </a:avLst>
          </a:prstGeom>
          <a:solidFill>
            <a:srgbClr val="0B132B"/>
          </a:solidFill>
          <a:ln w="12700">
            <a:solidFill>
              <a:srgbClr val="2D3748"/>
            </a:solidFill>
            <a:prstDash val="solid"/>
          </a:ln>
        </p:spPr>
      </p:sp>
      <p:sp>
        <p:nvSpPr>
          <p:cNvPr id="50" name="Text 48"/>
          <p:cNvSpPr/>
          <p:nvPr/>
        </p:nvSpPr>
        <p:spPr>
          <a:xfrm>
            <a:off x="7443216" y="3703320"/>
            <a:ext cx="1810512" cy="713232"/>
          </a:xfrm>
          <a:prstGeom prst="rect">
            <a:avLst/>
          </a:prstGeom>
          <a:noFill/>
          <a:ln/>
        </p:spPr>
        <p:txBody>
          <a:bodyPr wrap="square" rtlCol="0" anchor="ctr"/>
          <a:lstStyle/>
          <a:p>
            <a:pPr algn="ctr" indent="0" marL="0">
              <a:buNone/>
            </a:pPr>
            <a:r>
              <a:rPr lang="en-US" sz="1100" dirty="0">
                <a:solidFill>
                  <a:srgbClr val="FFFFFF"/>
                </a:solidFill>
              </a:rPr>
              <a:t>Redis High-Speed Realtime Caching</a:t>
            </a:r>
            <a:endParaRPr lang="en-US" sz="1100" dirty="0"/>
          </a:p>
        </p:txBody>
      </p:sp>
      <p:sp>
        <p:nvSpPr>
          <p:cNvPr id="51" name="Shape 49"/>
          <p:cNvSpPr/>
          <p:nvPr/>
        </p:nvSpPr>
        <p:spPr>
          <a:xfrm>
            <a:off x="7397496" y="4526280"/>
            <a:ext cx="1901952" cy="713232"/>
          </a:xfrm>
          <a:prstGeom prst="rect">
            <a:avLst>
              <a:gd name="adj" fmla="val 6410"/>
            </a:avLst>
          </a:prstGeom>
          <a:solidFill>
            <a:srgbClr val="0B132B"/>
          </a:solidFill>
          <a:ln w="12700">
            <a:solidFill>
              <a:srgbClr val="2D3748"/>
            </a:solidFill>
            <a:prstDash val="solid"/>
          </a:ln>
        </p:spPr>
      </p:sp>
      <p:sp>
        <p:nvSpPr>
          <p:cNvPr id="52" name="Text 50"/>
          <p:cNvSpPr/>
          <p:nvPr/>
        </p:nvSpPr>
        <p:spPr>
          <a:xfrm>
            <a:off x="7443216" y="4526280"/>
            <a:ext cx="1810512" cy="713232"/>
          </a:xfrm>
          <a:prstGeom prst="rect">
            <a:avLst/>
          </a:prstGeom>
          <a:noFill/>
          <a:ln/>
        </p:spPr>
        <p:txBody>
          <a:bodyPr wrap="square" rtlCol="0" anchor="ctr"/>
          <a:lstStyle/>
          <a:p>
            <a:pPr algn="ctr" indent="0" marL="0">
              <a:buNone/>
            </a:pPr>
            <a:r>
              <a:rPr lang="en-US" sz="1100" dirty="0">
                <a:solidFill>
                  <a:srgbClr val="FFFFFF"/>
                </a:solidFill>
              </a:rPr>
              <a:t>MinIO S3 Object Storage Endpoints</a:t>
            </a:r>
            <a:endParaRPr lang="en-US" sz="1100" dirty="0"/>
          </a:p>
        </p:txBody>
      </p:sp>
      <p:sp>
        <p:nvSpPr>
          <p:cNvPr id="53" name="Shape 51"/>
          <p:cNvSpPr/>
          <p:nvPr/>
        </p:nvSpPr>
        <p:spPr>
          <a:xfrm>
            <a:off x="7397496" y="5349240"/>
            <a:ext cx="1901952" cy="713232"/>
          </a:xfrm>
          <a:prstGeom prst="rect">
            <a:avLst>
              <a:gd name="adj" fmla="val 6410"/>
            </a:avLst>
          </a:prstGeom>
          <a:solidFill>
            <a:srgbClr val="0B132B"/>
          </a:solidFill>
          <a:ln w="12700">
            <a:solidFill>
              <a:srgbClr val="2D3748"/>
            </a:solidFill>
            <a:prstDash val="solid"/>
          </a:ln>
        </p:spPr>
      </p:sp>
      <p:sp>
        <p:nvSpPr>
          <p:cNvPr id="54" name="Text 52"/>
          <p:cNvSpPr/>
          <p:nvPr/>
        </p:nvSpPr>
        <p:spPr>
          <a:xfrm>
            <a:off x="7443216" y="5349240"/>
            <a:ext cx="1810512" cy="713232"/>
          </a:xfrm>
          <a:prstGeom prst="rect">
            <a:avLst/>
          </a:prstGeom>
          <a:noFill/>
          <a:ln/>
        </p:spPr>
        <p:txBody>
          <a:bodyPr wrap="square" rtlCol="0" anchor="ctr"/>
          <a:lstStyle/>
          <a:p>
            <a:pPr algn="ctr" indent="0" marL="0">
              <a:buNone/>
            </a:pPr>
            <a:r>
              <a:rPr lang="en-US" sz="1100" dirty="0">
                <a:solidFill>
                  <a:srgbClr val="FFFFFF"/>
                </a:solidFill>
              </a:rPr>
              <a:t>Sequelize ORM / Eloquent Schema Design</a:t>
            </a:r>
            <a:endParaRPr lang="en-US" sz="1100" dirty="0"/>
          </a:p>
        </p:txBody>
      </p:sp>
      <p:sp>
        <p:nvSpPr>
          <p:cNvPr id="55" name="Shape 53"/>
          <p:cNvSpPr/>
          <p:nvPr/>
        </p:nvSpPr>
        <p:spPr>
          <a:xfrm>
            <a:off x="9528048" y="1325880"/>
            <a:ext cx="2176272" cy="5029200"/>
          </a:xfrm>
          <a:prstGeom prst="rect">
            <a:avLst>
              <a:gd name="adj" fmla="val 3361"/>
            </a:avLst>
          </a:prstGeom>
          <a:solidFill>
            <a:srgbClr val="1C2541"/>
          </a:solidFill>
          <a:ln w="25400">
            <a:solidFill>
              <a:srgbClr val="48CAE4"/>
            </a:solidFill>
            <a:prstDash val="solid"/>
          </a:ln>
        </p:spPr>
      </p:sp>
      <p:sp>
        <p:nvSpPr>
          <p:cNvPr id="56" name="Text 54"/>
          <p:cNvSpPr/>
          <p:nvPr/>
        </p:nvSpPr>
        <p:spPr>
          <a:xfrm>
            <a:off x="9619488" y="1463040"/>
            <a:ext cx="1993392" cy="457200"/>
          </a:xfrm>
          <a:prstGeom prst="rect">
            <a:avLst/>
          </a:prstGeom>
          <a:noFill/>
          <a:ln/>
        </p:spPr>
        <p:txBody>
          <a:bodyPr wrap="square" rtlCol="0" anchor="ctr"/>
          <a:lstStyle/>
          <a:p>
            <a:pPr algn="ctr" indent="0" marL="0">
              <a:buNone/>
            </a:pPr>
            <a:r>
              <a:rPr lang="en-US" sz="1300" b="1" dirty="0">
                <a:solidFill>
                  <a:srgbClr val="48CAE4"/>
                </a:solidFill>
              </a:rPr>
              <a:t>🚀 DEVOPS, HARDWARE &amp; IOT</a:t>
            </a:r>
            <a:endParaRPr lang="en-US" sz="1300" dirty="0"/>
          </a:p>
        </p:txBody>
      </p:sp>
      <p:sp>
        <p:nvSpPr>
          <p:cNvPr id="57" name="Shape 55"/>
          <p:cNvSpPr/>
          <p:nvPr/>
        </p:nvSpPr>
        <p:spPr>
          <a:xfrm>
            <a:off x="9665208" y="2057400"/>
            <a:ext cx="1901952" cy="713232"/>
          </a:xfrm>
          <a:prstGeom prst="rect">
            <a:avLst>
              <a:gd name="adj" fmla="val 6410"/>
            </a:avLst>
          </a:prstGeom>
          <a:solidFill>
            <a:srgbClr val="0B132B"/>
          </a:solidFill>
          <a:ln w="12700">
            <a:solidFill>
              <a:srgbClr val="2D3748"/>
            </a:solidFill>
            <a:prstDash val="solid"/>
          </a:ln>
        </p:spPr>
      </p:sp>
      <p:sp>
        <p:nvSpPr>
          <p:cNvPr id="58" name="Text 56"/>
          <p:cNvSpPr/>
          <p:nvPr/>
        </p:nvSpPr>
        <p:spPr>
          <a:xfrm>
            <a:off x="9710928" y="2057400"/>
            <a:ext cx="1810512" cy="713232"/>
          </a:xfrm>
          <a:prstGeom prst="rect">
            <a:avLst/>
          </a:prstGeom>
          <a:noFill/>
          <a:ln/>
        </p:spPr>
        <p:txBody>
          <a:bodyPr wrap="square" rtlCol="0" anchor="ctr"/>
          <a:lstStyle/>
          <a:p>
            <a:pPr algn="ctr" indent="0" marL="0">
              <a:buNone/>
            </a:pPr>
            <a:r>
              <a:rPr lang="en-US" sz="1100" dirty="0">
                <a:solidFill>
                  <a:srgbClr val="FFFFFF"/>
                </a:solidFill>
              </a:rPr>
              <a:t>Docker Containerization &amp; Builds</a:t>
            </a:r>
            <a:endParaRPr lang="en-US" sz="1100" dirty="0"/>
          </a:p>
        </p:txBody>
      </p:sp>
      <p:sp>
        <p:nvSpPr>
          <p:cNvPr id="59" name="Shape 57"/>
          <p:cNvSpPr/>
          <p:nvPr/>
        </p:nvSpPr>
        <p:spPr>
          <a:xfrm>
            <a:off x="9665208" y="2880360"/>
            <a:ext cx="1901952" cy="713232"/>
          </a:xfrm>
          <a:prstGeom prst="rect">
            <a:avLst>
              <a:gd name="adj" fmla="val 6410"/>
            </a:avLst>
          </a:prstGeom>
          <a:solidFill>
            <a:srgbClr val="0B132B"/>
          </a:solidFill>
          <a:ln w="12700">
            <a:solidFill>
              <a:srgbClr val="2D3748"/>
            </a:solidFill>
            <a:prstDash val="solid"/>
          </a:ln>
        </p:spPr>
      </p:sp>
      <p:sp>
        <p:nvSpPr>
          <p:cNvPr id="60" name="Text 58"/>
          <p:cNvSpPr/>
          <p:nvPr/>
        </p:nvSpPr>
        <p:spPr>
          <a:xfrm>
            <a:off x="9710928" y="2880360"/>
            <a:ext cx="1810512" cy="713232"/>
          </a:xfrm>
          <a:prstGeom prst="rect">
            <a:avLst/>
          </a:prstGeom>
          <a:noFill/>
          <a:ln/>
        </p:spPr>
        <p:txBody>
          <a:bodyPr wrap="square" rtlCol="0" anchor="ctr"/>
          <a:lstStyle/>
          <a:p>
            <a:pPr algn="ctr" indent="0" marL="0">
              <a:buNone/>
            </a:pPr>
            <a:r>
              <a:rPr lang="en-US" sz="1100" dirty="0">
                <a:solidFill>
                  <a:srgbClr val="FFFFFF"/>
                </a:solidFill>
              </a:rPr>
              <a:t>GitLab CI/CD Automated Pipelines Setup</a:t>
            </a:r>
            <a:endParaRPr lang="en-US" sz="1100" dirty="0"/>
          </a:p>
        </p:txBody>
      </p:sp>
      <p:sp>
        <p:nvSpPr>
          <p:cNvPr id="61" name="Shape 59"/>
          <p:cNvSpPr/>
          <p:nvPr/>
        </p:nvSpPr>
        <p:spPr>
          <a:xfrm>
            <a:off x="9665208" y="3703320"/>
            <a:ext cx="1901952" cy="713232"/>
          </a:xfrm>
          <a:prstGeom prst="rect">
            <a:avLst>
              <a:gd name="adj" fmla="val 6410"/>
            </a:avLst>
          </a:prstGeom>
          <a:solidFill>
            <a:srgbClr val="0B132B"/>
          </a:solidFill>
          <a:ln w="12700">
            <a:solidFill>
              <a:srgbClr val="2D3748"/>
            </a:solidFill>
            <a:prstDash val="solid"/>
          </a:ln>
        </p:spPr>
      </p:sp>
      <p:sp>
        <p:nvSpPr>
          <p:cNvPr id="62" name="Text 60"/>
          <p:cNvSpPr/>
          <p:nvPr/>
        </p:nvSpPr>
        <p:spPr>
          <a:xfrm>
            <a:off x="9710928" y="3703320"/>
            <a:ext cx="1810512" cy="713232"/>
          </a:xfrm>
          <a:prstGeom prst="rect">
            <a:avLst/>
          </a:prstGeom>
          <a:noFill/>
          <a:ln/>
        </p:spPr>
        <p:txBody>
          <a:bodyPr wrap="square" rtlCol="0" anchor="ctr"/>
          <a:lstStyle/>
          <a:p>
            <a:pPr algn="ctr" indent="0" marL="0">
              <a:buNone/>
            </a:pPr>
            <a:r>
              <a:rPr lang="en-US" sz="1100" dirty="0">
                <a:solidFill>
                  <a:srgbClr val="FFFFFF"/>
                </a:solidFill>
              </a:rPr>
              <a:t>Sentry Real-Time Error Tracing &amp; RBAC</a:t>
            </a:r>
            <a:endParaRPr lang="en-US" sz="1100" dirty="0"/>
          </a:p>
        </p:txBody>
      </p:sp>
      <p:sp>
        <p:nvSpPr>
          <p:cNvPr id="63" name="Shape 61"/>
          <p:cNvSpPr/>
          <p:nvPr/>
        </p:nvSpPr>
        <p:spPr>
          <a:xfrm>
            <a:off x="9665208" y="4526280"/>
            <a:ext cx="1901952" cy="713232"/>
          </a:xfrm>
          <a:prstGeom prst="rect">
            <a:avLst>
              <a:gd name="adj" fmla="val 6410"/>
            </a:avLst>
          </a:prstGeom>
          <a:solidFill>
            <a:srgbClr val="0B132B"/>
          </a:solidFill>
          <a:ln w="12700">
            <a:solidFill>
              <a:srgbClr val="2D3748"/>
            </a:solidFill>
            <a:prstDash val="solid"/>
          </a:ln>
        </p:spPr>
      </p:sp>
      <p:sp>
        <p:nvSpPr>
          <p:cNvPr id="64" name="Text 62"/>
          <p:cNvSpPr/>
          <p:nvPr/>
        </p:nvSpPr>
        <p:spPr>
          <a:xfrm>
            <a:off x="9710928" y="4526280"/>
            <a:ext cx="1810512" cy="713232"/>
          </a:xfrm>
          <a:prstGeom prst="rect">
            <a:avLst/>
          </a:prstGeom>
          <a:noFill/>
          <a:ln/>
        </p:spPr>
        <p:txBody>
          <a:bodyPr wrap="square" rtlCol="0" anchor="ctr"/>
          <a:lstStyle/>
          <a:p>
            <a:pPr algn="ctr" indent="0" marL="0">
              <a:buNone/>
            </a:pPr>
            <a:r>
              <a:rPr lang="en-US" sz="1100" dirty="0">
                <a:solidFill>
                  <a:srgbClr val="FFFFFF"/>
                </a:solidFill>
              </a:rPr>
              <a:t>Jest Integration Testing QA Suite</a:t>
            </a:r>
            <a:endParaRPr lang="en-US" sz="1100" dirty="0"/>
          </a:p>
        </p:txBody>
      </p:sp>
      <p:sp>
        <p:nvSpPr>
          <p:cNvPr id="65" name="Shape 63"/>
          <p:cNvSpPr/>
          <p:nvPr/>
        </p:nvSpPr>
        <p:spPr>
          <a:xfrm>
            <a:off x="9665208" y="5349240"/>
            <a:ext cx="1901952" cy="713232"/>
          </a:xfrm>
          <a:prstGeom prst="rect">
            <a:avLst>
              <a:gd name="adj" fmla="val 6410"/>
            </a:avLst>
          </a:prstGeom>
          <a:solidFill>
            <a:srgbClr val="0B132B"/>
          </a:solidFill>
          <a:ln w="12700">
            <a:solidFill>
              <a:srgbClr val="2D3748"/>
            </a:solidFill>
            <a:prstDash val="solid"/>
          </a:ln>
        </p:spPr>
      </p:sp>
      <p:sp>
        <p:nvSpPr>
          <p:cNvPr id="66" name="Text 64"/>
          <p:cNvSpPr/>
          <p:nvPr/>
        </p:nvSpPr>
        <p:spPr>
          <a:xfrm>
            <a:off x="9710928" y="5349240"/>
            <a:ext cx="1810512" cy="713232"/>
          </a:xfrm>
          <a:prstGeom prst="rect">
            <a:avLst/>
          </a:prstGeom>
          <a:noFill/>
          <a:ln/>
        </p:spPr>
        <p:txBody>
          <a:bodyPr wrap="square" rtlCol="0" anchor="ctr"/>
          <a:lstStyle/>
          <a:p>
            <a:pPr algn="ctr" indent="0" marL="0">
              <a:buNone/>
            </a:pPr>
            <a:r>
              <a:rPr lang="en-US" sz="1100" dirty="0">
                <a:solidFill>
                  <a:srgbClr val="FFFFFF"/>
                </a:solidFill>
              </a:rPr>
              <a:t>Raspberry Pi GPIO / Industrial PLC/HMI</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ARCHITECTURAL CASE STUDIES</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DEEP-DIVE ARCHITECTURAL SPECIALIZATIONS</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Detailed technical breakdown of solving complex engineering bottlenecks across Enterprise, AI R&amp;D, and Industrial IoT.</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325880"/>
            <a:ext cx="3639312" cy="5029200"/>
          </a:xfrm>
          <a:prstGeom prst="rect">
            <a:avLst>
              <a:gd name="adj" fmla="val 2010"/>
            </a:avLst>
          </a:prstGeom>
          <a:solidFill>
            <a:srgbClr val="1C2541"/>
          </a:solidFill>
          <a:ln w="25400">
            <a:solidFill>
              <a:srgbClr val="48CAE4"/>
            </a:solidFill>
            <a:prstDash val="solid"/>
          </a:ln>
        </p:spPr>
      </p:sp>
      <p:sp>
        <p:nvSpPr>
          <p:cNvPr id="8" name="Text 6"/>
          <p:cNvSpPr/>
          <p:nvPr/>
        </p:nvSpPr>
        <p:spPr>
          <a:xfrm>
            <a:off x="640080" y="1463040"/>
            <a:ext cx="3273552" cy="640080"/>
          </a:xfrm>
          <a:prstGeom prst="rect">
            <a:avLst/>
          </a:prstGeom>
          <a:noFill/>
          <a:ln/>
        </p:spPr>
        <p:txBody>
          <a:bodyPr wrap="square" rtlCol="0" anchor="ctr"/>
          <a:lstStyle/>
          <a:p>
            <a:pPr algn="ctr" indent="0" marL="0">
              <a:buNone/>
            </a:pPr>
            <a:r>
              <a:rPr lang="en-US" sz="1400" b="1" dirty="0">
                <a:solidFill>
                  <a:srgbClr val="48CAE4"/>
                </a:solidFill>
              </a:rPr>
              <a:t>1. ENTERPRISE MICROFRONTENDS</a:t>
            </a:r>
            <a:endParaRPr lang="en-US" sz="1400" dirty="0"/>
          </a:p>
          <a:p>
            <a:pPr algn="ctr" indent="0" marL="0">
              <a:buNone/>
            </a:pPr>
            <a:r>
              <a:rPr lang="en-US" sz="1400" b="1" dirty="0">
                <a:solidFill>
                  <a:srgbClr val="48CAE4"/>
                </a:solidFill>
              </a:rPr>
              <a:t>Decoupling 100+ Module Monoliths</a:t>
            </a:r>
            <a:endParaRPr lang="en-US" sz="1400" dirty="0"/>
          </a:p>
        </p:txBody>
      </p:sp>
      <p:sp>
        <p:nvSpPr>
          <p:cNvPr id="9" name="Shape 7"/>
          <p:cNvSpPr/>
          <p:nvPr/>
        </p:nvSpPr>
        <p:spPr>
          <a:xfrm>
            <a:off x="640080" y="2240280"/>
            <a:ext cx="3273552" cy="1234440"/>
          </a:xfrm>
          <a:prstGeom prst="rect">
            <a:avLst>
              <a:gd name="adj" fmla="val 3704"/>
            </a:avLst>
          </a:prstGeom>
          <a:solidFill>
            <a:srgbClr val="0F172A"/>
          </a:solidFill>
          <a:ln w="12700">
            <a:solidFill>
              <a:srgbClr val="EF4444"/>
            </a:solidFill>
            <a:prstDash val="solid"/>
          </a:ln>
        </p:spPr>
      </p:sp>
      <p:sp>
        <p:nvSpPr>
          <p:cNvPr id="10" name="Text 8"/>
          <p:cNvSpPr/>
          <p:nvPr/>
        </p:nvSpPr>
        <p:spPr>
          <a:xfrm>
            <a:off x="731520" y="2286000"/>
            <a:ext cx="3090672" cy="228600"/>
          </a:xfrm>
          <a:prstGeom prst="rect">
            <a:avLst/>
          </a:prstGeom>
          <a:noFill/>
          <a:ln/>
        </p:spPr>
        <p:txBody>
          <a:bodyPr wrap="square" rtlCol="0" anchor="ctr"/>
          <a:lstStyle/>
          <a:p>
            <a:pPr indent="0" marL="0">
              <a:buNone/>
            </a:pPr>
            <a:r>
              <a:rPr lang="en-US" sz="1100" b="1" dirty="0">
                <a:solidFill>
                  <a:srgbClr val="EF4444"/>
                </a:solidFill>
              </a:rPr>
              <a:t>⚠️ THE BOTTLENECK (Problem):</a:t>
            </a:r>
            <a:endParaRPr lang="en-US" sz="1100" dirty="0"/>
          </a:p>
        </p:txBody>
      </p:sp>
      <p:sp>
        <p:nvSpPr>
          <p:cNvPr id="11" name="Text 9"/>
          <p:cNvSpPr/>
          <p:nvPr/>
        </p:nvSpPr>
        <p:spPr>
          <a:xfrm>
            <a:off x="731520" y="2514600"/>
            <a:ext cx="3090672" cy="914400"/>
          </a:xfrm>
          <a:prstGeom prst="rect">
            <a:avLst/>
          </a:prstGeom>
          <a:noFill/>
          <a:ln/>
        </p:spPr>
        <p:txBody>
          <a:bodyPr wrap="square" rtlCol="0" anchor="ctr"/>
          <a:lstStyle/>
          <a:p>
            <a:pPr indent="0" marL="0">
              <a:buNone/>
            </a:pPr>
            <a:r>
              <a:rPr lang="en-US" sz="1100" dirty="0">
                <a:solidFill>
                  <a:srgbClr val="FFFFFF"/>
                </a:solidFill>
              </a:rPr>
              <a:t>Massive monolithic applications (like legacy CISEA) suffer from slow build times, tight domain coupling, and high deployment risk across 100+ business units.</a:t>
            </a:r>
            <a:endParaRPr lang="en-US" sz="1100" dirty="0"/>
          </a:p>
        </p:txBody>
      </p:sp>
      <p:sp>
        <p:nvSpPr>
          <p:cNvPr id="12" name="Shape 10"/>
          <p:cNvSpPr/>
          <p:nvPr/>
        </p:nvSpPr>
        <p:spPr>
          <a:xfrm>
            <a:off x="640080" y="3566160"/>
            <a:ext cx="3273552" cy="1325880"/>
          </a:xfrm>
          <a:prstGeom prst="rect">
            <a:avLst>
              <a:gd name="adj" fmla="val 3448"/>
            </a:avLst>
          </a:prstGeom>
          <a:solidFill>
            <a:srgbClr val="0F172A"/>
          </a:solidFill>
          <a:ln w="12700">
            <a:solidFill>
              <a:srgbClr val="48CAE4"/>
            </a:solidFill>
            <a:prstDash val="solid"/>
          </a:ln>
        </p:spPr>
      </p:sp>
      <p:sp>
        <p:nvSpPr>
          <p:cNvPr id="13" name="Text 11"/>
          <p:cNvSpPr/>
          <p:nvPr/>
        </p:nvSpPr>
        <p:spPr>
          <a:xfrm>
            <a:off x="731520" y="3611880"/>
            <a:ext cx="3090672" cy="228600"/>
          </a:xfrm>
          <a:prstGeom prst="rect">
            <a:avLst/>
          </a:prstGeom>
          <a:noFill/>
          <a:ln/>
        </p:spPr>
        <p:txBody>
          <a:bodyPr wrap="square" rtlCol="0" anchor="ctr"/>
          <a:lstStyle/>
          <a:p>
            <a:pPr indent="0" marL="0">
              <a:buNone/>
            </a:pPr>
            <a:r>
              <a:rPr lang="en-US" sz="1100" b="1" dirty="0">
                <a:solidFill>
                  <a:srgbClr val="48CAE4"/>
                </a:solidFill>
              </a:rPr>
              <a:t>💡 ARCHITECTURAL SOLUTION:</a:t>
            </a:r>
            <a:endParaRPr lang="en-US" sz="1100" dirty="0"/>
          </a:p>
        </p:txBody>
      </p:sp>
      <p:sp>
        <p:nvSpPr>
          <p:cNvPr id="14" name="Text 12"/>
          <p:cNvSpPr/>
          <p:nvPr/>
        </p:nvSpPr>
        <p:spPr>
          <a:xfrm>
            <a:off x="731520" y="3840480"/>
            <a:ext cx="3090672" cy="1005840"/>
          </a:xfrm>
          <a:prstGeom prst="rect">
            <a:avLst/>
          </a:prstGeom>
          <a:noFill/>
          <a:ln/>
        </p:spPr>
        <p:txBody>
          <a:bodyPr wrap="square" rtlCol="0" anchor="ctr"/>
          <a:lstStyle/>
          <a:p>
            <a:pPr indent="0" marL="0">
              <a:buNone/>
            </a:pPr>
            <a:r>
              <a:rPr lang="en-US" sz="1100" dirty="0">
                <a:solidFill>
                  <a:srgbClr val="FFFFFF"/>
                </a:solidFill>
              </a:rPr>
              <a:t>Architected modern Microfrontend systems utilizing Turbo and Nx monorepos to isolate Human Resources, IT SLA, and Mining Ops domains into independent modules.</a:t>
            </a:r>
            <a:endParaRPr lang="en-US" sz="1100" dirty="0"/>
          </a:p>
        </p:txBody>
      </p:sp>
      <p:sp>
        <p:nvSpPr>
          <p:cNvPr id="15" name="Shape 13"/>
          <p:cNvSpPr/>
          <p:nvPr/>
        </p:nvSpPr>
        <p:spPr>
          <a:xfrm>
            <a:off x="640080" y="4983480"/>
            <a:ext cx="3273552" cy="1234440"/>
          </a:xfrm>
          <a:prstGeom prst="rect">
            <a:avLst>
              <a:gd name="adj" fmla="val 3704"/>
            </a:avLst>
          </a:prstGeom>
          <a:solidFill>
            <a:srgbClr val="0F172A"/>
          </a:solidFill>
          <a:ln w="12700">
            <a:solidFill>
              <a:srgbClr val="10B981"/>
            </a:solidFill>
            <a:prstDash val="solid"/>
          </a:ln>
        </p:spPr>
      </p:sp>
      <p:sp>
        <p:nvSpPr>
          <p:cNvPr id="16" name="Text 14"/>
          <p:cNvSpPr/>
          <p:nvPr/>
        </p:nvSpPr>
        <p:spPr>
          <a:xfrm>
            <a:off x="731520" y="5029200"/>
            <a:ext cx="3090672" cy="228600"/>
          </a:xfrm>
          <a:prstGeom prst="rect">
            <a:avLst/>
          </a:prstGeom>
          <a:noFill/>
          <a:ln/>
        </p:spPr>
        <p:txBody>
          <a:bodyPr wrap="square" rtlCol="0" anchor="ctr"/>
          <a:lstStyle/>
          <a:p>
            <a:pPr indent="0" marL="0">
              <a:buNone/>
            </a:pPr>
            <a:r>
              <a:rPr lang="en-US" sz="1100" b="1" dirty="0">
                <a:solidFill>
                  <a:srgbClr val="10B981"/>
                </a:solidFill>
              </a:rPr>
              <a:t>🚀 MEASURABLE IMPACT:</a:t>
            </a:r>
            <a:endParaRPr lang="en-US" sz="1100" dirty="0"/>
          </a:p>
        </p:txBody>
      </p:sp>
      <p:sp>
        <p:nvSpPr>
          <p:cNvPr id="17" name="Text 15"/>
          <p:cNvSpPr/>
          <p:nvPr/>
        </p:nvSpPr>
        <p:spPr>
          <a:xfrm>
            <a:off x="731520" y="5257800"/>
            <a:ext cx="3090672" cy="914400"/>
          </a:xfrm>
          <a:prstGeom prst="rect">
            <a:avLst/>
          </a:prstGeom>
          <a:noFill/>
          <a:ln/>
        </p:spPr>
        <p:txBody>
          <a:bodyPr wrap="square" rtlCol="0" anchor="ctr"/>
          <a:lstStyle/>
          <a:p>
            <a:pPr indent="0" marL="0">
              <a:buNone/>
            </a:pPr>
            <a:r>
              <a:rPr lang="en-US" sz="1100" dirty="0">
                <a:solidFill>
                  <a:srgbClr val="FFFFFF"/>
                </a:solidFill>
              </a:rPr>
              <a:t>Achieved independent team velocity, zero-regression deployments, and instantaneous sub-module loading across enterprise mining networks.</a:t>
            </a:r>
            <a:endParaRPr lang="en-US" sz="1100" dirty="0"/>
          </a:p>
        </p:txBody>
      </p:sp>
      <p:sp>
        <p:nvSpPr>
          <p:cNvPr id="18" name="Shape 16"/>
          <p:cNvSpPr/>
          <p:nvPr/>
        </p:nvSpPr>
        <p:spPr>
          <a:xfrm>
            <a:off x="4279392" y="1325880"/>
            <a:ext cx="3639312" cy="5029200"/>
          </a:xfrm>
          <a:prstGeom prst="rect">
            <a:avLst>
              <a:gd name="adj" fmla="val 2010"/>
            </a:avLst>
          </a:prstGeom>
          <a:solidFill>
            <a:srgbClr val="1C2541"/>
          </a:solidFill>
          <a:ln w="25400">
            <a:solidFill>
              <a:srgbClr val="F59E0B"/>
            </a:solidFill>
            <a:prstDash val="solid"/>
          </a:ln>
        </p:spPr>
      </p:sp>
      <p:sp>
        <p:nvSpPr>
          <p:cNvPr id="19" name="Text 17"/>
          <p:cNvSpPr/>
          <p:nvPr/>
        </p:nvSpPr>
        <p:spPr>
          <a:xfrm>
            <a:off x="4462272" y="1463040"/>
            <a:ext cx="3273552" cy="640080"/>
          </a:xfrm>
          <a:prstGeom prst="rect">
            <a:avLst/>
          </a:prstGeom>
          <a:noFill/>
          <a:ln/>
        </p:spPr>
        <p:txBody>
          <a:bodyPr wrap="square" rtlCol="0" anchor="ctr"/>
          <a:lstStyle/>
          <a:p>
            <a:pPr algn="ctr" indent="0" marL="0">
              <a:buNone/>
            </a:pPr>
            <a:r>
              <a:rPr lang="en-US" sz="1400" b="1" dirty="0">
                <a:solidFill>
                  <a:srgbClr val="F59E0B"/>
                </a:solidFill>
              </a:rPr>
              <a:t>2. AI DAG ORCHESTRATION</a:t>
            </a:r>
            <a:endParaRPr lang="en-US" sz="1400" dirty="0"/>
          </a:p>
          <a:p>
            <a:pPr algn="ctr" indent="0" marL="0">
              <a:buNone/>
            </a:pPr>
            <a:r>
              <a:rPr lang="en-US" sz="1400" b="1" dirty="0">
                <a:solidFill>
                  <a:srgbClr val="F59E0B"/>
                </a:solidFill>
              </a:rPr>
              <a:t>Visual Node &amp; Model Pipelines</a:t>
            </a:r>
            <a:endParaRPr lang="en-US" sz="1400" dirty="0"/>
          </a:p>
        </p:txBody>
      </p:sp>
      <p:sp>
        <p:nvSpPr>
          <p:cNvPr id="20" name="Shape 18"/>
          <p:cNvSpPr/>
          <p:nvPr/>
        </p:nvSpPr>
        <p:spPr>
          <a:xfrm>
            <a:off x="4462272" y="2240280"/>
            <a:ext cx="3273552" cy="1234440"/>
          </a:xfrm>
          <a:prstGeom prst="rect">
            <a:avLst>
              <a:gd name="adj" fmla="val 3704"/>
            </a:avLst>
          </a:prstGeom>
          <a:solidFill>
            <a:srgbClr val="0F172A"/>
          </a:solidFill>
          <a:ln w="12700">
            <a:solidFill>
              <a:srgbClr val="EF4444"/>
            </a:solidFill>
            <a:prstDash val="solid"/>
          </a:ln>
        </p:spPr>
      </p:sp>
      <p:sp>
        <p:nvSpPr>
          <p:cNvPr id="21" name="Text 19"/>
          <p:cNvSpPr/>
          <p:nvPr/>
        </p:nvSpPr>
        <p:spPr>
          <a:xfrm>
            <a:off x="4553712" y="2286000"/>
            <a:ext cx="3090672" cy="228600"/>
          </a:xfrm>
          <a:prstGeom prst="rect">
            <a:avLst/>
          </a:prstGeom>
          <a:noFill/>
          <a:ln/>
        </p:spPr>
        <p:txBody>
          <a:bodyPr wrap="square" rtlCol="0" anchor="ctr"/>
          <a:lstStyle/>
          <a:p>
            <a:pPr indent="0" marL="0">
              <a:buNone/>
            </a:pPr>
            <a:r>
              <a:rPr lang="en-US" sz="1100" b="1" dirty="0">
                <a:solidFill>
                  <a:srgbClr val="EF4444"/>
                </a:solidFill>
              </a:rPr>
              <a:t>⚠️ THE BOTTLENECK (Problem):</a:t>
            </a:r>
            <a:endParaRPr lang="en-US" sz="1100" dirty="0"/>
          </a:p>
        </p:txBody>
      </p:sp>
      <p:sp>
        <p:nvSpPr>
          <p:cNvPr id="22" name="Text 20"/>
          <p:cNvSpPr/>
          <p:nvPr/>
        </p:nvSpPr>
        <p:spPr>
          <a:xfrm>
            <a:off x="4553712" y="2514600"/>
            <a:ext cx="3090672" cy="914400"/>
          </a:xfrm>
          <a:prstGeom prst="rect">
            <a:avLst/>
          </a:prstGeom>
          <a:noFill/>
          <a:ln/>
        </p:spPr>
        <p:txBody>
          <a:bodyPr wrap="square" rtlCol="0" anchor="ctr"/>
          <a:lstStyle/>
          <a:p>
            <a:pPr indent="0" marL="0">
              <a:buNone/>
            </a:pPr>
            <a:r>
              <a:rPr lang="en-US" sz="1100" dirty="0">
                <a:solidFill>
                  <a:srgbClr val="FFFFFF"/>
                </a:solidFill>
              </a:rPr>
              <a:t>Multi-stage generative AI media creation requires brittle, manual scripts, tedious parameter tuning, and disconnected rendering steps.</a:t>
            </a:r>
            <a:endParaRPr lang="en-US" sz="1100" dirty="0"/>
          </a:p>
        </p:txBody>
      </p:sp>
      <p:sp>
        <p:nvSpPr>
          <p:cNvPr id="23" name="Shape 21"/>
          <p:cNvSpPr/>
          <p:nvPr/>
        </p:nvSpPr>
        <p:spPr>
          <a:xfrm>
            <a:off x="4462272" y="3566160"/>
            <a:ext cx="3273552" cy="1325880"/>
          </a:xfrm>
          <a:prstGeom prst="rect">
            <a:avLst>
              <a:gd name="adj" fmla="val 3448"/>
            </a:avLst>
          </a:prstGeom>
          <a:solidFill>
            <a:srgbClr val="0F172A"/>
          </a:solidFill>
          <a:ln w="12700">
            <a:solidFill>
              <a:srgbClr val="F59E0B"/>
            </a:solidFill>
            <a:prstDash val="solid"/>
          </a:ln>
        </p:spPr>
      </p:sp>
      <p:sp>
        <p:nvSpPr>
          <p:cNvPr id="24" name="Text 22"/>
          <p:cNvSpPr/>
          <p:nvPr/>
        </p:nvSpPr>
        <p:spPr>
          <a:xfrm>
            <a:off x="4553712" y="3611880"/>
            <a:ext cx="3090672" cy="228600"/>
          </a:xfrm>
          <a:prstGeom prst="rect">
            <a:avLst/>
          </a:prstGeom>
          <a:noFill/>
          <a:ln/>
        </p:spPr>
        <p:txBody>
          <a:bodyPr wrap="square" rtlCol="0" anchor="ctr"/>
          <a:lstStyle/>
          <a:p>
            <a:pPr indent="0" marL="0">
              <a:buNone/>
            </a:pPr>
            <a:r>
              <a:rPr lang="en-US" sz="1100" b="1" dirty="0">
                <a:solidFill>
                  <a:srgbClr val="F59E0B"/>
                </a:solidFill>
              </a:rPr>
              <a:t>💡 ARCHITECTURAL SOLUTION:</a:t>
            </a:r>
            <a:endParaRPr lang="en-US" sz="1100" dirty="0"/>
          </a:p>
        </p:txBody>
      </p:sp>
      <p:sp>
        <p:nvSpPr>
          <p:cNvPr id="25" name="Text 23"/>
          <p:cNvSpPr/>
          <p:nvPr/>
        </p:nvSpPr>
        <p:spPr>
          <a:xfrm>
            <a:off x="4553712" y="3840480"/>
            <a:ext cx="3090672" cy="1005840"/>
          </a:xfrm>
          <a:prstGeom prst="rect">
            <a:avLst/>
          </a:prstGeom>
          <a:noFill/>
          <a:ln/>
        </p:spPr>
        <p:txBody>
          <a:bodyPr wrap="square" rtlCol="0" anchor="ctr"/>
          <a:lstStyle/>
          <a:p>
            <a:pPr indent="0" marL="0">
              <a:buNone/>
            </a:pPr>
            <a:r>
              <a:rPr lang="en-US" sz="1100" dirty="0">
                <a:solidFill>
                  <a:srgbClr val="FFFFFF"/>
                </a:solidFill>
              </a:rPr>
              <a:t>Engineered Supreme Mother Orchestrator V1.0—a visual Directed Acyclic Graph (DAG) node chaining engine with natural language comment parsing and custom parameter tuning.</a:t>
            </a:r>
            <a:endParaRPr lang="en-US" sz="1100" dirty="0"/>
          </a:p>
        </p:txBody>
      </p:sp>
      <p:sp>
        <p:nvSpPr>
          <p:cNvPr id="26" name="Shape 24"/>
          <p:cNvSpPr/>
          <p:nvPr/>
        </p:nvSpPr>
        <p:spPr>
          <a:xfrm>
            <a:off x="4462272" y="4983480"/>
            <a:ext cx="3273552" cy="1234440"/>
          </a:xfrm>
          <a:prstGeom prst="rect">
            <a:avLst>
              <a:gd name="adj" fmla="val 3704"/>
            </a:avLst>
          </a:prstGeom>
          <a:solidFill>
            <a:srgbClr val="0F172A"/>
          </a:solidFill>
          <a:ln w="12700">
            <a:solidFill>
              <a:srgbClr val="10B981"/>
            </a:solidFill>
            <a:prstDash val="solid"/>
          </a:ln>
        </p:spPr>
      </p:sp>
      <p:sp>
        <p:nvSpPr>
          <p:cNvPr id="27" name="Text 25"/>
          <p:cNvSpPr/>
          <p:nvPr/>
        </p:nvSpPr>
        <p:spPr>
          <a:xfrm>
            <a:off x="4553712" y="5029200"/>
            <a:ext cx="3090672" cy="228600"/>
          </a:xfrm>
          <a:prstGeom prst="rect">
            <a:avLst/>
          </a:prstGeom>
          <a:noFill/>
          <a:ln/>
        </p:spPr>
        <p:txBody>
          <a:bodyPr wrap="square" rtlCol="0" anchor="ctr"/>
          <a:lstStyle/>
          <a:p>
            <a:pPr indent="0" marL="0">
              <a:buNone/>
            </a:pPr>
            <a:r>
              <a:rPr lang="en-US" sz="1100" b="1" dirty="0">
                <a:solidFill>
                  <a:srgbClr val="10B981"/>
                </a:solidFill>
              </a:rPr>
              <a:t>🚀 MEASURABLE IMPACT:</a:t>
            </a:r>
            <a:endParaRPr lang="en-US" sz="1100" dirty="0"/>
          </a:p>
        </p:txBody>
      </p:sp>
      <p:sp>
        <p:nvSpPr>
          <p:cNvPr id="28" name="Text 26"/>
          <p:cNvSpPr/>
          <p:nvPr/>
        </p:nvSpPr>
        <p:spPr>
          <a:xfrm>
            <a:off x="4553712" y="5257800"/>
            <a:ext cx="3090672" cy="914400"/>
          </a:xfrm>
          <a:prstGeom prst="rect">
            <a:avLst/>
          </a:prstGeom>
          <a:noFill/>
          <a:ln/>
        </p:spPr>
        <p:txBody>
          <a:bodyPr wrap="square" rtlCol="0" anchor="ctr"/>
          <a:lstStyle/>
          <a:p>
            <a:pPr indent="0" marL="0">
              <a:buNone/>
            </a:pPr>
            <a:r>
              <a:rPr lang="en-US" sz="1100" dirty="0">
                <a:solidFill>
                  <a:srgbClr val="FFFFFF"/>
                </a:solidFill>
              </a:rPr>
              <a:t>Automated natural language prompt-to-model tuning, autonomous clip alignment, and 90% faster generative video turnaround without manual script intervention.</a:t>
            </a:r>
            <a:endParaRPr lang="en-US" sz="1100" dirty="0"/>
          </a:p>
        </p:txBody>
      </p:sp>
      <p:sp>
        <p:nvSpPr>
          <p:cNvPr id="29" name="Shape 27"/>
          <p:cNvSpPr/>
          <p:nvPr/>
        </p:nvSpPr>
        <p:spPr>
          <a:xfrm>
            <a:off x="8101584" y="1325880"/>
            <a:ext cx="3639312" cy="5029200"/>
          </a:xfrm>
          <a:prstGeom prst="rect">
            <a:avLst>
              <a:gd name="adj" fmla="val 2010"/>
            </a:avLst>
          </a:prstGeom>
          <a:solidFill>
            <a:srgbClr val="1C2541"/>
          </a:solidFill>
          <a:ln w="25400">
            <a:solidFill>
              <a:srgbClr val="10B981"/>
            </a:solidFill>
            <a:prstDash val="solid"/>
          </a:ln>
        </p:spPr>
      </p:sp>
      <p:sp>
        <p:nvSpPr>
          <p:cNvPr id="30" name="Text 28"/>
          <p:cNvSpPr/>
          <p:nvPr/>
        </p:nvSpPr>
        <p:spPr>
          <a:xfrm>
            <a:off x="8284464" y="1463040"/>
            <a:ext cx="3273552" cy="640080"/>
          </a:xfrm>
          <a:prstGeom prst="rect">
            <a:avLst/>
          </a:prstGeom>
          <a:noFill/>
          <a:ln/>
        </p:spPr>
        <p:txBody>
          <a:bodyPr wrap="square" rtlCol="0" anchor="ctr"/>
          <a:lstStyle/>
          <a:p>
            <a:pPr algn="ctr" indent="0" marL="0">
              <a:buNone/>
            </a:pPr>
            <a:r>
              <a:rPr lang="en-US" sz="1400" b="1" dirty="0">
                <a:solidFill>
                  <a:srgbClr val="10B981"/>
                </a:solidFill>
              </a:rPr>
              <a:t>3. HARDWARE-TO-CLOUD IOT</a:t>
            </a:r>
            <a:endParaRPr lang="en-US" sz="1400" dirty="0"/>
          </a:p>
          <a:p>
            <a:pPr algn="ctr" indent="0" marL="0">
              <a:buNone/>
            </a:pPr>
            <a:r>
              <a:rPr lang="en-US" sz="1400" b="1" dirty="0">
                <a:solidFill>
                  <a:srgbClr val="10B981"/>
                </a:solidFill>
              </a:rPr>
              <a:t>Bridging Physical Sensors to REST APIs</a:t>
            </a:r>
            <a:endParaRPr lang="en-US" sz="1400" dirty="0"/>
          </a:p>
        </p:txBody>
      </p:sp>
      <p:sp>
        <p:nvSpPr>
          <p:cNvPr id="31" name="Shape 29"/>
          <p:cNvSpPr/>
          <p:nvPr/>
        </p:nvSpPr>
        <p:spPr>
          <a:xfrm>
            <a:off x="8284464" y="2240280"/>
            <a:ext cx="3273552" cy="1234440"/>
          </a:xfrm>
          <a:prstGeom prst="rect">
            <a:avLst>
              <a:gd name="adj" fmla="val 3704"/>
            </a:avLst>
          </a:prstGeom>
          <a:solidFill>
            <a:srgbClr val="0F172A"/>
          </a:solidFill>
          <a:ln w="12700">
            <a:solidFill>
              <a:srgbClr val="EF4444"/>
            </a:solidFill>
            <a:prstDash val="solid"/>
          </a:ln>
        </p:spPr>
      </p:sp>
      <p:sp>
        <p:nvSpPr>
          <p:cNvPr id="32" name="Text 30"/>
          <p:cNvSpPr/>
          <p:nvPr/>
        </p:nvSpPr>
        <p:spPr>
          <a:xfrm>
            <a:off x="8375904" y="2286000"/>
            <a:ext cx="3090672" cy="228600"/>
          </a:xfrm>
          <a:prstGeom prst="rect">
            <a:avLst/>
          </a:prstGeom>
          <a:noFill/>
          <a:ln/>
        </p:spPr>
        <p:txBody>
          <a:bodyPr wrap="square" rtlCol="0" anchor="ctr"/>
          <a:lstStyle/>
          <a:p>
            <a:pPr indent="0" marL="0">
              <a:buNone/>
            </a:pPr>
            <a:r>
              <a:rPr lang="en-US" sz="1100" b="1" dirty="0">
                <a:solidFill>
                  <a:srgbClr val="EF4444"/>
                </a:solidFill>
              </a:rPr>
              <a:t>⚠️ THE BOTTLENECK (Problem):</a:t>
            </a:r>
            <a:endParaRPr lang="en-US" sz="1100" dirty="0"/>
          </a:p>
        </p:txBody>
      </p:sp>
      <p:sp>
        <p:nvSpPr>
          <p:cNvPr id="33" name="Text 31"/>
          <p:cNvSpPr/>
          <p:nvPr/>
        </p:nvSpPr>
        <p:spPr>
          <a:xfrm>
            <a:off x="8375904" y="2514600"/>
            <a:ext cx="3090672" cy="914400"/>
          </a:xfrm>
          <a:prstGeom prst="rect">
            <a:avLst/>
          </a:prstGeom>
          <a:noFill/>
          <a:ln/>
        </p:spPr>
        <p:txBody>
          <a:bodyPr wrap="square" rtlCol="0" anchor="ctr"/>
          <a:lstStyle/>
          <a:p>
            <a:pPr indent="0" marL="0">
              <a:buNone/>
            </a:pPr>
            <a:r>
              <a:rPr lang="en-US" sz="1100" dirty="0">
                <a:solidFill>
                  <a:srgbClr val="FFFFFF"/>
                </a:solidFill>
              </a:rPr>
              <a:t>Physical industrial machinery (ΔP pressure sensors, industrial relays) operate in isolated electrical silos without remote telemetry or web monitoring.</a:t>
            </a:r>
            <a:endParaRPr lang="en-US" sz="1100" dirty="0"/>
          </a:p>
        </p:txBody>
      </p:sp>
      <p:sp>
        <p:nvSpPr>
          <p:cNvPr id="34" name="Shape 32"/>
          <p:cNvSpPr/>
          <p:nvPr/>
        </p:nvSpPr>
        <p:spPr>
          <a:xfrm>
            <a:off x="8284464" y="3566160"/>
            <a:ext cx="3273552" cy="1325880"/>
          </a:xfrm>
          <a:prstGeom prst="rect">
            <a:avLst>
              <a:gd name="adj" fmla="val 3448"/>
            </a:avLst>
          </a:prstGeom>
          <a:solidFill>
            <a:srgbClr val="0F172A"/>
          </a:solidFill>
          <a:ln w="12700">
            <a:solidFill>
              <a:srgbClr val="10B981"/>
            </a:solidFill>
            <a:prstDash val="solid"/>
          </a:ln>
        </p:spPr>
      </p:sp>
      <p:sp>
        <p:nvSpPr>
          <p:cNvPr id="35" name="Text 33"/>
          <p:cNvSpPr/>
          <p:nvPr/>
        </p:nvSpPr>
        <p:spPr>
          <a:xfrm>
            <a:off x="8375904" y="3611880"/>
            <a:ext cx="3090672" cy="228600"/>
          </a:xfrm>
          <a:prstGeom prst="rect">
            <a:avLst/>
          </a:prstGeom>
          <a:noFill/>
          <a:ln/>
        </p:spPr>
        <p:txBody>
          <a:bodyPr wrap="square" rtlCol="0" anchor="ctr"/>
          <a:lstStyle/>
          <a:p>
            <a:pPr indent="0" marL="0">
              <a:buNone/>
            </a:pPr>
            <a:r>
              <a:rPr lang="en-US" sz="1100" b="1" dirty="0">
                <a:solidFill>
                  <a:srgbClr val="10B981"/>
                </a:solidFill>
              </a:rPr>
              <a:t>💡 ARCHITECTURAL SOLUTION:</a:t>
            </a:r>
            <a:endParaRPr lang="en-US" sz="1100" dirty="0"/>
          </a:p>
        </p:txBody>
      </p:sp>
      <p:sp>
        <p:nvSpPr>
          <p:cNvPr id="36" name="Text 34"/>
          <p:cNvSpPr/>
          <p:nvPr/>
        </p:nvSpPr>
        <p:spPr>
          <a:xfrm>
            <a:off x="8375904" y="3840480"/>
            <a:ext cx="3090672" cy="1005840"/>
          </a:xfrm>
          <a:prstGeom prst="rect">
            <a:avLst/>
          </a:prstGeom>
          <a:noFill/>
          <a:ln/>
        </p:spPr>
        <p:txBody>
          <a:bodyPr wrap="square" rtlCol="0" anchor="ctr"/>
          <a:lstStyle/>
          <a:p>
            <a:pPr indent="0" marL="0">
              <a:buNone/>
            </a:pPr>
            <a:r>
              <a:rPr lang="en-US" sz="1100" dirty="0">
                <a:solidFill>
                  <a:srgbClr val="FFFFFF"/>
                </a:solidFill>
              </a:rPr>
              <a:t>Developed Raspberry Pi and PLC/HMI controller simulators interfacing physical GPIO signals directly with Railway cloud REST APIs and real-time web dashboards.</a:t>
            </a:r>
            <a:endParaRPr lang="en-US" sz="1100" dirty="0"/>
          </a:p>
        </p:txBody>
      </p:sp>
      <p:sp>
        <p:nvSpPr>
          <p:cNvPr id="37" name="Shape 35"/>
          <p:cNvSpPr/>
          <p:nvPr/>
        </p:nvSpPr>
        <p:spPr>
          <a:xfrm>
            <a:off x="8284464" y="4983480"/>
            <a:ext cx="3273552" cy="1234440"/>
          </a:xfrm>
          <a:prstGeom prst="rect">
            <a:avLst>
              <a:gd name="adj" fmla="val 3704"/>
            </a:avLst>
          </a:prstGeom>
          <a:solidFill>
            <a:srgbClr val="0F172A"/>
          </a:solidFill>
          <a:ln w="12700">
            <a:solidFill>
              <a:srgbClr val="10B981"/>
            </a:solidFill>
            <a:prstDash val="solid"/>
          </a:ln>
        </p:spPr>
      </p:sp>
      <p:sp>
        <p:nvSpPr>
          <p:cNvPr id="38" name="Text 36"/>
          <p:cNvSpPr/>
          <p:nvPr/>
        </p:nvSpPr>
        <p:spPr>
          <a:xfrm>
            <a:off x="8375904" y="5029200"/>
            <a:ext cx="3090672" cy="228600"/>
          </a:xfrm>
          <a:prstGeom prst="rect">
            <a:avLst/>
          </a:prstGeom>
          <a:noFill/>
          <a:ln/>
        </p:spPr>
        <p:txBody>
          <a:bodyPr wrap="square" rtlCol="0" anchor="ctr"/>
          <a:lstStyle/>
          <a:p>
            <a:pPr indent="0" marL="0">
              <a:buNone/>
            </a:pPr>
            <a:r>
              <a:rPr lang="en-US" sz="1100" b="1" dirty="0">
                <a:solidFill>
                  <a:srgbClr val="10B981"/>
                </a:solidFill>
              </a:rPr>
              <a:t>🚀 MEASURABLE IMPACT:</a:t>
            </a:r>
            <a:endParaRPr lang="en-US" sz="1100" dirty="0"/>
          </a:p>
        </p:txBody>
      </p:sp>
      <p:sp>
        <p:nvSpPr>
          <p:cNvPr id="39" name="Text 37"/>
          <p:cNvSpPr/>
          <p:nvPr/>
        </p:nvSpPr>
        <p:spPr>
          <a:xfrm>
            <a:off x="8375904" y="5257800"/>
            <a:ext cx="3090672" cy="914400"/>
          </a:xfrm>
          <a:prstGeom prst="rect">
            <a:avLst/>
          </a:prstGeom>
          <a:noFill/>
          <a:ln/>
        </p:spPr>
        <p:txBody>
          <a:bodyPr wrap="square" rtlCol="0" anchor="ctr"/>
          <a:lstStyle/>
          <a:p>
            <a:pPr indent="0" marL="0">
              <a:buNone/>
            </a:pPr>
            <a:r>
              <a:rPr lang="en-US" sz="1100" dirty="0">
                <a:solidFill>
                  <a:srgbClr val="FFFFFF"/>
                </a:solidFill>
              </a:rPr>
              <a:t>Real-time cloud monitoring of physical chemical/mining assets, SOP-compliant interlock protection, and 50% reduction in physical hardware commissioning time.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PRODUCTION GOVERNANCE</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ENGINEERING STANDARDS: QA, SECURITY &amp; CI/CD</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Rigorous automated testing, containerized continuous delivery, and banking-grade security compliance.</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325880"/>
            <a:ext cx="11274552" cy="731520"/>
          </a:xfrm>
          <a:prstGeom prst="rect">
            <a:avLst>
              <a:gd name="adj" fmla="val 10000"/>
            </a:avLst>
          </a:prstGeom>
          <a:solidFill>
            <a:srgbClr val="0F172A"/>
          </a:solidFill>
          <a:ln w="19050">
            <a:solidFill>
              <a:srgbClr val="48CAE4"/>
            </a:solidFill>
            <a:prstDash val="solid"/>
          </a:ln>
        </p:spPr>
      </p:sp>
      <p:sp>
        <p:nvSpPr>
          <p:cNvPr id="8" name="Text 6"/>
          <p:cNvSpPr/>
          <p:nvPr/>
        </p:nvSpPr>
        <p:spPr>
          <a:xfrm>
            <a:off x="640080" y="1371600"/>
            <a:ext cx="10881360" cy="640080"/>
          </a:xfrm>
          <a:prstGeom prst="rect">
            <a:avLst/>
          </a:prstGeom>
          <a:noFill/>
          <a:ln/>
        </p:spPr>
        <p:txBody>
          <a:bodyPr wrap="square" rtlCol="0" anchor="ctr"/>
          <a:lstStyle/>
          <a:p>
            <a:pPr algn="ctr" indent="0" marL="0">
              <a:buNone/>
            </a:pPr>
            <a:r>
              <a:rPr lang="en-US" sz="1300" b="1" dirty="0">
                <a:solidFill>
                  <a:srgbClr val="48CAE4"/>
                </a:solidFill>
              </a:rPr>
              <a:t>🔄 PRODUCTION PIPELINE PROTOCOL:   1. Clean Code &amp; ERD Schema  ➔  2. Jest Automated Integration Test Suite  ➔  3. Docker Containerization  ➔  4. GitLab CI/CD Zero-Downtime Deploy  ➔  5. Sentry Real-Time Error Tracing &amp; Audit Logs</a:t>
            </a:r>
            <a:endParaRPr lang="en-US" sz="1300" dirty="0"/>
          </a:p>
        </p:txBody>
      </p:sp>
      <p:sp>
        <p:nvSpPr>
          <p:cNvPr id="9" name="Shape 7"/>
          <p:cNvSpPr/>
          <p:nvPr/>
        </p:nvSpPr>
        <p:spPr>
          <a:xfrm>
            <a:off x="457200" y="2240280"/>
            <a:ext cx="3639312" cy="4114800"/>
          </a:xfrm>
          <a:prstGeom prst="rect">
            <a:avLst>
              <a:gd name="adj" fmla="val 2010"/>
            </a:avLst>
          </a:prstGeom>
          <a:solidFill>
            <a:srgbClr val="1C2541"/>
          </a:solidFill>
          <a:ln w="25400">
            <a:solidFill>
              <a:srgbClr val="48CAE4"/>
            </a:solidFill>
            <a:prstDash val="solid"/>
          </a:ln>
        </p:spPr>
      </p:sp>
      <p:sp>
        <p:nvSpPr>
          <p:cNvPr id="10" name="Text 8"/>
          <p:cNvSpPr/>
          <p:nvPr/>
        </p:nvSpPr>
        <p:spPr>
          <a:xfrm>
            <a:off x="640080" y="2423160"/>
            <a:ext cx="3273552" cy="548640"/>
          </a:xfrm>
          <a:prstGeom prst="rect">
            <a:avLst/>
          </a:prstGeom>
          <a:noFill/>
          <a:ln/>
        </p:spPr>
        <p:txBody>
          <a:bodyPr wrap="square" rtlCol="0" anchor="ctr"/>
          <a:lstStyle/>
          <a:p>
            <a:pPr indent="0" marL="0">
              <a:buNone/>
            </a:pPr>
            <a:r>
              <a:rPr lang="en-US" sz="1350" b="1" dirty="0">
                <a:solidFill>
                  <a:srgbClr val="48CAE4"/>
                </a:solidFill>
              </a:rPr>
              <a:t>🛡️ AUTOMATED INTEGRATION TESTING (JEST)</a:t>
            </a:r>
            <a:endParaRPr lang="en-US" sz="1350" dirty="0"/>
          </a:p>
        </p:txBody>
      </p:sp>
      <p:sp>
        <p:nvSpPr>
          <p:cNvPr id="11" name="Text 9"/>
          <p:cNvSpPr/>
          <p:nvPr/>
        </p:nvSpPr>
        <p:spPr>
          <a:xfrm>
            <a:off x="640080" y="3108960"/>
            <a:ext cx="3273552" cy="3017520"/>
          </a:xfrm>
          <a:prstGeom prst="rect">
            <a:avLst/>
          </a:prstGeom>
          <a:noFill/>
          <a:ln/>
        </p:spPr>
        <p:txBody>
          <a:bodyPr wrap="square" rtlCol="0" anchor="ctr"/>
          <a:lstStyle/>
          <a:p>
            <a:pPr indent="0" marL="0">
              <a:buNone/>
            </a:pPr>
            <a:r>
              <a:rPr lang="en-US" sz="1050" dirty="0">
                <a:solidFill>
                  <a:srgbClr val="FFFFFF"/>
                </a:solidFill>
              </a:rPr>
              <a:t>Full Integration Testing suite implemented using Jest specifically to validate data flow across microfrontend modules. Prevents breaking changes when consolidating over 100 business modules at PT Bukit Asam Tbk (cisea.bukitasam.co.id). Automated test execution enforced on every Git merge request.</a:t>
            </a:r>
            <a:endParaRPr lang="en-US" sz="1050" dirty="0"/>
          </a:p>
        </p:txBody>
      </p:sp>
      <p:sp>
        <p:nvSpPr>
          <p:cNvPr id="12" name="Shape 10"/>
          <p:cNvSpPr/>
          <p:nvPr/>
        </p:nvSpPr>
        <p:spPr>
          <a:xfrm>
            <a:off x="4279392" y="2240280"/>
            <a:ext cx="3639312" cy="4114800"/>
          </a:xfrm>
          <a:prstGeom prst="rect">
            <a:avLst>
              <a:gd name="adj" fmla="val 2010"/>
            </a:avLst>
          </a:prstGeom>
          <a:solidFill>
            <a:srgbClr val="1C2541"/>
          </a:solidFill>
          <a:ln w="25400">
            <a:solidFill>
              <a:srgbClr val="F59E0B"/>
            </a:solidFill>
            <a:prstDash val="solid"/>
          </a:ln>
        </p:spPr>
      </p:sp>
      <p:sp>
        <p:nvSpPr>
          <p:cNvPr id="13" name="Text 11"/>
          <p:cNvSpPr/>
          <p:nvPr/>
        </p:nvSpPr>
        <p:spPr>
          <a:xfrm>
            <a:off x="4462272" y="2423160"/>
            <a:ext cx="3273552" cy="548640"/>
          </a:xfrm>
          <a:prstGeom prst="rect">
            <a:avLst/>
          </a:prstGeom>
          <a:noFill/>
          <a:ln/>
        </p:spPr>
        <p:txBody>
          <a:bodyPr wrap="square" rtlCol="0" anchor="ctr"/>
          <a:lstStyle/>
          <a:p>
            <a:pPr indent="0" marL="0">
              <a:buNone/>
            </a:pPr>
            <a:r>
              <a:rPr lang="en-US" sz="1350" b="1" dirty="0">
                <a:solidFill>
                  <a:srgbClr val="F59E0B"/>
                </a:solidFill>
              </a:rPr>
              <a:t>🐳 DOCKER &amp; GITLAB CI/CD PIPELINES</a:t>
            </a:r>
            <a:endParaRPr lang="en-US" sz="1350" dirty="0"/>
          </a:p>
        </p:txBody>
      </p:sp>
      <p:sp>
        <p:nvSpPr>
          <p:cNvPr id="14" name="Text 12"/>
          <p:cNvSpPr/>
          <p:nvPr/>
        </p:nvSpPr>
        <p:spPr>
          <a:xfrm>
            <a:off x="4462272" y="3108960"/>
            <a:ext cx="3273552" cy="3017520"/>
          </a:xfrm>
          <a:prstGeom prst="rect">
            <a:avLst/>
          </a:prstGeom>
          <a:noFill/>
          <a:ln/>
        </p:spPr>
        <p:txBody>
          <a:bodyPr wrap="square" rtlCol="0" anchor="ctr"/>
          <a:lstStyle/>
          <a:p>
            <a:pPr indent="0" marL="0">
              <a:buNone/>
            </a:pPr>
            <a:r>
              <a:rPr lang="en-US" sz="1050" dirty="0">
                <a:solidFill>
                  <a:srgbClr val="FFFFFF"/>
                </a:solidFill>
              </a:rPr>
              <a:t>Containerization using Docker to ensure reproducible builds across local development, staging, and production clusters. Automated CI/CD Pipeline Setup in GitLab handling environment variable injection, database migrations, and zero-downtime rolling updates across enterprise servers.</a:t>
            </a:r>
            <a:endParaRPr lang="en-US" sz="1050" dirty="0"/>
          </a:p>
        </p:txBody>
      </p:sp>
      <p:sp>
        <p:nvSpPr>
          <p:cNvPr id="15" name="Shape 13"/>
          <p:cNvSpPr/>
          <p:nvPr/>
        </p:nvSpPr>
        <p:spPr>
          <a:xfrm>
            <a:off x="8101584" y="2240280"/>
            <a:ext cx="3639312" cy="4114800"/>
          </a:xfrm>
          <a:prstGeom prst="rect">
            <a:avLst>
              <a:gd name="adj" fmla="val 2010"/>
            </a:avLst>
          </a:prstGeom>
          <a:solidFill>
            <a:srgbClr val="1C2541"/>
          </a:solidFill>
          <a:ln w="25400">
            <a:solidFill>
              <a:srgbClr val="10B981"/>
            </a:solidFill>
            <a:prstDash val="solid"/>
          </a:ln>
        </p:spPr>
      </p:sp>
      <p:sp>
        <p:nvSpPr>
          <p:cNvPr id="16" name="Text 14"/>
          <p:cNvSpPr/>
          <p:nvPr/>
        </p:nvSpPr>
        <p:spPr>
          <a:xfrm>
            <a:off x="8284464" y="2423160"/>
            <a:ext cx="3273552" cy="548640"/>
          </a:xfrm>
          <a:prstGeom prst="rect">
            <a:avLst/>
          </a:prstGeom>
          <a:noFill/>
          <a:ln/>
        </p:spPr>
        <p:txBody>
          <a:bodyPr wrap="square" rtlCol="0" anchor="ctr"/>
          <a:lstStyle/>
          <a:p>
            <a:pPr indent="0" marL="0">
              <a:buNone/>
            </a:pPr>
            <a:r>
              <a:rPr lang="en-US" sz="1350" b="1" dirty="0">
                <a:solidFill>
                  <a:srgbClr val="10B981"/>
                </a:solidFill>
              </a:rPr>
              <a:t>📡 SENTRY ERROR TRACING &amp; BANKING RBAC</a:t>
            </a:r>
            <a:endParaRPr lang="en-US" sz="1350" dirty="0"/>
          </a:p>
        </p:txBody>
      </p:sp>
      <p:sp>
        <p:nvSpPr>
          <p:cNvPr id="17" name="Text 15"/>
          <p:cNvSpPr/>
          <p:nvPr/>
        </p:nvSpPr>
        <p:spPr>
          <a:xfrm>
            <a:off x="8284464" y="3108960"/>
            <a:ext cx="3273552" cy="3017520"/>
          </a:xfrm>
          <a:prstGeom prst="rect">
            <a:avLst/>
          </a:prstGeom>
          <a:noFill/>
          <a:ln/>
        </p:spPr>
        <p:txBody>
          <a:bodyPr wrap="square" rtlCol="0" anchor="ctr"/>
          <a:lstStyle/>
          <a:p>
            <a:pPr indent="0" marL="0">
              <a:buNone/>
            </a:pPr>
            <a:r>
              <a:rPr lang="en-US" sz="1050" dirty="0">
                <a:solidFill>
                  <a:srgbClr val="FFFFFF"/>
                </a:solidFill>
              </a:rPr>
              <a:t>Production error monitoring and performance profiling integrated via Sentry for instant exception capture. Strict Role-Based Access Control (RBAC) and banking-grade security segregation implemented across IFG Epic Portal (hub-asum-dev.ifg-life.id) and CISEA (cisea.bukitasam.co.id), guaranteeing absolute data confidentiality.</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VALUE PROPOSITION</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WHY MUHAMMAD HAIDAR SHAHAB?</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Adaptive engineering excellence combining enterprise execution, cross-domain versatility, and continuous learning.</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325880"/>
            <a:ext cx="3639312" cy="5029200"/>
          </a:xfrm>
          <a:prstGeom prst="rect">
            <a:avLst>
              <a:gd name="adj" fmla="val 2010"/>
            </a:avLst>
          </a:prstGeom>
          <a:solidFill>
            <a:srgbClr val="1C2541"/>
          </a:solidFill>
          <a:ln w="25400">
            <a:solidFill>
              <a:srgbClr val="48CAE4"/>
            </a:solidFill>
            <a:prstDash val="solid"/>
          </a:ln>
        </p:spPr>
      </p:sp>
      <p:sp>
        <p:nvSpPr>
          <p:cNvPr id="8" name="Text 6"/>
          <p:cNvSpPr/>
          <p:nvPr/>
        </p:nvSpPr>
        <p:spPr>
          <a:xfrm>
            <a:off x="640080" y="1508760"/>
            <a:ext cx="3273552" cy="640080"/>
          </a:xfrm>
          <a:prstGeom prst="rect">
            <a:avLst/>
          </a:prstGeom>
          <a:noFill/>
          <a:ln/>
        </p:spPr>
        <p:txBody>
          <a:bodyPr wrap="square" rtlCol="0" anchor="ctr"/>
          <a:lstStyle/>
          <a:p>
            <a:pPr algn="ctr" indent="0" marL="0">
              <a:buNone/>
            </a:pPr>
            <a:r>
              <a:rPr lang="en-US" sz="1350" b="1" dirty="0">
                <a:solidFill>
                  <a:srgbClr val="48CAE4"/>
                </a:solidFill>
              </a:rPr>
              <a:t>1. PROVEN ENTERPRISE EXECUTION</a:t>
            </a:r>
            <a:endParaRPr lang="en-US" sz="1350" dirty="0"/>
          </a:p>
          <a:p>
            <a:pPr algn="ctr" indent="0" marL="0">
              <a:buNone/>
            </a:pPr>
            <a:r>
              <a:rPr lang="en-US" sz="1350" b="1" dirty="0">
                <a:solidFill>
                  <a:srgbClr val="48CAE4"/>
                </a:solidFill>
              </a:rPr>
              <a:t>Trusted by BUMN &amp; Financial Giants</a:t>
            </a:r>
            <a:endParaRPr lang="en-US" sz="1350" dirty="0"/>
          </a:p>
        </p:txBody>
      </p:sp>
      <p:sp>
        <p:nvSpPr>
          <p:cNvPr id="9" name="Text 7"/>
          <p:cNvSpPr/>
          <p:nvPr/>
        </p:nvSpPr>
        <p:spPr>
          <a:xfrm>
            <a:off x="640080" y="2286000"/>
            <a:ext cx="3273552" cy="3840480"/>
          </a:xfrm>
          <a:prstGeom prst="rect">
            <a:avLst/>
          </a:prstGeom>
          <a:noFill/>
          <a:ln/>
        </p:spPr>
        <p:txBody>
          <a:bodyPr wrap="square" rtlCol="0" anchor="ctr"/>
          <a:lstStyle/>
          <a:p>
            <a:pPr indent="0" marL="0">
              <a:buNone/>
            </a:pPr>
            <a:r>
              <a:rPr lang="en-US" sz="1050" dirty="0">
                <a:solidFill>
                  <a:srgbClr val="FFFFFF"/>
                </a:solidFill>
              </a:rPr>
              <a:t>Demonstrated track record executing large-scale digital transformations for major state-owned enterprises and financial holding companies (PT Bukit Asam Tbk at cisea.bukitasam.co.id, PT Pupuk Sriwidjaja, IFG Life at hub-asum-dev.ifg-life.id, Synapse Academy at sydemy.com). Delivers high-security, SLA-monitored, production-ready code under strict organizational governance and complex stakeholder environments.</a:t>
            </a:r>
            <a:endParaRPr lang="en-US" sz="1050" dirty="0"/>
          </a:p>
        </p:txBody>
      </p:sp>
      <p:sp>
        <p:nvSpPr>
          <p:cNvPr id="10" name="Shape 8"/>
          <p:cNvSpPr/>
          <p:nvPr/>
        </p:nvSpPr>
        <p:spPr>
          <a:xfrm>
            <a:off x="4279392" y="1325880"/>
            <a:ext cx="3639312" cy="5029200"/>
          </a:xfrm>
          <a:prstGeom prst="rect">
            <a:avLst>
              <a:gd name="adj" fmla="val 2010"/>
            </a:avLst>
          </a:prstGeom>
          <a:solidFill>
            <a:srgbClr val="1C2541"/>
          </a:solidFill>
          <a:ln w="25400">
            <a:solidFill>
              <a:srgbClr val="F59E0B"/>
            </a:solidFill>
            <a:prstDash val="solid"/>
          </a:ln>
        </p:spPr>
      </p:sp>
      <p:sp>
        <p:nvSpPr>
          <p:cNvPr id="11" name="Text 9"/>
          <p:cNvSpPr/>
          <p:nvPr/>
        </p:nvSpPr>
        <p:spPr>
          <a:xfrm>
            <a:off x="4462272" y="1508760"/>
            <a:ext cx="3273552" cy="640080"/>
          </a:xfrm>
          <a:prstGeom prst="rect">
            <a:avLst/>
          </a:prstGeom>
          <a:noFill/>
          <a:ln/>
        </p:spPr>
        <p:txBody>
          <a:bodyPr wrap="square" rtlCol="0" anchor="ctr"/>
          <a:lstStyle/>
          <a:p>
            <a:pPr algn="ctr" indent="0" marL="0">
              <a:buNone/>
            </a:pPr>
            <a:r>
              <a:rPr lang="en-US" sz="1350" b="1" dirty="0">
                <a:solidFill>
                  <a:srgbClr val="F59E0B"/>
                </a:solidFill>
              </a:rPr>
              <a:t>2. RARE CROSS-DOMAIN VERSATILITY</a:t>
            </a:r>
            <a:endParaRPr lang="en-US" sz="1350" dirty="0"/>
          </a:p>
          <a:p>
            <a:pPr algn="ctr" indent="0" marL="0">
              <a:buNone/>
            </a:pPr>
            <a:r>
              <a:rPr lang="en-US" sz="1350" b="1" dirty="0">
                <a:solidFill>
                  <a:srgbClr val="F59E0B"/>
                </a:solidFill>
              </a:rPr>
              <a:t>From Hardware GPIO to AI DAGs</a:t>
            </a:r>
            <a:endParaRPr lang="en-US" sz="1350" dirty="0"/>
          </a:p>
        </p:txBody>
      </p:sp>
      <p:sp>
        <p:nvSpPr>
          <p:cNvPr id="12" name="Text 10"/>
          <p:cNvSpPr/>
          <p:nvPr/>
        </p:nvSpPr>
        <p:spPr>
          <a:xfrm>
            <a:off x="4462272" y="2286000"/>
            <a:ext cx="3273552" cy="3840480"/>
          </a:xfrm>
          <a:prstGeom prst="rect">
            <a:avLst/>
          </a:prstGeom>
          <a:noFill/>
          <a:ln/>
        </p:spPr>
        <p:txBody>
          <a:bodyPr wrap="square" rtlCol="0" anchor="ctr"/>
          <a:lstStyle/>
          <a:p>
            <a:pPr indent="0" marL="0">
              <a:buNone/>
            </a:pPr>
            <a:r>
              <a:rPr lang="en-US" sz="1050" dirty="0">
                <a:solidFill>
                  <a:srgbClr val="FFFFFF"/>
                </a:solidFill>
              </a:rPr>
              <a:t>Unique technical breadth: perfectly comfortable wiring industrial PLC/Raspberry Pi sensors as he is architecting React Microfrontends or Python AI video automation engines. Eliminates communication barriers between hardware instrumentation engineers, backend API architects, and frontend UX designers.</a:t>
            </a:r>
            <a:endParaRPr lang="en-US" sz="1050" dirty="0"/>
          </a:p>
        </p:txBody>
      </p:sp>
      <p:sp>
        <p:nvSpPr>
          <p:cNvPr id="13" name="Shape 11"/>
          <p:cNvSpPr/>
          <p:nvPr/>
        </p:nvSpPr>
        <p:spPr>
          <a:xfrm>
            <a:off x="8101584" y="1325880"/>
            <a:ext cx="3639312" cy="5029200"/>
          </a:xfrm>
          <a:prstGeom prst="rect">
            <a:avLst>
              <a:gd name="adj" fmla="val 2010"/>
            </a:avLst>
          </a:prstGeom>
          <a:solidFill>
            <a:srgbClr val="1C2541"/>
          </a:solidFill>
          <a:ln w="25400">
            <a:solidFill>
              <a:srgbClr val="10B981"/>
            </a:solidFill>
            <a:prstDash val="solid"/>
          </a:ln>
        </p:spPr>
      </p:sp>
      <p:sp>
        <p:nvSpPr>
          <p:cNvPr id="14" name="Text 12"/>
          <p:cNvSpPr/>
          <p:nvPr/>
        </p:nvSpPr>
        <p:spPr>
          <a:xfrm>
            <a:off x="8284464" y="1508760"/>
            <a:ext cx="3273552" cy="640080"/>
          </a:xfrm>
          <a:prstGeom prst="rect">
            <a:avLst/>
          </a:prstGeom>
          <a:noFill/>
          <a:ln/>
        </p:spPr>
        <p:txBody>
          <a:bodyPr wrap="square" rtlCol="0" anchor="ctr"/>
          <a:lstStyle/>
          <a:p>
            <a:pPr algn="ctr" indent="0" marL="0">
              <a:buNone/>
            </a:pPr>
            <a:r>
              <a:rPr lang="en-US" sz="1350" b="1" dirty="0">
                <a:solidFill>
                  <a:srgbClr val="10B981"/>
                </a:solidFill>
              </a:rPr>
              <a:t>3. INDUSTRY-ALIGNED ADAPTABILITY</a:t>
            </a:r>
            <a:endParaRPr lang="en-US" sz="1350" dirty="0"/>
          </a:p>
          <a:p>
            <a:pPr algn="ctr" indent="0" marL="0">
              <a:buNone/>
            </a:pPr>
            <a:r>
              <a:rPr lang="en-US" sz="1350" b="1" dirty="0">
                <a:solidFill>
                  <a:srgbClr val="10B981"/>
                </a:solidFill>
              </a:rPr>
              <a:t>Pragmatic &amp; Continuous Growth Mindset</a:t>
            </a:r>
            <a:endParaRPr lang="en-US" sz="1350" dirty="0"/>
          </a:p>
        </p:txBody>
      </p:sp>
      <p:sp>
        <p:nvSpPr>
          <p:cNvPr id="15" name="Text 13"/>
          <p:cNvSpPr/>
          <p:nvPr/>
        </p:nvSpPr>
        <p:spPr>
          <a:xfrm>
            <a:off x="8284464" y="2286000"/>
            <a:ext cx="3273552" cy="3840480"/>
          </a:xfrm>
          <a:prstGeom prst="rect">
            <a:avLst/>
          </a:prstGeom>
          <a:noFill/>
          <a:ln/>
        </p:spPr>
        <p:txBody>
          <a:bodyPr wrap="square" rtlCol="0" anchor="ctr"/>
          <a:lstStyle/>
          <a:p>
            <a:pPr indent="0" marL="0">
              <a:buNone/>
            </a:pPr>
            <a:r>
              <a:rPr lang="en-US" sz="1050" dirty="0">
                <a:solidFill>
                  <a:srgbClr val="FFFFFF"/>
                </a:solidFill>
              </a:rPr>
              <a:t>An honest, growth-oriented engineering professional who continuously adapts to emerging industry standards. Not bound to a single framework, but driven by pragmatic problem-solving, clean architecture principles, and building systems that work reliably 24/7 in production.</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274320" y="274320"/>
            <a:ext cx="11640312" cy="6309360"/>
          </a:xfrm>
          <a:prstGeom prst="rect">
            <a:avLst>
              <a:gd name="adj" fmla="val 1449"/>
            </a:avLst>
          </a:prstGeom>
          <a:solidFill>
            <a:srgbClr val="0B132B"/>
          </a:solidFill>
          <a:ln w="25400">
            <a:solidFill>
              <a:srgbClr val="48CAE4"/>
            </a:solidFill>
            <a:prstDash val="solid"/>
          </a:ln>
        </p:spPr>
      </p:sp>
      <p:sp>
        <p:nvSpPr>
          <p:cNvPr id="3" name="Text 1"/>
          <p:cNvSpPr/>
          <p:nvPr/>
        </p:nvSpPr>
        <p:spPr>
          <a:xfrm>
            <a:off x="914400" y="822960"/>
            <a:ext cx="10332720" cy="731520"/>
          </a:xfrm>
          <a:prstGeom prst="rect">
            <a:avLst/>
          </a:prstGeom>
          <a:noFill/>
          <a:ln/>
        </p:spPr>
        <p:txBody>
          <a:bodyPr wrap="square" rtlCol="0" anchor="ctr"/>
          <a:lstStyle/>
          <a:p>
            <a:pPr algn="ctr" indent="0" marL="0">
              <a:buNone/>
            </a:pPr>
            <a:r>
              <a:rPr lang="en-US" sz="3000" b="1" dirty="0">
                <a:solidFill>
                  <a:srgbClr val="FFFFFF"/>
                </a:solidFill>
                <a:latin typeface="Segoe UI" pitchFamily="34" charset="0"/>
                <a:ea typeface="Segoe UI" pitchFamily="34" charset="-122"/>
                <a:cs typeface="Segoe UI" pitchFamily="34" charset="-120"/>
              </a:rPr>
              <a:t>LET'S BUILD THE NEXT GENERATION OF SOFTWARE</a:t>
            </a:r>
            <a:endParaRPr lang="en-US" sz="3000" dirty="0"/>
          </a:p>
        </p:txBody>
      </p:sp>
      <p:sp>
        <p:nvSpPr>
          <p:cNvPr id="4" name="Text 2"/>
          <p:cNvSpPr/>
          <p:nvPr/>
        </p:nvSpPr>
        <p:spPr>
          <a:xfrm>
            <a:off x="914400" y="1600200"/>
            <a:ext cx="10332720" cy="457200"/>
          </a:xfrm>
          <a:prstGeom prst="rect">
            <a:avLst/>
          </a:prstGeom>
          <a:noFill/>
          <a:ln/>
        </p:spPr>
        <p:txBody>
          <a:bodyPr wrap="square" rtlCol="0" anchor="ctr"/>
          <a:lstStyle/>
          <a:p>
            <a:pPr algn="ctr" indent="0" marL="0">
              <a:buNone/>
            </a:pPr>
            <a:r>
              <a:rPr lang="en-US" sz="1600" i="1" dirty="0">
                <a:solidFill>
                  <a:srgbClr val="48CAE4"/>
                </a:solidFill>
                <a:latin typeface="Segoe UI" pitchFamily="34" charset="0"/>
                <a:ea typeface="Segoe UI" pitchFamily="34" charset="-122"/>
                <a:cs typeface="Segoe UI" pitchFamily="34" charset="-120"/>
              </a:rPr>
              <a:t>Available for Remote, Hybrid, or On-Site Senior Full-Stack Engineering, Project Management &amp; Business Analyst Leadership Roles</a:t>
            </a:r>
            <a:endParaRPr lang="en-US" sz="1600" dirty="0"/>
          </a:p>
        </p:txBody>
      </p:sp>
      <p:sp>
        <p:nvSpPr>
          <p:cNvPr id="5" name="Shape 3"/>
          <p:cNvSpPr/>
          <p:nvPr/>
        </p:nvSpPr>
        <p:spPr>
          <a:xfrm>
            <a:off x="1645920" y="2377440"/>
            <a:ext cx="8869680" cy="749808"/>
          </a:xfrm>
          <a:prstGeom prst="rect">
            <a:avLst>
              <a:gd name="adj" fmla="val 9756"/>
            </a:avLst>
          </a:prstGeom>
          <a:solidFill>
            <a:srgbClr val="1C2541"/>
          </a:solidFill>
          <a:ln w="19050">
            <a:solidFill>
              <a:srgbClr val="48CAE4"/>
            </a:solidFill>
            <a:prstDash val="solid"/>
          </a:ln>
        </p:spPr>
      </p:sp>
      <p:sp>
        <p:nvSpPr>
          <p:cNvPr id="6" name="Text 4"/>
          <p:cNvSpPr/>
          <p:nvPr/>
        </p:nvSpPr>
        <p:spPr>
          <a:xfrm>
            <a:off x="1920240" y="2468880"/>
            <a:ext cx="3200400" cy="566928"/>
          </a:xfrm>
          <a:prstGeom prst="rect">
            <a:avLst/>
          </a:prstGeom>
          <a:noFill/>
          <a:ln/>
        </p:spPr>
        <p:txBody>
          <a:bodyPr wrap="square" rtlCol="0" anchor="ctr"/>
          <a:lstStyle/>
          <a:p>
            <a:pPr indent="0" marL="0">
              <a:buNone/>
            </a:pPr>
            <a:r>
              <a:rPr lang="en-US" sz="1500" b="1" dirty="0">
                <a:solidFill>
                  <a:srgbClr val="48CAE4"/>
                </a:solidFill>
              </a:rPr>
              <a:t>🌐 LIVE PORTFOLIO</a:t>
            </a:r>
            <a:endParaRPr lang="en-US" sz="1500" dirty="0"/>
          </a:p>
        </p:txBody>
      </p:sp>
      <p:sp>
        <p:nvSpPr>
          <p:cNvPr id="7" name="Text 5"/>
          <p:cNvSpPr/>
          <p:nvPr/>
        </p:nvSpPr>
        <p:spPr>
          <a:xfrm>
            <a:off x="5120640" y="2468880"/>
            <a:ext cx="5120640" cy="566928"/>
          </a:xfrm>
          <a:prstGeom prst="rect">
            <a:avLst/>
          </a:prstGeom>
          <a:noFill/>
          <a:ln/>
        </p:spPr>
        <p:txBody>
          <a:bodyPr wrap="square" rtlCol="0" anchor="ctr"/>
          <a:lstStyle/>
          <a:p>
            <a:pPr algn="r" indent="0" marL="0">
              <a:buNone/>
            </a:pPr>
            <a:r>
              <a:rPr lang="en-US" sz="1500" b="1" dirty="0">
                <a:solidFill>
                  <a:srgbClr val="FFFFFF"/>
                </a:solidFill>
              </a:rPr>
              <a:t>profile-muhammad-haidar-shahab.netlify.app</a:t>
            </a:r>
            <a:endParaRPr lang="en-US" sz="1500" dirty="0"/>
          </a:p>
        </p:txBody>
      </p:sp>
      <p:sp>
        <p:nvSpPr>
          <p:cNvPr id="8" name="Shape 6"/>
          <p:cNvSpPr/>
          <p:nvPr/>
        </p:nvSpPr>
        <p:spPr>
          <a:xfrm>
            <a:off x="1645920" y="3291840"/>
            <a:ext cx="8869680" cy="749808"/>
          </a:xfrm>
          <a:prstGeom prst="rect">
            <a:avLst>
              <a:gd name="adj" fmla="val 9756"/>
            </a:avLst>
          </a:prstGeom>
          <a:solidFill>
            <a:srgbClr val="1C2541"/>
          </a:solidFill>
          <a:ln w="19050">
            <a:solidFill>
              <a:srgbClr val="10B981"/>
            </a:solidFill>
            <a:prstDash val="solid"/>
          </a:ln>
        </p:spPr>
      </p:sp>
      <p:sp>
        <p:nvSpPr>
          <p:cNvPr id="9" name="Text 7"/>
          <p:cNvSpPr/>
          <p:nvPr/>
        </p:nvSpPr>
        <p:spPr>
          <a:xfrm>
            <a:off x="1920240" y="3383280"/>
            <a:ext cx="3200400" cy="566928"/>
          </a:xfrm>
          <a:prstGeom prst="rect">
            <a:avLst/>
          </a:prstGeom>
          <a:noFill/>
          <a:ln/>
        </p:spPr>
        <p:txBody>
          <a:bodyPr wrap="square" rtlCol="0" anchor="ctr"/>
          <a:lstStyle/>
          <a:p>
            <a:pPr indent="0" marL="0">
              <a:buNone/>
            </a:pPr>
            <a:r>
              <a:rPr lang="en-US" sz="1500" b="1" dirty="0">
                <a:solidFill>
                  <a:srgbClr val="10B981"/>
                </a:solidFill>
              </a:rPr>
              <a:t>🏢 ENTERPRISE PORTALS</a:t>
            </a:r>
            <a:endParaRPr lang="en-US" sz="1500" dirty="0"/>
          </a:p>
        </p:txBody>
      </p:sp>
      <p:sp>
        <p:nvSpPr>
          <p:cNvPr id="10" name="Text 8"/>
          <p:cNvSpPr/>
          <p:nvPr/>
        </p:nvSpPr>
        <p:spPr>
          <a:xfrm>
            <a:off x="5120640" y="3383280"/>
            <a:ext cx="5120640" cy="566928"/>
          </a:xfrm>
          <a:prstGeom prst="rect">
            <a:avLst/>
          </a:prstGeom>
          <a:noFill/>
          <a:ln/>
        </p:spPr>
        <p:txBody>
          <a:bodyPr wrap="square" rtlCol="0" anchor="ctr"/>
          <a:lstStyle/>
          <a:p>
            <a:pPr algn="r" indent="0" marL="0">
              <a:buNone/>
            </a:pPr>
            <a:r>
              <a:rPr lang="en-US" sz="1500" b="1" dirty="0">
                <a:solidFill>
                  <a:srgbClr val="FFFFFF"/>
                </a:solidFill>
              </a:rPr>
              <a:t>hub-asum-dev.ifg-life.id  |  cisea.bukitasam.co.id  |  sydemy.com</a:t>
            </a:r>
            <a:endParaRPr lang="en-US" sz="1500" dirty="0"/>
          </a:p>
        </p:txBody>
      </p:sp>
      <p:sp>
        <p:nvSpPr>
          <p:cNvPr id="11" name="Shape 9"/>
          <p:cNvSpPr/>
          <p:nvPr/>
        </p:nvSpPr>
        <p:spPr>
          <a:xfrm>
            <a:off x="1645920" y="4206240"/>
            <a:ext cx="8869680" cy="749808"/>
          </a:xfrm>
          <a:prstGeom prst="rect">
            <a:avLst>
              <a:gd name="adj" fmla="val 9756"/>
            </a:avLst>
          </a:prstGeom>
          <a:solidFill>
            <a:srgbClr val="1C2541"/>
          </a:solidFill>
          <a:ln w="19050">
            <a:solidFill>
              <a:srgbClr val="F59E0B"/>
            </a:solidFill>
            <a:prstDash val="solid"/>
          </a:ln>
        </p:spPr>
      </p:sp>
      <p:sp>
        <p:nvSpPr>
          <p:cNvPr id="12" name="Text 10"/>
          <p:cNvSpPr/>
          <p:nvPr/>
        </p:nvSpPr>
        <p:spPr>
          <a:xfrm>
            <a:off x="1920240" y="4297680"/>
            <a:ext cx="3200400" cy="566928"/>
          </a:xfrm>
          <a:prstGeom prst="rect">
            <a:avLst/>
          </a:prstGeom>
          <a:noFill/>
          <a:ln/>
        </p:spPr>
        <p:txBody>
          <a:bodyPr wrap="square" rtlCol="0" anchor="ctr"/>
          <a:lstStyle/>
          <a:p>
            <a:pPr indent="0" marL="0">
              <a:buNone/>
            </a:pPr>
            <a:r>
              <a:rPr lang="en-US" sz="1500" b="1" dirty="0">
                <a:solidFill>
                  <a:srgbClr val="F59E0B"/>
                </a:solidFill>
              </a:rPr>
              <a:t>📦 CODE REPOSITORIES</a:t>
            </a:r>
            <a:endParaRPr lang="en-US" sz="1500" dirty="0"/>
          </a:p>
        </p:txBody>
      </p:sp>
      <p:sp>
        <p:nvSpPr>
          <p:cNvPr id="13" name="Text 11"/>
          <p:cNvSpPr/>
          <p:nvPr/>
        </p:nvSpPr>
        <p:spPr>
          <a:xfrm>
            <a:off x="5120640" y="4297680"/>
            <a:ext cx="5120640" cy="566928"/>
          </a:xfrm>
          <a:prstGeom prst="rect">
            <a:avLst/>
          </a:prstGeom>
          <a:noFill/>
          <a:ln/>
        </p:spPr>
        <p:txBody>
          <a:bodyPr wrap="square" rtlCol="0" anchor="ctr"/>
          <a:lstStyle/>
          <a:p>
            <a:pPr algn="r" indent="0" marL="0">
              <a:buNone/>
            </a:pPr>
            <a:r>
              <a:rPr lang="en-US" sz="1500" b="1" dirty="0">
                <a:solidFill>
                  <a:srgbClr val="FFFFFF"/>
                </a:solidFill>
              </a:rPr>
              <a:t>github.com/haidar180202  |  gitlab.com/haidar180202</a:t>
            </a:r>
            <a:endParaRPr lang="en-US" sz="1500" dirty="0"/>
          </a:p>
        </p:txBody>
      </p:sp>
      <p:sp>
        <p:nvSpPr>
          <p:cNvPr id="14" name="Shape 12"/>
          <p:cNvSpPr/>
          <p:nvPr/>
        </p:nvSpPr>
        <p:spPr>
          <a:xfrm>
            <a:off x="1645920" y="5120640"/>
            <a:ext cx="8869680" cy="749808"/>
          </a:xfrm>
          <a:prstGeom prst="rect">
            <a:avLst>
              <a:gd name="adj" fmla="val 9756"/>
            </a:avLst>
          </a:prstGeom>
          <a:solidFill>
            <a:srgbClr val="1C2541"/>
          </a:solidFill>
          <a:ln w="19050">
            <a:solidFill>
              <a:srgbClr val="FFFFFF"/>
            </a:solidFill>
            <a:prstDash val="solid"/>
          </a:ln>
        </p:spPr>
      </p:sp>
      <p:sp>
        <p:nvSpPr>
          <p:cNvPr id="15" name="Text 13"/>
          <p:cNvSpPr/>
          <p:nvPr/>
        </p:nvSpPr>
        <p:spPr>
          <a:xfrm>
            <a:off x="1920240" y="5212080"/>
            <a:ext cx="3200400" cy="566928"/>
          </a:xfrm>
          <a:prstGeom prst="rect">
            <a:avLst/>
          </a:prstGeom>
          <a:noFill/>
          <a:ln/>
        </p:spPr>
        <p:txBody>
          <a:bodyPr wrap="square" rtlCol="0" anchor="ctr"/>
          <a:lstStyle/>
          <a:p>
            <a:pPr indent="0" marL="0">
              <a:buNone/>
            </a:pPr>
            <a:r>
              <a:rPr lang="en-US" sz="1500" b="1" dirty="0">
                <a:solidFill>
                  <a:srgbClr val="FFFFFF"/>
                </a:solidFill>
              </a:rPr>
              <a:t>📍 LOCATION &amp; BASE</a:t>
            </a:r>
            <a:endParaRPr lang="en-US" sz="1500" dirty="0"/>
          </a:p>
        </p:txBody>
      </p:sp>
      <p:sp>
        <p:nvSpPr>
          <p:cNvPr id="16" name="Text 14"/>
          <p:cNvSpPr/>
          <p:nvPr/>
        </p:nvSpPr>
        <p:spPr>
          <a:xfrm>
            <a:off x="5120640" y="5212080"/>
            <a:ext cx="5120640" cy="566928"/>
          </a:xfrm>
          <a:prstGeom prst="rect">
            <a:avLst/>
          </a:prstGeom>
          <a:noFill/>
          <a:ln/>
        </p:spPr>
        <p:txBody>
          <a:bodyPr wrap="square" rtlCol="0" anchor="ctr"/>
          <a:lstStyle/>
          <a:p>
            <a:pPr algn="r" indent="0" marL="0">
              <a:buNone/>
            </a:pPr>
            <a:r>
              <a:rPr lang="en-US" sz="1500" b="1" dirty="0">
                <a:solidFill>
                  <a:srgbClr val="FFFFFF"/>
                </a:solidFill>
              </a:rPr>
              <a:t>Palembang / South Sumatra, Indonesia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2026-07-12T01:41:11Z</dcterms:created>
  <dcterms:modified xsi:type="dcterms:W3CDTF">2026-07-12T01:41:11Z</dcterms:modified>
</cp:coreProperties>
</file>